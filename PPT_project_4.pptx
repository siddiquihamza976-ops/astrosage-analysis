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67" r:id="rId1"/>
  </p:sldMasterIdLst>
  <p:notesMasterIdLst>
    <p:notesMasterId r:id="rId22"/>
  </p:notesMasterIdLst>
  <p:sldIdLst>
    <p:sldId id="256" r:id="rId2"/>
    <p:sldId id="257" r:id="rId3"/>
    <p:sldId id="258" r:id="rId4"/>
    <p:sldId id="261" r:id="rId5"/>
    <p:sldId id="280" r:id="rId6"/>
    <p:sldId id="262" r:id="rId7"/>
    <p:sldId id="263" r:id="rId8"/>
    <p:sldId id="264" r:id="rId9"/>
    <p:sldId id="260" r:id="rId10"/>
    <p:sldId id="270" r:id="rId11"/>
    <p:sldId id="265" r:id="rId12"/>
    <p:sldId id="266" r:id="rId13"/>
    <p:sldId id="267" r:id="rId14"/>
    <p:sldId id="269" r:id="rId15"/>
    <p:sldId id="268" r:id="rId16"/>
    <p:sldId id="279" r:id="rId17"/>
    <p:sldId id="272" r:id="rId18"/>
    <p:sldId id="273" r:id="rId19"/>
    <p:sldId id="276" r:id="rId20"/>
    <p:sldId id="27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E288CA-E396-4F53-AA94-6FDCEFD62F7A}" v="182" dt="2025-09-05T13:23:43.912"/>
  </p1510:revLst>
</p1510:revInfo>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55" autoAdjust="0"/>
    <p:restoredTop sz="94660"/>
  </p:normalViewPr>
  <p:slideViewPr>
    <p:cSldViewPr snapToGrid="0">
      <p:cViewPr varScale="1">
        <p:scale>
          <a:sx n="76" d="100"/>
          <a:sy n="76" d="100"/>
        </p:scale>
        <p:origin x="8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charts/_rels/chart1.xml.rels><?xml version="1.0" encoding="UTF-8" standalone="yes"?>
<Relationships xmlns="http://schemas.openxmlformats.org/package/2006/relationships"><Relationship Id="rId3" Type="http://schemas.openxmlformats.org/officeDocument/2006/relationships/oleObject" Target="https://d.docs.live.net/ADD9085C210CD740/Documents/hamza_project%202.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ADD9085C210CD740/Documents/hamza_project%202.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ADD9085C210CD740/Documents/hamza_project%202.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ADD9085C210CD740/Documents/hamza_project%202.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ADD9085C210CD740/Documents/hamza_project%202.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d.docs.live.net/ADD9085C210CD740/Documents/hamza_project%202.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d.docs.live.net/ADD9085C210CD740/Documents/hamza_project%202.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https://d.docs.live.net/ADD9085C210CD740/Documents/hamza_project%202.xlsx" TargetMode="External"/><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[hamza_project NEW.xlsx]WORKING SHEET!PivotTable22</c:name>
    <c:fmtId val="9"/>
  </c:pivotSource>
  <c:chart>
    <c:title>
      <c:tx>
        <c:rich>
          <a:bodyPr rot="0" spcFirstLastPara="1" vertOverflow="ellipsis" vert="horz" wrap="square" anchor="ctr" anchorCtr="1"/>
          <a:lstStyle/>
          <a:p>
            <a:pPr>
              <a:defRPr sz="2128" b="1" i="0" u="none" strike="noStrike" kern="1200" cap="all" baseline="0">
                <a:solidFill>
                  <a:schemeClr val="tx1">
                    <a:lumMod val="65000"/>
                    <a:lumOff val="35000"/>
                  </a:schemeClr>
                </a:solidFill>
                <a:latin typeface="+mn-lt"/>
                <a:ea typeface="+mn-ea"/>
                <a:cs typeface="+mn-cs"/>
              </a:defRPr>
            </a:pPr>
            <a:r>
              <a:rPr lang="en-IN"/>
              <a:t>Website Distribution</a:t>
            </a:r>
          </a:p>
        </c:rich>
      </c:tx>
      <c:layout>
        <c:manualLayout>
          <c:xMode val="edge"/>
          <c:yMode val="edge"/>
          <c:x val="0.35168240289565894"/>
          <c:y val="4.9724087739177698E-2"/>
        </c:manualLayout>
      </c:layout>
      <c:overlay val="0"/>
      <c:spPr>
        <a:noFill/>
        <a:ln>
          <a:noFill/>
        </a:ln>
        <a:effectLst/>
      </c:spPr>
      <c:txPr>
        <a:bodyPr rot="0" spcFirstLastPara="1" vertOverflow="ellipsis" vert="horz" wrap="square" anchor="ctr" anchorCtr="1"/>
        <a:lstStyle/>
        <a:p>
          <a:pPr>
            <a:defRPr sz="2128" b="1" i="0" u="none" strike="noStrike" kern="1200" cap="all"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a:outerShdw blurRad="317500" algn="ctr" rotWithShape="0">
              <a:prstClr val="black">
                <a:alpha val="25000"/>
              </a:prstClr>
            </a:outerShdw>
          </a:effectLst>
        </c:spPr>
        <c:marker>
          <c:symbol val="circle"/>
          <c:size val="6"/>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spc="0" baseline="0">
                  <a:solidFill>
                    <a:schemeClr val="lt1"/>
                  </a:solidFill>
                  <a:latin typeface="+mn-lt"/>
                  <a:ea typeface="+mn-ea"/>
                  <a:cs typeface="+mn-cs"/>
                </a:defRPr>
              </a:pPr>
              <a:endParaRPr lang="en-US"/>
            </a:p>
          </c:txPr>
          <c:dLblPos val="inEnd"/>
          <c:showLegendKey val="0"/>
          <c:showVal val="1"/>
          <c:showCatName val="0"/>
          <c:showSerName val="0"/>
          <c:showPercent val="1"/>
          <c:showBubbleSize val="0"/>
          <c:extLst>
            <c:ext xmlns:c15="http://schemas.microsoft.com/office/drawing/2012/chart" uri="{CE6537A1-D6FC-4f65-9D91-7224C49458BB}"/>
          </c:extLst>
        </c:dLbl>
      </c:pivotFmt>
      <c:pivotFmt>
        <c:idx val="1"/>
        <c:spPr>
          <a:solidFill>
            <a:schemeClr val="accent1"/>
          </a:solidFill>
          <a:ln>
            <a:noFill/>
          </a:ln>
          <a:effectLst>
            <a:outerShdw blurRad="317500" algn="ctr" rotWithShape="0">
              <a:prstClr val="black">
                <a:alpha val="25000"/>
              </a:prstClr>
            </a:outerShdw>
          </a:effectLst>
        </c:spPr>
        <c:dLbl>
          <c:idx val="0"/>
          <c:spPr>
            <a:noFill/>
            <a:ln>
              <a:noFill/>
            </a:ln>
            <a:effectLst/>
          </c:spPr>
          <c:txPr>
            <a:bodyPr rot="0" spcFirstLastPara="1" vertOverflow="ellipsis" vert="horz" wrap="square" lIns="38100" tIns="19050" rIns="38100" bIns="19050" anchor="ctr" anchorCtr="1">
              <a:noAutofit/>
            </a:bodyPr>
            <a:lstStyle/>
            <a:p>
              <a:pPr>
                <a:defRPr sz="900" b="1" i="0" u="none" strike="noStrike" kern="1200" spc="0" baseline="0">
                  <a:solidFill>
                    <a:schemeClr val="lt1"/>
                  </a:solidFill>
                  <a:latin typeface="+mn-lt"/>
                  <a:ea typeface="+mn-ea"/>
                  <a:cs typeface="+mn-cs"/>
                </a:defRPr>
              </a:pPr>
              <a:endParaRPr lang="en-US"/>
            </a:p>
          </c:txPr>
          <c:dLblPos val="inEnd"/>
          <c:showLegendKey val="0"/>
          <c:showVal val="1"/>
          <c:showCatName val="0"/>
          <c:showSerName val="0"/>
          <c:showPercent val="1"/>
          <c:showBubbleSize val="0"/>
          <c:extLst>
            <c:ext xmlns:c15="http://schemas.microsoft.com/office/drawing/2012/chart" uri="{CE6537A1-D6FC-4f65-9D91-7224C49458BB}">
              <c15:layout>
                <c:manualLayout>
                  <c:w val="0.14816205759503734"/>
                  <c:h val="9.5504288304722684E-2"/>
                </c:manualLayout>
              </c15:layout>
            </c:ext>
          </c:extLst>
        </c:dLbl>
      </c:pivotFmt>
      <c:pivotFmt>
        <c:idx val="2"/>
        <c:spPr>
          <a:solidFill>
            <a:schemeClr val="accent1"/>
          </a:solidFill>
          <a:ln>
            <a:noFill/>
          </a:ln>
          <a:effectLst>
            <a:outerShdw blurRad="317500" algn="ctr" rotWithShape="0">
              <a:prstClr val="black">
                <a:alpha val="25000"/>
              </a:prstClr>
            </a:outerShdw>
          </a:effectLst>
        </c:spPr>
        <c:dLbl>
          <c:idx val="0"/>
          <c:layout>
            <c:manualLayout>
              <c:x val="0.16029325266600294"/>
              <c:y val="-8.4576476993893479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spc="0" baseline="0">
                  <a:solidFill>
                    <a:schemeClr val="lt1"/>
                  </a:solidFill>
                  <a:latin typeface="+mn-lt"/>
                  <a:ea typeface="+mn-ea"/>
                  <a:cs typeface="+mn-cs"/>
                </a:defRPr>
              </a:pPr>
              <a:endParaRPr lang="en-US"/>
            </a:p>
          </c:txPr>
          <c:dLblPos val="bestFit"/>
          <c:showLegendKey val="0"/>
          <c:showVal val="1"/>
          <c:showCatName val="0"/>
          <c:showSerName val="0"/>
          <c:showPercent val="1"/>
          <c:showBubbleSize val="0"/>
          <c:extLst>
            <c:ext xmlns:c15="http://schemas.microsoft.com/office/drawing/2012/chart" uri="{CE6537A1-D6FC-4f65-9D91-7224C49458BB}">
              <c15:layout>
                <c:manualLayout>
                  <c:w val="0.16362485311745742"/>
                  <c:h val="6.6831553704746832E-2"/>
                </c:manualLayout>
              </c15:layout>
            </c:ext>
          </c:extLst>
        </c:dLbl>
      </c:pivotFmt>
      <c:pivotFmt>
        <c:idx val="3"/>
        <c:spPr>
          <a:solidFill>
            <a:schemeClr val="accent1"/>
          </a:solidFill>
          <a:ln>
            <a:noFill/>
          </a:ln>
          <a:effectLst>
            <a:outerShdw blurRad="317500" algn="ctr" rotWithShape="0">
              <a:prstClr val="black">
                <a:alpha val="25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spc="0" baseline="0">
                  <a:solidFill>
                    <a:schemeClr val="lt1"/>
                  </a:solidFill>
                  <a:latin typeface="+mn-lt"/>
                  <a:ea typeface="+mn-ea"/>
                  <a:cs typeface="+mn-cs"/>
                </a:defRPr>
              </a:pPr>
              <a:endParaRPr lang="en-US"/>
            </a:p>
          </c:txPr>
          <c:dLblPos val="inEnd"/>
          <c:showLegendKey val="0"/>
          <c:showVal val="1"/>
          <c:showCatName val="0"/>
          <c:showSerName val="0"/>
          <c:showPercent val="1"/>
          <c:showBubbleSize val="0"/>
          <c:extLst>
            <c:ext xmlns:c15="http://schemas.microsoft.com/office/drawing/2012/chart" uri="{CE6537A1-D6FC-4f65-9D91-7224C49458BB}"/>
          </c:extLst>
        </c:dLbl>
      </c:pivotFmt>
      <c:pivotFmt>
        <c:idx val="4"/>
        <c:spPr>
          <a:solidFill>
            <a:schemeClr val="accent1"/>
          </a:solidFill>
          <a:ln>
            <a:noFill/>
          </a:ln>
          <a:effectLst>
            <a:outerShdw blurRad="317500" algn="ctr" rotWithShape="0">
              <a:prstClr val="black">
                <a:alpha val="25000"/>
              </a:prstClr>
            </a:outerShdw>
          </a:effectLst>
        </c:spPr>
        <c:dLbl>
          <c:idx val="0"/>
          <c:spPr>
            <a:noFill/>
            <a:ln>
              <a:noFill/>
            </a:ln>
            <a:effectLst/>
          </c:spPr>
          <c:txPr>
            <a:bodyPr rot="0" spcFirstLastPara="1" vertOverflow="ellipsis" vert="horz" wrap="square" lIns="38100" tIns="19050" rIns="38100" bIns="19050" anchor="ctr" anchorCtr="1">
              <a:noAutofit/>
            </a:bodyPr>
            <a:lstStyle/>
            <a:p>
              <a:pPr>
                <a:defRPr sz="900" b="1" i="0" u="none" strike="noStrike" kern="1200" spc="0" baseline="0">
                  <a:solidFill>
                    <a:schemeClr val="lt1"/>
                  </a:solidFill>
                  <a:latin typeface="+mn-lt"/>
                  <a:ea typeface="+mn-ea"/>
                  <a:cs typeface="+mn-cs"/>
                </a:defRPr>
              </a:pPr>
              <a:endParaRPr lang="en-US"/>
            </a:p>
          </c:txPr>
          <c:dLblPos val="inEnd"/>
          <c:showLegendKey val="0"/>
          <c:showVal val="1"/>
          <c:showCatName val="0"/>
          <c:showSerName val="0"/>
          <c:showPercent val="1"/>
          <c:showBubbleSize val="0"/>
          <c:extLst>
            <c:ext xmlns:c15="http://schemas.microsoft.com/office/drawing/2012/chart" uri="{CE6537A1-D6FC-4f65-9D91-7224C49458BB}">
              <c15:layout>
                <c:manualLayout>
                  <c:w val="0.14816205759503734"/>
                  <c:h val="9.5504288304722684E-2"/>
                </c:manualLayout>
              </c15:layout>
            </c:ext>
          </c:extLst>
        </c:dLbl>
      </c:pivotFmt>
      <c:pivotFmt>
        <c:idx val="5"/>
        <c:spPr>
          <a:solidFill>
            <a:schemeClr val="accent1"/>
          </a:solidFill>
          <a:ln>
            <a:noFill/>
          </a:ln>
          <a:effectLst>
            <a:outerShdw blurRad="317500" algn="ctr" rotWithShape="0">
              <a:prstClr val="black">
                <a:alpha val="25000"/>
              </a:prstClr>
            </a:outerShdw>
          </a:effectLst>
        </c:spPr>
      </c:pivotFmt>
      <c:pivotFmt>
        <c:idx val="6"/>
        <c:spPr>
          <a:solidFill>
            <a:schemeClr val="accent1"/>
          </a:solidFill>
          <a:ln>
            <a:noFill/>
          </a:ln>
          <a:effectLst>
            <a:outerShdw blurRad="317500" algn="ctr" rotWithShape="0">
              <a:prstClr val="black">
                <a:alpha val="25000"/>
              </a:prstClr>
            </a:outerShdw>
          </a:effectLst>
        </c:spPr>
        <c:dLbl>
          <c:idx val="0"/>
          <c:layout>
            <c:manualLayout>
              <c:x val="0.16029325266600294"/>
              <c:y val="-8.4576476993893479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spc="0" baseline="0">
                  <a:solidFill>
                    <a:schemeClr val="lt1"/>
                  </a:solidFill>
                  <a:latin typeface="+mn-lt"/>
                  <a:ea typeface="+mn-ea"/>
                  <a:cs typeface="+mn-cs"/>
                </a:defRPr>
              </a:pPr>
              <a:endParaRPr lang="en-US"/>
            </a:p>
          </c:txPr>
          <c:dLblPos val="bestFit"/>
          <c:showLegendKey val="0"/>
          <c:showVal val="1"/>
          <c:showCatName val="0"/>
          <c:showSerName val="0"/>
          <c:showPercent val="1"/>
          <c:showBubbleSize val="0"/>
          <c:extLst>
            <c:ext xmlns:c15="http://schemas.microsoft.com/office/drawing/2012/chart" uri="{CE6537A1-D6FC-4f65-9D91-7224C49458BB}">
              <c15:layout>
                <c:manualLayout>
                  <c:w val="0.16362485311745742"/>
                  <c:h val="6.6831553704746832E-2"/>
                </c:manualLayout>
              </c15:layout>
            </c:ext>
          </c:extLst>
        </c:dLbl>
      </c:pivotFmt>
      <c:pivotFmt>
        <c:idx val="7"/>
        <c:spPr>
          <a:solidFill>
            <a:schemeClr val="accent1"/>
          </a:solidFill>
          <a:ln>
            <a:noFill/>
          </a:ln>
          <a:effectLst>
            <a:outerShdw blurRad="317500" algn="ctr" rotWithShape="0">
              <a:prstClr val="black">
                <a:alpha val="25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spc="0" baseline="0">
                  <a:solidFill>
                    <a:schemeClr val="lt1"/>
                  </a:solidFill>
                  <a:latin typeface="+mn-lt"/>
                  <a:ea typeface="+mn-ea"/>
                  <a:cs typeface="+mn-cs"/>
                </a:defRPr>
              </a:pPr>
              <a:endParaRPr lang="en-US"/>
            </a:p>
          </c:txPr>
          <c:dLblPos val="inEnd"/>
          <c:showLegendKey val="0"/>
          <c:showVal val="1"/>
          <c:showCatName val="0"/>
          <c:showSerName val="0"/>
          <c:showPercent val="1"/>
          <c:showBubbleSize val="0"/>
          <c:extLst>
            <c:ext xmlns:c15="http://schemas.microsoft.com/office/drawing/2012/chart" uri="{CE6537A1-D6FC-4f65-9D91-7224C49458BB}"/>
          </c:extLst>
        </c:dLbl>
      </c:pivotFmt>
      <c:pivotFmt>
        <c:idx val="8"/>
        <c:spPr>
          <a:solidFill>
            <a:schemeClr val="accent1"/>
          </a:solidFill>
          <a:ln>
            <a:noFill/>
          </a:ln>
          <a:effectLst>
            <a:outerShdw blurRad="317500" algn="ctr" rotWithShape="0">
              <a:prstClr val="black">
                <a:alpha val="25000"/>
              </a:prstClr>
            </a:outerShdw>
          </a:effectLst>
        </c:spPr>
        <c:dLbl>
          <c:idx val="0"/>
          <c:spPr>
            <a:noFill/>
            <a:ln>
              <a:noFill/>
            </a:ln>
            <a:effectLst/>
          </c:spPr>
          <c:txPr>
            <a:bodyPr rot="0" spcFirstLastPara="1" vertOverflow="ellipsis" vert="horz" wrap="square" lIns="38100" tIns="19050" rIns="38100" bIns="19050" anchor="ctr" anchorCtr="1">
              <a:noAutofit/>
            </a:bodyPr>
            <a:lstStyle/>
            <a:p>
              <a:pPr>
                <a:defRPr sz="900" b="1" i="0" u="none" strike="noStrike" kern="1200" spc="0" baseline="0">
                  <a:solidFill>
                    <a:schemeClr val="lt1"/>
                  </a:solidFill>
                  <a:latin typeface="+mn-lt"/>
                  <a:ea typeface="+mn-ea"/>
                  <a:cs typeface="+mn-cs"/>
                </a:defRPr>
              </a:pPr>
              <a:endParaRPr lang="en-US"/>
            </a:p>
          </c:txPr>
          <c:dLblPos val="inEnd"/>
          <c:showLegendKey val="0"/>
          <c:showVal val="1"/>
          <c:showCatName val="0"/>
          <c:showSerName val="0"/>
          <c:showPercent val="1"/>
          <c:showBubbleSize val="0"/>
          <c:extLst>
            <c:ext xmlns:c15="http://schemas.microsoft.com/office/drawing/2012/chart" uri="{CE6537A1-D6FC-4f65-9D91-7224C49458BB}">
              <c15:layout>
                <c:manualLayout>
                  <c:w val="0.14816205759503734"/>
                  <c:h val="9.5504288304722684E-2"/>
                </c:manualLayout>
              </c15:layout>
            </c:ext>
          </c:extLst>
        </c:dLbl>
      </c:pivotFmt>
      <c:pivotFmt>
        <c:idx val="9"/>
        <c:spPr>
          <a:solidFill>
            <a:schemeClr val="accent1"/>
          </a:solidFill>
          <a:ln>
            <a:noFill/>
          </a:ln>
          <a:effectLst>
            <a:outerShdw blurRad="317500" algn="ctr" rotWithShape="0">
              <a:prstClr val="black">
                <a:alpha val="25000"/>
              </a:prstClr>
            </a:outerShdw>
          </a:effectLst>
        </c:spPr>
      </c:pivotFmt>
      <c:pivotFmt>
        <c:idx val="10"/>
        <c:spPr>
          <a:solidFill>
            <a:schemeClr val="accent1"/>
          </a:solidFill>
          <a:ln>
            <a:noFill/>
          </a:ln>
          <a:effectLst>
            <a:outerShdw blurRad="317500" algn="ctr" rotWithShape="0">
              <a:prstClr val="black">
                <a:alpha val="25000"/>
              </a:prstClr>
            </a:outerShdw>
          </a:effectLst>
        </c:spPr>
        <c:dLbl>
          <c:idx val="0"/>
          <c:layout>
            <c:manualLayout>
              <c:x val="0.16029325266600294"/>
              <c:y val="-8.4576476993893479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spc="0" baseline="0">
                  <a:solidFill>
                    <a:schemeClr val="lt1"/>
                  </a:solidFill>
                  <a:latin typeface="+mn-lt"/>
                  <a:ea typeface="+mn-ea"/>
                  <a:cs typeface="+mn-cs"/>
                </a:defRPr>
              </a:pPr>
              <a:endParaRPr lang="en-US"/>
            </a:p>
          </c:txPr>
          <c:dLblPos val="bestFit"/>
          <c:showLegendKey val="0"/>
          <c:showVal val="1"/>
          <c:showCatName val="0"/>
          <c:showSerName val="0"/>
          <c:showPercent val="1"/>
          <c:showBubbleSize val="0"/>
          <c:extLst>
            <c:ext xmlns:c15="http://schemas.microsoft.com/office/drawing/2012/chart" uri="{CE6537A1-D6FC-4f65-9D91-7224C49458BB}">
              <c15:layout>
                <c:manualLayout>
                  <c:w val="0.16362485311745742"/>
                  <c:h val="6.6831553704746832E-2"/>
                </c:manualLayout>
              </c15:layout>
            </c:ext>
          </c:extLst>
        </c:dLbl>
      </c:pivotFmt>
    </c:pivotFmts>
    <c:plotArea>
      <c:layout/>
      <c:pieChart>
        <c:varyColors val="1"/>
        <c:ser>
          <c:idx val="0"/>
          <c:order val="0"/>
          <c:tx>
            <c:strRef>
              <c:f>'WORKING SHEET'!$B$18</c:f>
              <c:strCache>
                <c:ptCount val="1"/>
                <c:pt idx="0">
                  <c:v>Total</c:v>
                </c:pt>
              </c:strCache>
            </c:strRef>
          </c:tx>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C-54B0-42C1-9585-EF88042153B6}"/>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D-54B0-42C1-9585-EF88042153B6}"/>
              </c:ext>
            </c:extLst>
          </c:dPt>
          <c:dPt>
            <c:idx val="2"/>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E-54B0-42C1-9585-EF88042153B6}"/>
              </c:ext>
            </c:extLst>
          </c:dPt>
          <c:dLbls>
            <c:dLbl>
              <c:idx val="0"/>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C-54B0-42C1-9585-EF88042153B6}"/>
                </c:ext>
              </c:extLst>
            </c:dLbl>
            <c:dLbl>
              <c:idx val="1"/>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2"/>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D-54B0-42C1-9585-EF88042153B6}"/>
                </c:ext>
              </c:extLst>
            </c:dLbl>
            <c:dLbl>
              <c:idx val="2"/>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3"/>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E-54B0-42C1-9585-EF88042153B6}"/>
                </c:ext>
              </c:extLst>
            </c:dLbl>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'WORKING SHEET'!$A$19:$A$21</c:f>
              <c:strCache>
                <c:ptCount val="3"/>
                <c:pt idx="0">
                  <c:v>app</c:v>
                </c:pt>
                <c:pt idx="1">
                  <c:v>dashboard</c:v>
                </c:pt>
                <c:pt idx="2">
                  <c:v>gurucool</c:v>
                </c:pt>
              </c:strCache>
            </c:strRef>
          </c:cat>
          <c:val>
            <c:numRef>
              <c:f>'WORKING SHEET'!$B$19:$B$21</c:f>
              <c:numCache>
                <c:formatCode>General</c:formatCode>
                <c:ptCount val="3"/>
                <c:pt idx="0">
                  <c:v>7800</c:v>
                </c:pt>
                <c:pt idx="1">
                  <c:v>2</c:v>
                </c:pt>
                <c:pt idx="2">
                  <c:v>20225</c:v>
                </c:pt>
              </c:numCache>
            </c:numRef>
          </c:val>
          <c:extLst>
            <c:ext xmlns:c16="http://schemas.microsoft.com/office/drawing/2014/chart" uri="{C3380CC4-5D6E-409C-BE32-E72D297353CC}">
              <c16:uniqueId val="{0000000B-54B0-42C1-9585-EF88042153B6}"/>
            </c:ext>
          </c:extLst>
        </c:ser>
        <c:dLbls>
          <c:dLblPos val="outEnd"/>
          <c:showLegendKey val="0"/>
          <c:showVal val="0"/>
          <c:showCatName val="0"/>
          <c:showSerName val="0"/>
          <c:showPercent val="1"/>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[hamza_project NEW.xlsx]WORKING SHEET!PivotTable28</c:name>
    <c:fmtId val="11"/>
  </c:pivotSource>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Chat Status</a:t>
            </a:r>
          </a:p>
        </c:rich>
      </c:tx>
      <c:layout>
        <c:manualLayout>
          <c:xMode val="edge"/>
          <c:yMode val="edge"/>
          <c:x val="0.47748141118563969"/>
          <c:y val="4.1818791821078498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dLbl>
          <c:idx val="0"/>
          <c:dLblPos val="bestFit"/>
          <c:showLegendKey val="0"/>
          <c:showVal val="1"/>
          <c:showCatName val="0"/>
          <c:showSerName val="0"/>
          <c:showPercent val="0"/>
          <c:showBubbleSize val="0"/>
          <c:extLst>
            <c:ext xmlns:c15="http://schemas.microsoft.com/office/drawing/2012/chart" uri="{CE6537A1-D6FC-4f65-9D91-7224C49458BB}"/>
          </c:extLst>
        </c:dLbl>
      </c:pivotFmt>
      <c:pivotFmt>
        <c:idx val="1"/>
        <c:dLbl>
          <c:idx val="0"/>
          <c:dLblPos val="bestFit"/>
          <c:showLegendKey val="0"/>
          <c:showVal val="1"/>
          <c:showCatName val="0"/>
          <c:showSerName val="0"/>
          <c:showPercent val="0"/>
          <c:showBubbleSize val="0"/>
          <c:extLst>
            <c:ext xmlns:c15="http://schemas.microsoft.com/office/drawing/2012/chart" uri="{CE6537A1-D6FC-4f65-9D91-7224C49458BB}"/>
          </c:extLst>
        </c:dLbl>
      </c:pivotFmt>
      <c:pivotFmt>
        <c:idx val="2"/>
      </c:pivotFmt>
      <c:pivotFmt>
        <c:idx val="3"/>
      </c:pivotFmt>
      <c:pivotFmt>
        <c:idx val="4"/>
      </c:pivotFmt>
      <c:pivotFmt>
        <c:idx val="5"/>
      </c:pivotFmt>
      <c:pivotFmt>
        <c:idx val="6"/>
      </c:pivotFmt>
      <c:pivotFmt>
        <c:idx val="7"/>
      </c:pivotFmt>
      <c:pivotFmt>
        <c:idx val="8"/>
        <c:spPr>
          <a:solidFill>
            <a:schemeClr val="accent1"/>
          </a:solidFill>
          <a:ln w="19050">
            <a:solidFill>
              <a:schemeClr val="lt1"/>
            </a:solidFill>
          </a:ln>
          <a:effectLst/>
        </c:spPr>
        <c:marker>
          <c:symbol val="circle"/>
          <c:size val="5"/>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9"/>
        <c:spPr>
          <a:solidFill>
            <a:schemeClr val="accent1"/>
          </a:solidFill>
          <a:ln w="19050">
            <a:solidFill>
              <a:schemeClr val="lt1"/>
            </a:solid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15:xForSave val="1"/>
            </c:ext>
          </c:extLst>
        </c:dLbl>
      </c:pivotFmt>
      <c:pivotFmt>
        <c:idx val="10"/>
        <c:spPr>
          <a:solidFill>
            <a:schemeClr val="accent2"/>
          </a:solidFill>
          <a:ln w="19050">
            <a:solidFill>
              <a:schemeClr val="lt1"/>
            </a:solid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15:xForSave val="1"/>
            </c:ext>
          </c:extLst>
        </c:dLbl>
      </c:pivotFmt>
      <c:pivotFmt>
        <c:idx val="11"/>
        <c:spPr>
          <a:solidFill>
            <a:schemeClr val="accent3"/>
          </a:solidFill>
          <a:ln w="19050">
            <a:solidFill>
              <a:schemeClr val="lt1"/>
            </a:solid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15:xForSave val="1"/>
            </c:ext>
          </c:extLst>
        </c:dLbl>
      </c:pivotFmt>
      <c:pivotFmt>
        <c:idx val="12"/>
        <c:spPr>
          <a:solidFill>
            <a:schemeClr val="accent4"/>
          </a:solidFill>
          <a:ln w="19050">
            <a:solidFill>
              <a:schemeClr val="lt1"/>
            </a:solid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15:xForSave val="1"/>
            </c:ext>
          </c:extLst>
        </c:dLbl>
      </c:pivotFmt>
      <c:pivotFmt>
        <c:idx val="13"/>
        <c:spPr>
          <a:solidFill>
            <a:schemeClr val="accent5"/>
          </a:solidFill>
          <a:ln w="19050">
            <a:solidFill>
              <a:schemeClr val="lt1"/>
            </a:solid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15:xForSave val="1"/>
            </c:ext>
          </c:extLst>
        </c:dLbl>
      </c:pivotFmt>
      <c:pivotFmt>
        <c:idx val="14"/>
        <c:spPr>
          <a:solidFill>
            <a:schemeClr val="accent6"/>
          </a:solidFill>
          <a:ln w="19050">
            <a:solidFill>
              <a:schemeClr val="lt1"/>
            </a:solid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1"/>
          <c:showSerName val="0"/>
          <c:showPercent val="0"/>
          <c:showBubbleSize val="0"/>
          <c:extLst>
            <c:ext xmlns:c15="http://schemas.microsoft.com/office/drawing/2012/chart" uri="{CE6537A1-D6FC-4f65-9D91-7224C49458BB}">
              <c15:xForSave val="1"/>
            </c:ext>
          </c:extLst>
        </c:dLbl>
      </c:pivotFmt>
      <c:pivotFmt>
        <c:idx val="1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16"/>
        <c:spPr>
          <a:solidFill>
            <a:schemeClr val="accent1"/>
          </a:solidFill>
          <a:ln w="19050">
            <a:solidFill>
              <a:schemeClr val="lt1"/>
            </a:solidFill>
          </a:ln>
          <a:effectLst/>
        </c:spPr>
      </c:pivotFmt>
      <c:pivotFmt>
        <c:idx val="17"/>
        <c:spPr>
          <a:solidFill>
            <a:schemeClr val="accent1"/>
          </a:solidFill>
          <a:ln w="19050">
            <a:solidFill>
              <a:schemeClr val="lt1"/>
            </a:solidFill>
          </a:ln>
          <a:effectLst/>
        </c:spPr>
      </c:pivotFmt>
      <c:pivotFmt>
        <c:idx val="18"/>
        <c:spPr>
          <a:solidFill>
            <a:schemeClr val="accent1"/>
          </a:solidFill>
          <a:ln w="19050">
            <a:solidFill>
              <a:schemeClr val="lt1"/>
            </a:solidFill>
          </a:ln>
          <a:effectLst/>
        </c:spPr>
      </c:pivotFmt>
      <c:pivotFmt>
        <c:idx val="19"/>
        <c:spPr>
          <a:solidFill>
            <a:schemeClr val="accent1"/>
          </a:solidFill>
          <a:ln w="19050">
            <a:solidFill>
              <a:schemeClr val="lt1"/>
            </a:solidFill>
          </a:ln>
          <a:effectLst/>
        </c:spPr>
      </c:pivotFmt>
      <c:pivotFmt>
        <c:idx val="20"/>
        <c:spPr>
          <a:solidFill>
            <a:schemeClr val="accent1"/>
          </a:solidFill>
          <a:ln w="19050">
            <a:solidFill>
              <a:schemeClr val="lt1"/>
            </a:solidFill>
          </a:ln>
          <a:effectLst/>
        </c:spPr>
      </c:pivotFmt>
      <c:pivotFmt>
        <c:idx val="21"/>
        <c:spPr>
          <a:solidFill>
            <a:schemeClr val="accent1"/>
          </a:solidFill>
          <a:ln w="19050">
            <a:solidFill>
              <a:schemeClr val="lt1"/>
            </a:solidFill>
          </a:ln>
          <a:effectLst/>
        </c:spPr>
      </c:pivotFmt>
      <c:pivotFmt>
        <c:idx val="2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23"/>
        <c:spPr>
          <a:solidFill>
            <a:schemeClr val="accent1"/>
          </a:solidFill>
          <a:ln w="19050">
            <a:solidFill>
              <a:schemeClr val="lt1"/>
            </a:solidFill>
          </a:ln>
          <a:effectLst/>
        </c:spPr>
      </c:pivotFmt>
      <c:pivotFmt>
        <c:idx val="24"/>
        <c:spPr>
          <a:solidFill>
            <a:schemeClr val="accent1"/>
          </a:solidFill>
          <a:ln w="19050">
            <a:solidFill>
              <a:schemeClr val="lt1"/>
            </a:solidFill>
          </a:ln>
          <a:effectLst/>
        </c:spPr>
      </c:pivotFmt>
      <c:pivotFmt>
        <c:idx val="25"/>
        <c:spPr>
          <a:solidFill>
            <a:schemeClr val="accent1"/>
          </a:solidFill>
          <a:ln w="19050">
            <a:solidFill>
              <a:schemeClr val="lt1"/>
            </a:solidFill>
          </a:ln>
          <a:effectLst/>
        </c:spPr>
      </c:pivotFmt>
      <c:pivotFmt>
        <c:idx val="26"/>
        <c:spPr>
          <a:solidFill>
            <a:schemeClr val="accent1"/>
          </a:solidFill>
          <a:ln w="19050">
            <a:solidFill>
              <a:schemeClr val="lt1"/>
            </a:solidFill>
          </a:ln>
          <a:effectLst/>
        </c:spPr>
      </c:pivotFmt>
      <c:pivotFmt>
        <c:idx val="27"/>
        <c:spPr>
          <a:solidFill>
            <a:schemeClr val="accent1"/>
          </a:solidFill>
          <a:ln w="19050">
            <a:solidFill>
              <a:schemeClr val="lt1"/>
            </a:solidFill>
          </a:ln>
          <a:effectLst/>
        </c:spPr>
      </c:pivotFmt>
      <c:pivotFmt>
        <c:idx val="28"/>
        <c:spPr>
          <a:solidFill>
            <a:schemeClr val="accent1"/>
          </a:solidFill>
          <a:ln w="19050">
            <a:solidFill>
              <a:schemeClr val="lt1"/>
            </a:solidFill>
          </a:ln>
          <a:effectLst/>
        </c:spPr>
      </c:pivotFmt>
    </c:pivotFmts>
    <c:plotArea>
      <c:layout/>
      <c:pieChart>
        <c:varyColors val="1"/>
        <c:ser>
          <c:idx val="0"/>
          <c:order val="0"/>
          <c:tx>
            <c:strRef>
              <c:f>'WORKING SHEET'!$Q$69</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13D6-4CF7-A3A5-A0AD6EEAB842}"/>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13D6-4CF7-A3A5-A0AD6EEAB842}"/>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13D6-4CF7-A3A5-A0AD6EEAB842}"/>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13D6-4CF7-A3A5-A0AD6EEAB842}"/>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13D6-4CF7-A3A5-A0AD6EEAB842}"/>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13D6-4CF7-A3A5-A0AD6EEAB842}"/>
              </c:ext>
            </c:extLst>
          </c:dPt>
          <c:dLbls>
            <c:dLbl>
              <c:idx val="4"/>
              <c:layout>
                <c:manualLayout>
                  <c:x val="-2.1403661868052107E-2"/>
                  <c:y val="0.16327041672035361"/>
                </c:manualLayout>
              </c:layout>
              <c:dLblPos val="bestFit"/>
              <c:showLegendKey val="0"/>
              <c:showVal val="1"/>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9-13D6-4CF7-A3A5-A0AD6EEAB842}"/>
                </c:ext>
              </c:extLst>
            </c:dLbl>
            <c:dLbl>
              <c:idx val="5"/>
              <c:layout>
                <c:manualLayout>
                  <c:x val="-0.13311458850951255"/>
                  <c:y val="2.9726307072822148E-2"/>
                </c:manualLayout>
              </c:layout>
              <c:tx>
                <c:rich>
                  <a:bodyPr/>
                  <a:lstStyle/>
                  <a:p>
                    <a:fld id="{F2E2D0B3-FFC3-4222-A68A-82613618361F}" type="CATEGORYNAME">
                      <a:rPr lang="en-US">
                        <a:highlight>
                          <a:srgbClr val="C0C0C0"/>
                        </a:highlight>
                      </a:rPr>
                      <a:pPr/>
                      <a:t>[CATEGORY NAME]</a:t>
                    </a:fld>
                    <a:r>
                      <a:rPr lang="en-US" baseline="0" dirty="0">
                        <a:highlight>
                          <a:srgbClr val="C0C0C0"/>
                        </a:highlight>
                      </a:rPr>
                      <a:t>, </a:t>
                    </a:r>
                    <a:fld id="{9AE1D729-7C94-4445-9FDF-B21712D4A373}" type="VALUE">
                      <a:rPr lang="en-US" baseline="0">
                        <a:highlight>
                          <a:srgbClr val="C0C0C0"/>
                        </a:highlight>
                      </a:rPr>
                      <a:pPr/>
                      <a:t>[VALUE]</a:t>
                    </a:fld>
                    <a:r>
                      <a:rPr lang="en-US" baseline="0" dirty="0">
                        <a:highlight>
                          <a:srgbClr val="C0C0C0"/>
                        </a:highlight>
                      </a:rPr>
                      <a:t>, </a:t>
                    </a:r>
                    <a:fld id="{AE70F6E9-5C9A-496E-8FBF-8F68CA2076FB}" type="PERCENTAGE">
                      <a:rPr lang="en-US" baseline="0">
                        <a:highlight>
                          <a:srgbClr val="C0C0C0"/>
                        </a:highlight>
                      </a:rPr>
                      <a:pPr/>
                      <a:t>[PERCENTAGE]</a:t>
                    </a:fld>
                    <a:endParaRPr lang="en-US" baseline="0" dirty="0">
                      <a:highlight>
                        <a:srgbClr val="C0C0C0"/>
                      </a:highlight>
                    </a:endParaRPr>
                  </a:p>
                </c:rich>
              </c:tx>
              <c:dLblPos val="bestFit"/>
              <c:showLegendKey val="0"/>
              <c:showVal val="1"/>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B-13D6-4CF7-A3A5-A0AD6EEAB842}"/>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'WORKING SHEET'!$P$70:$P$76</c:f>
              <c:strCache>
                <c:ptCount val="6"/>
                <c:pt idx="0">
                  <c:v>completed</c:v>
                </c:pt>
                <c:pt idx="1">
                  <c:v>failed</c:v>
                </c:pt>
                <c:pt idx="2">
                  <c:v>incomplete</c:v>
                </c:pt>
                <c:pt idx="3">
                  <c:v>Not Available</c:v>
                </c:pt>
                <c:pt idx="4">
                  <c:v>pending</c:v>
                </c:pt>
                <c:pt idx="5">
                  <c:v>started</c:v>
                </c:pt>
              </c:strCache>
            </c:strRef>
          </c:cat>
          <c:val>
            <c:numRef>
              <c:f>'WORKING SHEET'!$Q$70:$Q$76</c:f>
              <c:numCache>
                <c:formatCode>General</c:formatCode>
                <c:ptCount val="6"/>
                <c:pt idx="0">
                  <c:v>5535</c:v>
                </c:pt>
                <c:pt idx="1">
                  <c:v>7256</c:v>
                </c:pt>
                <c:pt idx="2">
                  <c:v>6641</c:v>
                </c:pt>
                <c:pt idx="3">
                  <c:v>8512</c:v>
                </c:pt>
                <c:pt idx="4">
                  <c:v>48</c:v>
                </c:pt>
                <c:pt idx="5">
                  <c:v>35</c:v>
                </c:pt>
              </c:numCache>
            </c:numRef>
          </c:val>
          <c:extLst>
            <c:ext xmlns:c16="http://schemas.microsoft.com/office/drawing/2014/chart" uri="{C3380CC4-5D6E-409C-BE32-E72D297353CC}">
              <c16:uniqueId val="{0000000C-13D6-4CF7-A3A5-A0AD6EEAB842}"/>
            </c:ext>
          </c:extLst>
        </c:ser>
        <c:dLbls>
          <c:dLblPos val="inEnd"/>
          <c:showLegendKey val="0"/>
          <c:showVal val="1"/>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[hamza_project NEW.xlsx]WORKING SHEET!PivotTable27</c:name>
    <c:fmtId val="16"/>
  </c:pivotSource>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en-US"/>
              <a:t>Revenue generated by consultation type</a:t>
            </a:r>
          </a:p>
        </c:rich>
      </c:tx>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circle"/>
          <c:size val="6"/>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1"/>
          <c:showBubbleSize val="0"/>
          <c:extLst>
            <c:ext xmlns:c15="http://schemas.microsoft.com/office/drawing/2012/chart" uri="{CE6537A1-D6FC-4f65-9D91-7224C49458BB}"/>
          </c:extLst>
        </c:dLbl>
      </c:pivotFmt>
      <c:pivotFmt>
        <c:idx val="1"/>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dLbl>
          <c:idx val="0"/>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1"/>
          <c:showBubbleSize val="0"/>
          <c:extLst>
            <c:ext xmlns:c15="http://schemas.microsoft.com/office/drawing/2012/chart" uri="{CE6537A1-D6FC-4f65-9D91-7224C49458BB}">
              <c15:layout>
                <c:manualLayout>
                  <c:w val="0.15587510936132984"/>
                  <c:h val="0.19430555555555556"/>
                </c:manualLayout>
              </c15:layout>
            </c:ext>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1"/>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dLbl>
          <c:idx val="0"/>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1"/>
          <c:showBubbleSize val="0"/>
          <c:extLst>
            <c:ext xmlns:c15="http://schemas.microsoft.com/office/drawing/2012/chart" uri="{CE6537A1-D6FC-4f65-9D91-7224C49458BB}">
              <c15:layout>
                <c:manualLayout>
                  <c:w val="0.15587510936132984"/>
                  <c:h val="0.19430555555555556"/>
                </c:manualLayout>
              </c15:layout>
            </c:ext>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1"/>
          <c:showBubbleSize val="0"/>
          <c:extLst>
            <c:ext xmlns:c15="http://schemas.microsoft.com/office/drawing/2012/chart" uri="{CE6537A1-D6FC-4f65-9D91-7224C49458BB}"/>
          </c:extLst>
        </c:dLbl>
      </c:pivotFmt>
      <c:pivotFmt>
        <c:idx val="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dLbl>
          <c:idx val="0"/>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1"/>
          <c:showBubbleSize val="0"/>
          <c:extLst>
            <c:ext xmlns:c15="http://schemas.microsoft.com/office/drawing/2012/chart" uri="{CE6537A1-D6FC-4f65-9D91-7224C49458BB}">
              <c15:layout>
                <c:manualLayout>
                  <c:w val="0.15587510936132984"/>
                  <c:h val="0.19430555555555556"/>
                </c:manualLayout>
              </c15:layout>
            </c:ext>
          </c:extLst>
        </c:dLbl>
      </c:pivotFmt>
      <c:pivotFmt>
        <c:idx val="1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1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s>
    <c:plotArea>
      <c:layout>
        <c:manualLayout>
          <c:layoutTarget val="inner"/>
          <c:xMode val="edge"/>
          <c:yMode val="edge"/>
          <c:x val="5.4439613571734984E-2"/>
          <c:y val="0.22441915498767845"/>
          <c:w val="0.55658024074255674"/>
          <c:h val="0.67347293134514963"/>
        </c:manualLayout>
      </c:layout>
      <c:pieChart>
        <c:varyColors val="1"/>
        <c:ser>
          <c:idx val="0"/>
          <c:order val="0"/>
          <c:tx>
            <c:strRef>
              <c:f>'WORKING SHEET'!$V$42</c:f>
              <c:strCache>
                <c:ptCount val="1"/>
                <c:pt idx="0">
                  <c:v>Total</c:v>
                </c:pt>
              </c:strCache>
            </c:strRef>
          </c:tx>
          <c:explosion val="3"/>
          <c:dPt>
            <c:idx val="0"/>
            <c:bubble3D val="0"/>
            <c:explosion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DA07-4A24-B21D-C2A66F24EB49}"/>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DA07-4A24-B21D-C2A66F24EB49}"/>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DA07-4A24-B21D-C2A66F24EB49}"/>
              </c:ext>
            </c:extLst>
          </c:dPt>
          <c:dPt>
            <c:idx val="3"/>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DA07-4A24-B21D-C2A66F24EB49}"/>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'WORKING SHEET'!$U$43:$U$47</c:f>
              <c:strCache>
                <c:ptCount val="4"/>
                <c:pt idx="0">
                  <c:v>Call</c:v>
                </c:pt>
                <c:pt idx="1">
                  <c:v>Chat</c:v>
                </c:pt>
                <c:pt idx="2">
                  <c:v>Complementary</c:v>
                </c:pt>
                <c:pt idx="3">
                  <c:v>public_live_Call</c:v>
                </c:pt>
              </c:strCache>
            </c:strRef>
          </c:cat>
          <c:val>
            <c:numRef>
              <c:f>'WORKING SHEET'!$V$43:$V$47</c:f>
              <c:numCache>
                <c:formatCode>General</c:formatCode>
                <c:ptCount val="4"/>
                <c:pt idx="0">
                  <c:v>168520.61833333349</c:v>
                </c:pt>
                <c:pt idx="1">
                  <c:v>45494.683333333342</c:v>
                </c:pt>
                <c:pt idx="3">
                  <c:v>50.596999999999902</c:v>
                </c:pt>
              </c:numCache>
            </c:numRef>
          </c:val>
          <c:extLst>
            <c:ext xmlns:c16="http://schemas.microsoft.com/office/drawing/2014/chart" uri="{C3380CC4-5D6E-409C-BE32-E72D297353CC}">
              <c16:uniqueId val="{00000008-DA07-4A24-B21D-C2A66F24EB49}"/>
            </c:ext>
          </c:extLst>
        </c:ser>
        <c:dLbls>
          <c:dLblPos val="ctr"/>
          <c:showLegendKey val="0"/>
          <c:showVal val="1"/>
          <c:showCatName val="0"/>
          <c:showSerName val="0"/>
          <c:showPercent val="0"/>
          <c:showBubbleSize val="0"/>
          <c:showLeaderLines val="1"/>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[hamza_project NEW.xlsx]WORKING SHEET!PivotTable20</c:name>
    <c:fmtId val="15"/>
  </c:pivotSource>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en-US"/>
              <a:t>Rating wise guru distribution </a:t>
            </a:r>
          </a:p>
        </c:rich>
      </c:tx>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spPr>
          <a:solidFill>
            <a:schemeClr val="accent1"/>
          </a:solidFill>
          <a:ln w="9525" cap="flat" cmpd="sng" algn="ctr">
            <a:noFill/>
            <a:round/>
          </a:ln>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9525" cap="flat" cmpd="sng" algn="ctr">
            <a:noFill/>
            <a:round/>
          </a:ln>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9525" cap="flat" cmpd="sng" algn="ctr">
            <a:noFill/>
            <a:round/>
          </a:ln>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9525" cap="flat" cmpd="sng" algn="ctr">
            <a:noFill/>
            <a:round/>
          </a:ln>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9525" cap="flat" cmpd="sng" algn="ctr">
            <a:noFill/>
            <a:round/>
          </a:ln>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9525" cap="flat" cmpd="sng" algn="ctr">
            <a:noFill/>
            <a:round/>
          </a:ln>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9525" cap="flat" cmpd="sng" algn="ctr">
            <a:noFill/>
            <a:round/>
          </a:ln>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4821296751968505"/>
          <c:y val="0.19126671313892502"/>
          <c:w val="0.70221981627296592"/>
          <c:h val="0.65716498979294258"/>
        </c:manualLayout>
      </c:layout>
      <c:barChart>
        <c:barDir val="bar"/>
        <c:grouping val="clustered"/>
        <c:varyColors val="0"/>
        <c:ser>
          <c:idx val="0"/>
          <c:order val="0"/>
          <c:tx>
            <c:strRef>
              <c:f>'WORKING SHEET'!$B$3</c:f>
              <c:strCache>
                <c:ptCount val="1"/>
                <c:pt idx="0">
                  <c:v>Total</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95000"/>
                        <a:lumOff val="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'WORKING SHEET'!$A$4:$A$12</c:f>
              <c:strCache>
                <c:ptCount val="9"/>
                <c:pt idx="0">
                  <c:v>0</c:v>
                </c:pt>
                <c:pt idx="1">
                  <c:v>1</c:v>
                </c:pt>
                <c:pt idx="2">
                  <c:v>2</c:v>
                </c:pt>
                <c:pt idx="3">
                  <c:v>3</c:v>
                </c:pt>
                <c:pt idx="4">
                  <c:v>4</c:v>
                </c:pt>
                <c:pt idx="5">
                  <c:v>5</c:v>
                </c:pt>
                <c:pt idx="6">
                  <c:v>6</c:v>
                </c:pt>
                <c:pt idx="7">
                  <c:v>7</c:v>
                </c:pt>
                <c:pt idx="8">
                  <c:v>8</c:v>
                </c:pt>
              </c:strCache>
            </c:strRef>
          </c:cat>
          <c:val>
            <c:numRef>
              <c:f>'WORKING SHEET'!$B$4:$B$12</c:f>
              <c:numCache>
                <c:formatCode>General</c:formatCode>
                <c:ptCount val="9"/>
                <c:pt idx="0">
                  <c:v>7256</c:v>
                </c:pt>
                <c:pt idx="1">
                  <c:v>2199</c:v>
                </c:pt>
                <c:pt idx="2">
                  <c:v>4329</c:v>
                </c:pt>
                <c:pt idx="3">
                  <c:v>4407</c:v>
                </c:pt>
                <c:pt idx="4">
                  <c:v>2132</c:v>
                </c:pt>
                <c:pt idx="5">
                  <c:v>2169</c:v>
                </c:pt>
                <c:pt idx="6">
                  <c:v>1829</c:v>
                </c:pt>
                <c:pt idx="7">
                  <c:v>1824</c:v>
                </c:pt>
                <c:pt idx="8">
                  <c:v>1882</c:v>
                </c:pt>
              </c:numCache>
            </c:numRef>
          </c:val>
          <c:extLst>
            <c:ext xmlns:c16="http://schemas.microsoft.com/office/drawing/2014/chart" uri="{C3380CC4-5D6E-409C-BE32-E72D297353CC}">
              <c16:uniqueId val="{00000000-4A4D-485E-BBB8-83FB4802BA9C}"/>
            </c:ext>
          </c:extLst>
        </c:ser>
        <c:dLbls>
          <c:dLblPos val="inEnd"/>
          <c:showLegendKey val="0"/>
          <c:showVal val="1"/>
          <c:showCatName val="0"/>
          <c:showSerName val="0"/>
          <c:showPercent val="0"/>
          <c:showBubbleSize val="0"/>
        </c:dLbls>
        <c:gapWidth val="65"/>
        <c:axId val="102747135"/>
        <c:axId val="102759135"/>
      </c:barChart>
      <c:catAx>
        <c:axId val="102747135"/>
        <c:scaling>
          <c:orientation val="minMax"/>
        </c:scaling>
        <c:delete val="0"/>
        <c:axPos val="l"/>
        <c:title>
          <c:tx>
            <c:rich>
              <a:bodyPr rot="-540000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r>
                  <a:rPr lang="en-IN"/>
                  <a:t>Ratings</a:t>
                </a:r>
              </a:p>
            </c:rich>
          </c:tx>
          <c:overlay val="0"/>
          <c:spPr>
            <a:noFill/>
            <a:ln>
              <a:noFill/>
            </a:ln>
            <a:effectLst/>
          </c:spPr>
          <c:txPr>
            <a:bodyPr rot="-540000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endParaRPr lang="en-US"/>
            </a:p>
          </c:txPr>
        </c:title>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197" b="0" i="0" u="none" strike="noStrike" kern="1200" cap="all" baseline="0">
                <a:solidFill>
                  <a:schemeClr val="dk1">
                    <a:lumMod val="75000"/>
                    <a:lumOff val="25000"/>
                  </a:schemeClr>
                </a:solidFill>
                <a:latin typeface="+mn-lt"/>
                <a:ea typeface="+mn-ea"/>
                <a:cs typeface="+mn-cs"/>
              </a:defRPr>
            </a:pPr>
            <a:endParaRPr lang="en-US"/>
          </a:p>
        </c:txPr>
        <c:crossAx val="102759135"/>
        <c:crosses val="autoZero"/>
        <c:auto val="1"/>
        <c:lblAlgn val="ctr"/>
        <c:lblOffset val="100"/>
        <c:noMultiLvlLbl val="0"/>
      </c:catAx>
      <c:valAx>
        <c:axId val="102759135"/>
        <c:scaling>
          <c:orientation val="minMax"/>
        </c:scaling>
        <c:delete val="0"/>
        <c:axPos val="b"/>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title>
          <c:tx>
            <c:rich>
              <a:bodyPr rot="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r>
                  <a:rPr lang="en-IN"/>
                  <a:t>No of Gurus</a:t>
                </a:r>
              </a:p>
            </c:rich>
          </c:tx>
          <c:overlay val="0"/>
          <c:spPr>
            <a:noFill/>
            <a:ln>
              <a:noFill/>
            </a:ln>
            <a:effectLst/>
          </c:spPr>
          <c:txPr>
            <a:bodyPr rot="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endParaRPr lang="en-I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crossAx val="10274713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accent3">
        <a:lumMod val="20000"/>
        <a:lumOff val="80000"/>
      </a:schemeClr>
    </a:soli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[hamza_project NEW.xlsx]WORKING SHEET!PivotTable43</c:name>
    <c:fmtId val="8"/>
  </c:pivotSource>
  <c:chart>
    <c:title>
      <c:tx>
        <c:rich>
          <a:bodyPr rot="0" spcFirstLastPara="1" vertOverflow="ellipsis" vert="horz" wrap="square" anchor="ctr" anchorCtr="1"/>
          <a:lstStyle/>
          <a:p>
            <a:pPr>
              <a:defRPr b="0" i="0" u="none" strike="noStrike" kern="1200" baseline="0">
                <a:solidFill>
                  <a:schemeClr val="dk1">
                    <a:lumMod val="65000"/>
                    <a:lumOff val="35000"/>
                  </a:schemeClr>
                </a:solidFill>
                <a:effectLst/>
                <a:latin typeface="+mn-lt"/>
                <a:ea typeface="+mn-ea"/>
                <a:cs typeface="+mn-cs"/>
              </a:defRPr>
            </a:pPr>
            <a:r>
              <a:rPr lang="en-US"/>
              <a:t>CALL DISTRIBUTION BY HOUR</a:t>
            </a:r>
          </a:p>
        </c:rich>
      </c:tx>
      <c:overlay val="0"/>
      <c:spPr>
        <a:noFill/>
        <a:ln>
          <a:noFill/>
        </a:ln>
        <a:effectLst/>
      </c:spPr>
      <c:txPr>
        <a:bodyPr rot="0" spcFirstLastPara="1" vertOverflow="ellipsis" vert="horz" wrap="square" anchor="ctr" anchorCtr="1"/>
        <a:lstStyle/>
        <a:p>
          <a:pPr>
            <a:defRPr b="0" i="0" u="none" strike="noStrike" kern="1200" baseline="0">
              <a:solidFill>
                <a:schemeClr val="dk1">
                  <a:lumMod val="65000"/>
                  <a:lumOff val="35000"/>
                </a:schemeClr>
              </a:solidFill>
              <a:effectLst/>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5400000" spcFirstLastPara="1" vertOverflow="ellipsis" vert="horz" wrap="square" lIns="38100" tIns="19050" rIns="38100" bIns="19050" anchor="ctr" anchorCtr="1">
              <a:spAutoFit/>
            </a:bodyPr>
            <a:lstStyle/>
            <a:p>
              <a:pPr>
                <a:defRPr sz="900" b="0" i="0" u="none" strike="noStrike" kern="1200" baseline="0">
                  <a:solidFill>
                    <a:schemeClr val="bg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bg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bg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bg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bg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'WORKING SHEET'!$R$526</c:f>
              <c:strCache>
                <c:ptCount val="1"/>
                <c:pt idx="0">
                  <c:v>Total</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c:spPr>
          <c:invertIfNegative val="0"/>
          <c:dLbls>
            <c:spPr>
              <a:noFill/>
              <a:ln>
                <a:noFill/>
              </a:ln>
              <a:effectLst/>
            </c:spPr>
            <c:txPr>
              <a:bodyPr rot="-5400000" spcFirstLastPara="1" vertOverflow="ellipsis"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'WORKING SHEET'!$Q$527:$Q$551</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'WORKING SHEET'!$R$527:$R$551</c:f>
              <c:numCache>
                <c:formatCode>General</c:formatCode>
                <c:ptCount val="24"/>
                <c:pt idx="0">
                  <c:v>226</c:v>
                </c:pt>
                <c:pt idx="1">
                  <c:v>304</c:v>
                </c:pt>
                <c:pt idx="2">
                  <c:v>560</c:v>
                </c:pt>
                <c:pt idx="3">
                  <c:v>856</c:v>
                </c:pt>
                <c:pt idx="4">
                  <c:v>1153</c:v>
                </c:pt>
                <c:pt idx="5">
                  <c:v>1438</c:v>
                </c:pt>
                <c:pt idx="6">
                  <c:v>1855</c:v>
                </c:pt>
                <c:pt idx="7">
                  <c:v>1664</c:v>
                </c:pt>
                <c:pt idx="8">
                  <c:v>1875</c:v>
                </c:pt>
                <c:pt idx="9">
                  <c:v>1673</c:v>
                </c:pt>
                <c:pt idx="10">
                  <c:v>1704</c:v>
                </c:pt>
                <c:pt idx="11">
                  <c:v>1472</c:v>
                </c:pt>
                <c:pt idx="12">
                  <c:v>1591</c:v>
                </c:pt>
                <c:pt idx="13">
                  <c:v>1574</c:v>
                </c:pt>
                <c:pt idx="14">
                  <c:v>1673</c:v>
                </c:pt>
                <c:pt idx="15">
                  <c:v>1747</c:v>
                </c:pt>
                <c:pt idx="16">
                  <c:v>1773</c:v>
                </c:pt>
                <c:pt idx="17">
                  <c:v>1443</c:v>
                </c:pt>
                <c:pt idx="18">
                  <c:v>1099</c:v>
                </c:pt>
                <c:pt idx="19">
                  <c:v>912</c:v>
                </c:pt>
                <c:pt idx="20">
                  <c:v>553</c:v>
                </c:pt>
                <c:pt idx="21">
                  <c:v>347</c:v>
                </c:pt>
                <c:pt idx="22">
                  <c:v>268</c:v>
                </c:pt>
                <c:pt idx="23">
                  <c:v>267</c:v>
                </c:pt>
              </c:numCache>
            </c:numRef>
          </c:val>
          <c:extLst>
            <c:ext xmlns:c16="http://schemas.microsoft.com/office/drawing/2014/chart" uri="{C3380CC4-5D6E-409C-BE32-E72D297353CC}">
              <c16:uniqueId val="{00000000-7D04-4E58-A586-B777157A5E7A}"/>
            </c:ext>
          </c:extLst>
        </c:ser>
        <c:dLbls>
          <c:dLblPos val="inEnd"/>
          <c:showLegendKey val="0"/>
          <c:showVal val="1"/>
          <c:showCatName val="0"/>
          <c:showSerName val="0"/>
          <c:showPercent val="0"/>
          <c:showBubbleSize val="0"/>
        </c:dLbls>
        <c:gapWidth val="41"/>
        <c:axId val="1674749279"/>
        <c:axId val="1674744479"/>
      </c:barChart>
      <c:catAx>
        <c:axId val="1674749279"/>
        <c:scaling>
          <c:orientation val="minMax"/>
        </c:scaling>
        <c:delete val="0"/>
        <c:axPos val="b"/>
        <c:title>
          <c:tx>
            <c:rich>
              <a:bodyPr rot="0" spcFirstLastPara="1" vertOverflow="ellipsis" vert="horz" wrap="square" anchor="ctr" anchorCtr="1"/>
              <a:lstStyle/>
              <a:p>
                <a:pPr>
                  <a:defRPr sz="1197" b="1" i="0" u="none" strike="noStrike" kern="1200" baseline="0">
                    <a:solidFill>
                      <a:schemeClr val="dk1">
                        <a:lumMod val="65000"/>
                        <a:lumOff val="35000"/>
                      </a:schemeClr>
                    </a:solidFill>
                    <a:latin typeface="+mn-lt"/>
                    <a:ea typeface="+mn-ea"/>
                    <a:cs typeface="+mn-cs"/>
                  </a:defRPr>
                </a:pPr>
                <a:r>
                  <a:rPr lang="en-IN"/>
                  <a:t>HOURS </a:t>
                </a:r>
              </a:p>
            </c:rich>
          </c:tx>
          <c:overlay val="0"/>
          <c:spPr>
            <a:noFill/>
            <a:ln>
              <a:noFill/>
            </a:ln>
            <a:effectLst/>
          </c:spPr>
          <c:txPr>
            <a:bodyPr rot="0" spcFirstLastPara="1" vertOverflow="ellipsis" vert="horz" wrap="square" anchor="ctr" anchorCtr="1"/>
            <a:lstStyle/>
            <a:p>
              <a:pPr>
                <a:defRPr sz="1197" b="1" i="0" u="none" strike="noStrike" kern="1200" baseline="0">
                  <a:solidFill>
                    <a:schemeClr val="dk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65000"/>
                    <a:lumOff val="35000"/>
                  </a:schemeClr>
                </a:solidFill>
                <a:effectLst/>
                <a:latin typeface="+mn-lt"/>
                <a:ea typeface="+mn-ea"/>
                <a:cs typeface="+mn-cs"/>
              </a:defRPr>
            </a:pPr>
            <a:endParaRPr lang="en-US"/>
          </a:p>
        </c:txPr>
        <c:crossAx val="1674744479"/>
        <c:crosses val="autoZero"/>
        <c:auto val="1"/>
        <c:lblAlgn val="ctr"/>
        <c:lblOffset val="100"/>
        <c:noMultiLvlLbl val="0"/>
      </c:catAx>
      <c:valAx>
        <c:axId val="1674744479"/>
        <c:scaling>
          <c:orientation val="minMax"/>
        </c:scaling>
        <c:delete val="1"/>
        <c:axPos val="l"/>
        <c:title>
          <c:tx>
            <c:rich>
              <a:bodyPr rot="-5400000" spcFirstLastPara="1" vertOverflow="ellipsis" vert="horz" wrap="square" anchor="ctr" anchorCtr="1"/>
              <a:lstStyle/>
              <a:p>
                <a:pPr>
                  <a:defRPr sz="1197" b="1" i="0" u="none" strike="noStrike" kern="1200" baseline="0">
                    <a:solidFill>
                      <a:schemeClr val="dk1">
                        <a:lumMod val="65000"/>
                        <a:lumOff val="35000"/>
                      </a:schemeClr>
                    </a:solidFill>
                    <a:latin typeface="+mn-lt"/>
                    <a:ea typeface="+mn-ea"/>
                    <a:cs typeface="+mn-cs"/>
                  </a:defRPr>
                </a:pPr>
                <a:r>
                  <a:rPr lang="en-IN"/>
                  <a:t>CALL VOLUME</a:t>
                </a:r>
              </a:p>
            </c:rich>
          </c:tx>
          <c:overlay val="0"/>
          <c:spPr>
            <a:noFill/>
            <a:ln>
              <a:noFill/>
            </a:ln>
            <a:effectLst/>
          </c:spPr>
          <c:txPr>
            <a:bodyPr rot="-5400000" spcFirstLastPara="1" vertOverflow="ellipsis" vert="horz" wrap="square" anchor="ctr" anchorCtr="1"/>
            <a:lstStyle/>
            <a:p>
              <a:pPr>
                <a:defRPr sz="1197" b="1" i="0" u="none" strike="noStrike" kern="1200" baseline="0">
                  <a:solidFill>
                    <a:schemeClr val="dk1">
                      <a:lumMod val="65000"/>
                      <a:lumOff val="35000"/>
                    </a:schemeClr>
                  </a:solidFill>
                  <a:latin typeface="+mn-lt"/>
                  <a:ea typeface="+mn-ea"/>
                  <a:cs typeface="+mn-cs"/>
                </a:defRPr>
              </a:pPr>
              <a:endParaRPr lang="en-IN"/>
            </a:p>
          </c:txPr>
        </c:title>
        <c:numFmt formatCode="General" sourceLinked="1"/>
        <c:majorTickMark val="none"/>
        <c:minorTickMark val="none"/>
        <c:tickLblPos val="nextTo"/>
        <c:crossAx val="16747492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[hamza_project NEW.xlsx]WORKING SHEET!PivotTable26</c:name>
    <c:fmtId val="13"/>
  </c:pivotSource>
  <c:chart>
    <c:title>
      <c:tx>
        <c:rich>
          <a:bodyPr rot="0" spcFirstLastPara="1" vertOverflow="ellipsis" vert="horz" wrap="square" anchor="ctr" anchorCtr="1"/>
          <a:lstStyle/>
          <a:p>
            <a:pPr>
              <a:defRPr sz="2128" b="1" i="0" u="none" strike="noStrike" kern="1200" cap="none" spc="0" normalizeH="0" baseline="0">
                <a:solidFill>
                  <a:schemeClr val="dk1">
                    <a:lumMod val="50000"/>
                    <a:lumOff val="50000"/>
                  </a:schemeClr>
                </a:solidFill>
                <a:latin typeface="+mj-lt"/>
                <a:ea typeface="+mj-ea"/>
                <a:cs typeface="+mj-cs"/>
              </a:defRPr>
            </a:pPr>
            <a:r>
              <a:rPr lang="en-US"/>
              <a:t>Rating wise user distribution</a:t>
            </a:r>
          </a:p>
        </c:rich>
      </c:tx>
      <c:layout>
        <c:manualLayout>
          <c:xMode val="edge"/>
          <c:yMode val="edge"/>
          <c:x val="0.19851342490256213"/>
          <c:y val="1.9236202047194569E-2"/>
        </c:manualLayout>
      </c:layout>
      <c:overlay val="0"/>
      <c:spPr>
        <a:noFill/>
        <a:ln>
          <a:noFill/>
        </a:ln>
        <a:effectLst/>
      </c:spPr>
      <c:txPr>
        <a:bodyPr rot="0" spcFirstLastPara="1" vertOverflow="ellipsis" vert="horz" wrap="square" anchor="ctr" anchorCtr="1"/>
        <a:lstStyle/>
        <a:p>
          <a:pPr>
            <a:defRPr sz="2128" b="1" i="0" u="none" strike="noStrike" kern="1200" cap="none" spc="0" normalizeH="0" baseline="0">
              <a:solidFill>
                <a:schemeClr val="dk1">
                  <a:lumMod val="50000"/>
                  <a:lumOff val="50000"/>
                </a:schemeClr>
              </a:solidFill>
              <a:latin typeface="+mj-lt"/>
              <a:ea typeface="+mj-ea"/>
              <a:cs typeface="+mj-cs"/>
            </a:defRPr>
          </a:pPr>
          <a:endParaRPr lang="en-US"/>
        </a:p>
      </c:txPr>
    </c:title>
    <c:autoTitleDeleted val="0"/>
    <c:pivotFmts>
      <c:pivotFmt>
        <c:idx val="0"/>
        <c:spPr>
          <a:solidFill>
            <a:schemeClr val="accent1"/>
          </a:solidFill>
          <a:ln>
            <a:noFill/>
          </a:ln>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6370064339855453"/>
          <c:y val="0.13027766880588176"/>
          <c:w val="0.80551758328926504"/>
          <c:h val="0.69465632956736556"/>
        </c:manualLayout>
      </c:layout>
      <c:barChart>
        <c:barDir val="col"/>
        <c:grouping val="clustered"/>
        <c:varyColors val="0"/>
        <c:ser>
          <c:idx val="0"/>
          <c:order val="0"/>
          <c:tx>
            <c:strRef>
              <c:f>'WORKING SHEET'!$V$21</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dk1">
                          <a:lumMod val="35000"/>
                          <a:lumOff val="65000"/>
                        </a:schemeClr>
                      </a:solidFill>
                      <a:round/>
                    </a:ln>
                    <a:effectLst/>
                  </c:spPr>
                </c15:leaderLines>
              </c:ext>
            </c:extLst>
          </c:dLbls>
          <c:cat>
            <c:strRef>
              <c:f>'WORKING SHEET'!$U$22:$U$31</c:f>
              <c:strCache>
                <c:ptCount val="9"/>
                <c:pt idx="0">
                  <c:v>0</c:v>
                </c:pt>
                <c:pt idx="1">
                  <c:v>1</c:v>
                </c:pt>
                <c:pt idx="2">
                  <c:v>2</c:v>
                </c:pt>
                <c:pt idx="3">
                  <c:v>3</c:v>
                </c:pt>
                <c:pt idx="4">
                  <c:v>4</c:v>
                </c:pt>
                <c:pt idx="5">
                  <c:v>5</c:v>
                </c:pt>
                <c:pt idx="6">
                  <c:v>6</c:v>
                </c:pt>
                <c:pt idx="7">
                  <c:v>7</c:v>
                </c:pt>
                <c:pt idx="8">
                  <c:v>8</c:v>
                </c:pt>
              </c:strCache>
            </c:strRef>
          </c:cat>
          <c:val>
            <c:numRef>
              <c:f>'WORKING SHEET'!$V$22:$V$31</c:f>
              <c:numCache>
                <c:formatCode>General</c:formatCode>
                <c:ptCount val="9"/>
                <c:pt idx="0">
                  <c:v>7256</c:v>
                </c:pt>
                <c:pt idx="1">
                  <c:v>2199</c:v>
                </c:pt>
                <c:pt idx="2">
                  <c:v>4329</c:v>
                </c:pt>
                <c:pt idx="3">
                  <c:v>4407</c:v>
                </c:pt>
                <c:pt idx="4">
                  <c:v>2132</c:v>
                </c:pt>
                <c:pt idx="5">
                  <c:v>2169</c:v>
                </c:pt>
                <c:pt idx="6">
                  <c:v>1829</c:v>
                </c:pt>
                <c:pt idx="7">
                  <c:v>1824</c:v>
                </c:pt>
                <c:pt idx="8">
                  <c:v>1882</c:v>
                </c:pt>
              </c:numCache>
            </c:numRef>
          </c:val>
          <c:extLst>
            <c:ext xmlns:c16="http://schemas.microsoft.com/office/drawing/2014/chart" uri="{C3380CC4-5D6E-409C-BE32-E72D297353CC}">
              <c16:uniqueId val="{00000000-5A3F-45A4-B481-7EF4A1E19CE7}"/>
            </c:ext>
          </c:extLst>
        </c:ser>
        <c:dLbls>
          <c:dLblPos val="outEnd"/>
          <c:showLegendKey val="0"/>
          <c:showVal val="1"/>
          <c:showCatName val="0"/>
          <c:showSerName val="0"/>
          <c:showPercent val="0"/>
          <c:showBubbleSize val="0"/>
        </c:dLbls>
        <c:gapWidth val="267"/>
        <c:overlap val="-43"/>
        <c:axId val="1584013151"/>
        <c:axId val="1584014591"/>
      </c:barChart>
      <c:catAx>
        <c:axId val="1584013151"/>
        <c:scaling>
          <c:orientation val="minMax"/>
        </c:scaling>
        <c:delete val="0"/>
        <c:axPos val="b"/>
        <c:majorGridlines>
          <c:spPr>
            <a:ln w="9525" cap="flat" cmpd="sng" algn="ctr">
              <a:solidFill>
                <a:schemeClr val="dk1">
                  <a:lumMod val="15000"/>
                  <a:lumOff val="85000"/>
                </a:schemeClr>
              </a:solidFill>
              <a:round/>
            </a:ln>
            <a:effectLst/>
          </c:spPr>
        </c:majorGridlines>
        <c:title>
          <c:tx>
            <c:rich>
              <a:bodyPr rot="0" spcFirstLastPara="1" vertOverflow="ellipsis" vert="horz" wrap="square" anchor="ctr" anchorCtr="1"/>
              <a:lstStyle/>
              <a:p>
                <a:pPr>
                  <a:defRPr sz="1197" b="1" i="0" u="none" strike="noStrike" kern="1200" baseline="0">
                    <a:solidFill>
                      <a:schemeClr val="dk1">
                        <a:lumMod val="65000"/>
                        <a:lumOff val="35000"/>
                      </a:schemeClr>
                    </a:solidFill>
                    <a:latin typeface="+mn-lt"/>
                    <a:ea typeface="+mn-ea"/>
                    <a:cs typeface="+mn-cs"/>
                  </a:defRPr>
                </a:pPr>
                <a:r>
                  <a:rPr lang="en-IN"/>
                  <a:t>Ratings</a:t>
                </a:r>
              </a:p>
            </c:rich>
          </c:tx>
          <c:overlay val="0"/>
          <c:spPr>
            <a:noFill/>
            <a:ln>
              <a:noFill/>
            </a:ln>
            <a:effectLst/>
          </c:spPr>
          <c:txPr>
            <a:bodyPr rot="0" spcFirstLastPara="1" vertOverflow="ellipsis" vert="horz" wrap="square" anchor="ctr" anchorCtr="1"/>
            <a:lstStyle/>
            <a:p>
              <a:pPr>
                <a:defRPr sz="1197" b="1" i="0" u="none" strike="noStrike" kern="1200" baseline="0">
                  <a:solidFill>
                    <a:schemeClr val="dk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chemeClr val="dk1">
                    <a:lumMod val="65000"/>
                    <a:lumOff val="35000"/>
                  </a:schemeClr>
                </a:solidFill>
                <a:latin typeface="+mn-lt"/>
                <a:ea typeface="+mn-ea"/>
                <a:cs typeface="+mn-cs"/>
              </a:defRPr>
            </a:pPr>
            <a:endParaRPr lang="en-US"/>
          </a:p>
        </c:txPr>
        <c:crossAx val="1584014591"/>
        <c:crosses val="autoZero"/>
        <c:auto val="1"/>
        <c:lblAlgn val="ctr"/>
        <c:lblOffset val="100"/>
        <c:noMultiLvlLbl val="0"/>
      </c:catAx>
      <c:valAx>
        <c:axId val="1584014591"/>
        <c:scaling>
          <c:orientation val="minMax"/>
        </c:scaling>
        <c:delete val="0"/>
        <c:axPos val="l"/>
        <c:majorGridlines>
          <c:spPr>
            <a:ln w="9525" cap="flat" cmpd="sng" algn="ctr">
              <a:solidFill>
                <a:schemeClr val="dk1">
                  <a:lumMod val="15000"/>
                  <a:lumOff val="85000"/>
                </a:schemeClr>
              </a:solidFill>
              <a:round/>
            </a:ln>
            <a:effectLst/>
          </c:spPr>
        </c:majorGridlines>
        <c:title>
          <c:tx>
            <c:rich>
              <a:bodyPr rot="-5400000" spcFirstLastPara="1" vertOverflow="ellipsis" vert="horz" wrap="square" anchor="ctr" anchorCtr="1"/>
              <a:lstStyle/>
              <a:p>
                <a:pPr>
                  <a:defRPr sz="1197" b="1" i="0" u="none" strike="noStrike" kern="1200" baseline="0">
                    <a:solidFill>
                      <a:schemeClr val="dk1">
                        <a:lumMod val="65000"/>
                        <a:lumOff val="35000"/>
                      </a:schemeClr>
                    </a:solidFill>
                    <a:latin typeface="+mn-lt"/>
                    <a:ea typeface="+mn-ea"/>
                    <a:cs typeface="+mn-cs"/>
                  </a:defRPr>
                </a:pPr>
                <a:r>
                  <a:rPr lang="en-IN"/>
                  <a:t>No of User</a:t>
                </a:r>
              </a:p>
              <a:p>
                <a:pPr>
                  <a:defRPr/>
                </a:pPr>
                <a:endParaRPr lang="en-IN"/>
              </a:p>
            </c:rich>
          </c:tx>
          <c:overlay val="0"/>
          <c:spPr>
            <a:noFill/>
            <a:ln>
              <a:noFill/>
            </a:ln>
            <a:effectLst/>
          </c:spPr>
          <c:txPr>
            <a:bodyPr rot="-5400000" spcFirstLastPara="1" vertOverflow="ellipsis" vert="horz" wrap="square" anchor="ctr" anchorCtr="1"/>
            <a:lstStyle/>
            <a:p>
              <a:pPr>
                <a:defRPr sz="1197" b="1" i="0" u="none" strike="noStrike" kern="1200" baseline="0">
                  <a:solidFill>
                    <a:schemeClr val="dk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crossAx val="1584013151"/>
        <c:crosses val="autoZero"/>
        <c:crossBetween val="between"/>
      </c:valAx>
      <c:spPr>
        <a:pattFill prst="ltDnDiag">
          <a:fgClr>
            <a:schemeClr val="dk1">
              <a:lumMod val="15000"/>
              <a:lumOff val="85000"/>
            </a:schemeClr>
          </a:fgClr>
          <a:bgClr>
            <a:schemeClr val="lt1"/>
          </a:bgClr>
        </a:patt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lt1"/>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[hamza_project NEW.xlsx]WORKING SHEET!PivotTable29</c:name>
    <c:fmtId val="9"/>
  </c:pivotSource>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en-IN"/>
              <a:t>TOP 10 GURU ON EARNING</a:t>
            </a:r>
          </a:p>
        </c:rich>
      </c:tx>
      <c:layout>
        <c:manualLayout>
          <c:xMode val="edge"/>
          <c:yMode val="edge"/>
          <c:x val="0.23037924854959199"/>
          <c:y val="1.9677508870760446E-2"/>
        </c:manualLayout>
      </c:layout>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spPr>
          <a:solidFill>
            <a:schemeClr val="accent1"/>
          </a:solidFill>
          <a:ln w="9525" cap="flat" cmpd="sng" algn="ctr">
            <a:noFill/>
            <a:round/>
          </a:ln>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9525" cap="flat" cmpd="sng" algn="ctr">
            <a:noFill/>
            <a:round/>
          </a:ln>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210" b="0" i="0" u="none" strike="noStrike" kern="1200" baseline="0">
                  <a:solidFill>
                    <a:schemeClr val="tx2">
                      <a:lumMod val="95000"/>
                      <a:lumOff val="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9525" cap="flat" cmpd="sng" algn="ctr">
            <a:noFill/>
            <a:round/>
          </a:ln>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350" b="0" i="0" u="none" strike="noStrike" kern="1200" baseline="0">
                  <a:solidFill>
                    <a:schemeClr val="tx1">
                      <a:lumMod val="95000"/>
                      <a:lumOff val="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9525" cap="flat" cmpd="sng" algn="ctr">
            <a:noFill/>
            <a:round/>
          </a:ln>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210" b="0" i="0" u="none" strike="noStrike" kern="1200" baseline="0">
                  <a:solidFill>
                    <a:schemeClr val="tx2">
                      <a:lumMod val="95000"/>
                      <a:lumOff val="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9525" cap="flat" cmpd="sng" algn="ctr">
            <a:noFill/>
            <a:round/>
          </a:ln>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350" b="0" i="0" u="none" strike="noStrike" kern="1200" baseline="0">
                  <a:solidFill>
                    <a:schemeClr val="tx1">
                      <a:lumMod val="95000"/>
                      <a:lumOff val="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9525" cap="flat" cmpd="sng" algn="ctr">
            <a:noFill/>
            <a:round/>
          </a:ln>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210" b="0" i="0" u="none" strike="noStrike" kern="1200" baseline="0">
                  <a:solidFill>
                    <a:schemeClr val="tx2">
                      <a:lumMod val="95000"/>
                      <a:lumOff val="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9525" cap="flat" cmpd="sng" algn="ctr">
            <a:noFill/>
            <a:round/>
          </a:ln>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350" b="0" i="0" u="none" strike="noStrike" kern="1200" baseline="0">
                  <a:solidFill>
                    <a:schemeClr val="tx1">
                      <a:lumMod val="95000"/>
                      <a:lumOff val="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7.007954210655909E-2"/>
          <c:y val="5.1383970035919178E-2"/>
          <c:w val="0.94088967373686161"/>
          <c:h val="0.84930992284822737"/>
        </c:manualLayout>
      </c:layout>
      <c:barChart>
        <c:barDir val="col"/>
        <c:grouping val="clustered"/>
        <c:varyColors val="0"/>
        <c:ser>
          <c:idx val="0"/>
          <c:order val="0"/>
          <c:tx>
            <c:strRef>
              <c:f>'WORKING SHEET'!$AG$1</c:f>
              <c:strCache>
                <c:ptCount val="1"/>
                <c:pt idx="0">
                  <c:v>Sum of Call Time Duration </c:v>
                </c:pt>
              </c:strCache>
            </c:strRef>
          </c:tx>
          <c:spPr>
            <a:solidFill>
              <a:schemeClr val="accent1">
                <a:alpha val="85000"/>
              </a:schemeClr>
            </a:solidFill>
            <a:ln w="9525" cap="flat" cmpd="sng" algn="ctr">
              <a:solidFill>
                <a:schemeClr val="lt1">
                  <a:alpha val="50000"/>
                </a:schemeClr>
              </a:solidFill>
              <a:round/>
            </a:ln>
            <a:effectLst/>
          </c:spPr>
          <c:invertIfNegative val="0"/>
          <c:dLbls>
            <c:dLbl>
              <c:idx val="0"/>
              <c:layout>
                <c:manualLayout>
                  <c:x val="-1.3445568286245107E-2"/>
                  <c:y val="-1.532890220587890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DEF-4DDB-B775-1EAD358CE37A}"/>
                </c:ext>
              </c:extLst>
            </c:dLbl>
            <c:dLbl>
              <c:idx val="1"/>
              <c:layout>
                <c:manualLayout>
                  <c:x val="-9.6039773473179692E-3"/>
                  <c:y val="1.034825692347665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DEF-4DDB-B775-1EAD358CE37A}"/>
                </c:ext>
              </c:extLst>
            </c:dLbl>
            <c:dLbl>
              <c:idx val="2"/>
              <c:layout>
                <c:manualLayout>
                  <c:x val="0"/>
                  <c:y val="3.5473338359202911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DEF-4DDB-B775-1EAD358CE37A}"/>
                </c:ext>
              </c:extLst>
            </c:dLbl>
            <c:dLbl>
              <c:idx val="3"/>
              <c:layout>
                <c:manualLayout>
                  <c:x val="-5.7623864083907609E-3"/>
                  <c:y val="1.0893934952960335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BDEF-4DDB-B775-1EAD358CE37A}"/>
                </c:ext>
              </c:extLst>
            </c:dLbl>
            <c:dLbl>
              <c:idx val="4"/>
              <c:layout>
                <c:manualLayout>
                  <c:x val="-1.1524772816781522E-2"/>
                  <c:y val="-3.973124823742583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BDEF-4DDB-B775-1EAD358CE37A}"/>
                </c:ext>
              </c:extLst>
            </c:dLbl>
            <c:dLbl>
              <c:idx val="5"/>
              <c:layout>
                <c:manualLayout>
                  <c:x val="0"/>
                  <c:y val="6.547709709527777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BDEF-4DDB-B775-1EAD358CE37A}"/>
                </c:ext>
              </c:extLst>
            </c:dLbl>
            <c:dLbl>
              <c:idx val="6"/>
              <c:layout>
                <c:manualLayout>
                  <c:x val="0"/>
                  <c:y val="2.8777156441496619E-4"/>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BDEF-4DDB-B775-1EAD358CE37A}"/>
                </c:ext>
              </c:extLst>
            </c:dLbl>
            <c:dLbl>
              <c:idx val="7"/>
              <c:layout>
                <c:manualLayout>
                  <c:x val="1.9207954694635868E-3"/>
                  <c:y val="5.427128517628727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BDEF-4DDB-B775-1EAD358CE37A}"/>
                </c:ext>
              </c:extLst>
            </c:dLbl>
            <c:dLbl>
              <c:idx val="8"/>
              <c:layout>
                <c:manualLayout>
                  <c:x val="0"/>
                  <c:y val="-5.332626810411656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BDEF-4DDB-B775-1EAD358CE37A}"/>
                </c:ext>
              </c:extLst>
            </c:dLbl>
            <c:spPr>
              <a:noFill/>
              <a:ln>
                <a:noFill/>
              </a:ln>
              <a:effectLst/>
            </c:spPr>
            <c:txPr>
              <a:bodyPr rot="-5400000" spcFirstLastPara="1" vertOverflow="ellipsis" wrap="square" lIns="38100" tIns="19050" rIns="38100" bIns="19050" anchor="ctr" anchorCtr="1">
                <a:spAutoFit/>
              </a:bodyPr>
              <a:lstStyle/>
              <a:p>
                <a:pPr>
                  <a:defRPr sz="1197" b="1" i="0" u="none" strike="noStrike" kern="1200" baseline="0">
                    <a:solidFill>
                      <a:schemeClr val="tx1">
                        <a:lumMod val="65000"/>
                        <a:lumOff val="3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'WORKING SHEET'!$AF$2:$AF$12</c:f>
              <c:strCache>
                <c:ptCount val="10"/>
                <c:pt idx="0">
                  <c:v>Astro  Ruchi</c:v>
                </c:pt>
                <c:pt idx="1">
                  <c:v>Astro Divya</c:v>
                </c:pt>
                <c:pt idx="2">
                  <c:v>Astro Seema</c:v>
                </c:pt>
                <c:pt idx="3">
                  <c:v>Astro Shalini</c:v>
                </c:pt>
                <c:pt idx="4">
                  <c:v>Astro Sonam S</c:v>
                </c:pt>
                <c:pt idx="5">
                  <c:v>Dr Balkrisna</c:v>
                </c:pt>
                <c:pt idx="6">
                  <c:v>Tarot  Ari</c:v>
                </c:pt>
                <c:pt idx="7">
                  <c:v>Tarot Bee Riya</c:v>
                </c:pt>
                <c:pt idx="8">
                  <c:v>Tarot Rupika</c:v>
                </c:pt>
                <c:pt idx="9">
                  <c:v>Usha Siingh</c:v>
                </c:pt>
              </c:strCache>
            </c:strRef>
          </c:cat>
          <c:val>
            <c:numRef>
              <c:f>'WORKING SHEET'!$AG$2:$AG$12</c:f>
              <c:numCache>
                <c:formatCode>General</c:formatCode>
                <c:ptCount val="10"/>
                <c:pt idx="0">
                  <c:v>2252.6336000000051</c:v>
                </c:pt>
                <c:pt idx="1">
                  <c:v>2358.8499499999893</c:v>
                </c:pt>
                <c:pt idx="2">
                  <c:v>1531.5699833333356</c:v>
                </c:pt>
                <c:pt idx="3">
                  <c:v>2948.3090499999926</c:v>
                </c:pt>
                <c:pt idx="4">
                  <c:v>1978.9092666666652</c:v>
                </c:pt>
                <c:pt idx="5">
                  <c:v>1323.673866666667</c:v>
                </c:pt>
                <c:pt idx="6">
                  <c:v>1085.7308333333326</c:v>
                </c:pt>
                <c:pt idx="7">
                  <c:v>359.59890000000104</c:v>
                </c:pt>
                <c:pt idx="8">
                  <c:v>936.62080000000526</c:v>
                </c:pt>
                <c:pt idx="9">
                  <c:v>186.84904999999995</c:v>
                </c:pt>
              </c:numCache>
            </c:numRef>
          </c:val>
          <c:extLst>
            <c:ext xmlns:c16="http://schemas.microsoft.com/office/drawing/2014/chart" uri="{C3380CC4-5D6E-409C-BE32-E72D297353CC}">
              <c16:uniqueId val="{00000000-E904-4DB8-84A4-644E09FDB7C7}"/>
            </c:ext>
          </c:extLst>
        </c:ser>
        <c:ser>
          <c:idx val="1"/>
          <c:order val="1"/>
          <c:tx>
            <c:strRef>
              <c:f>'WORKING SHEET'!$AH$1</c:f>
              <c:strCache>
                <c:ptCount val="1"/>
                <c:pt idx="0">
                  <c:v>Sum of Astrologers Earnings</c:v>
                </c:pt>
              </c:strCache>
            </c:strRef>
          </c:tx>
          <c:spPr>
            <a:solidFill>
              <a:schemeClr val="accent2">
                <a:alpha val="85000"/>
              </a:schemeClr>
            </a:solidFill>
            <a:ln w="9525" cap="flat" cmpd="sng" algn="ctr">
              <a:solidFill>
                <a:schemeClr val="lt1">
                  <a:alpha val="50000"/>
                </a:schemeClr>
              </a:solidFill>
              <a:round/>
            </a:ln>
            <a:effectLst/>
          </c:spPr>
          <c:invertIfNegative val="0"/>
          <c:dLbls>
            <c:dLbl>
              <c:idx val="0"/>
              <c:layout>
                <c:manualLayout>
                  <c:x val="-1.9207954694636044E-3"/>
                  <c:y val="4.44307349416968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DEF-4DDB-B775-1EAD358CE37A}"/>
                </c:ext>
              </c:extLst>
            </c:dLbl>
            <c:dLbl>
              <c:idx val="2"/>
              <c:layout>
                <c:manualLayout>
                  <c:x val="0"/>
                  <c:y val="-1.5067155942322764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BDEF-4DDB-B775-1EAD358CE37A}"/>
                </c:ext>
              </c:extLst>
            </c:dLbl>
            <c:dLbl>
              <c:idx val="3"/>
              <c:layout>
                <c:manualLayout>
                  <c:x val="-1.9207954694636573E-3"/>
                  <c:y val="6.502058771955598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BDEF-4DDB-B775-1EAD358CE37A}"/>
                </c:ext>
              </c:extLst>
            </c:dLbl>
            <c:dLbl>
              <c:idx val="4"/>
              <c:layout>
                <c:manualLayout>
                  <c:x val="-1.9207954694636573E-3"/>
                  <c:y val="-1.502726470248174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BDEF-4DDB-B775-1EAD358CE37A}"/>
                </c:ext>
              </c:extLst>
            </c:dLbl>
            <c:dLbl>
              <c:idx val="6"/>
              <c:layout>
                <c:manualLayout>
                  <c:x val="-1.9207954694635868E-3"/>
                  <c:y val="2.146618012153388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BDEF-4DDB-B775-1EAD358CE37A}"/>
                </c:ext>
              </c:extLst>
            </c:dLbl>
            <c:dLbl>
              <c:idx val="7"/>
              <c:layout>
                <c:manualLayout>
                  <c:x val="0"/>
                  <c:y val="2.5231742504820014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BDEF-4DDB-B775-1EAD358CE37A}"/>
                </c:ext>
              </c:extLst>
            </c:dLbl>
            <c:dLbl>
              <c:idx val="8"/>
              <c:layout>
                <c:manualLayout>
                  <c:x val="-1.9207954694635868E-3"/>
                  <c:y val="7.022778111271387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BDEF-4DDB-B775-1EAD358CE37A}"/>
                </c:ext>
              </c:extLst>
            </c:dLbl>
            <c:spPr>
              <a:noFill/>
              <a:ln>
                <a:noFill/>
              </a:ln>
              <a:effectLst/>
            </c:spPr>
            <c:txPr>
              <a:bodyPr rot="-5400000" spcFirstLastPara="1" vertOverflow="ellipsis" wrap="square" lIns="38100" tIns="19050" rIns="38100" bIns="19050" anchor="ctr" anchorCtr="1">
                <a:spAutoFit/>
              </a:bodyPr>
              <a:lstStyle/>
              <a:p>
                <a:pPr>
                  <a:defRPr sz="1197" b="1" i="0" u="none" strike="noStrike" kern="1200" baseline="0">
                    <a:solidFill>
                      <a:schemeClr val="tx1">
                        <a:lumMod val="65000"/>
                        <a:lumOff val="3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'WORKING SHEET'!$AF$2:$AF$12</c:f>
              <c:strCache>
                <c:ptCount val="10"/>
                <c:pt idx="0">
                  <c:v>Astro  Ruchi</c:v>
                </c:pt>
                <c:pt idx="1">
                  <c:v>Astro Divya</c:v>
                </c:pt>
                <c:pt idx="2">
                  <c:v>Astro Seema</c:v>
                </c:pt>
                <c:pt idx="3">
                  <c:v>Astro Shalini</c:v>
                </c:pt>
                <c:pt idx="4">
                  <c:v>Astro Sonam S</c:v>
                </c:pt>
                <c:pt idx="5">
                  <c:v>Dr Balkrisna</c:v>
                </c:pt>
                <c:pt idx="6">
                  <c:v>Tarot  Ari</c:v>
                </c:pt>
                <c:pt idx="7">
                  <c:v>Tarot Bee Riya</c:v>
                </c:pt>
                <c:pt idx="8">
                  <c:v>Tarot Rupika</c:v>
                </c:pt>
                <c:pt idx="9">
                  <c:v>Usha Siingh</c:v>
                </c:pt>
              </c:strCache>
            </c:strRef>
          </c:cat>
          <c:val>
            <c:numRef>
              <c:f>'WORKING SHEET'!$AH$2:$AH$12</c:f>
              <c:numCache>
                <c:formatCode>General</c:formatCode>
                <c:ptCount val="10"/>
                <c:pt idx="0">
                  <c:v>10274.658333333329</c:v>
                </c:pt>
                <c:pt idx="1">
                  <c:v>3696.9853333333326</c:v>
                </c:pt>
                <c:pt idx="2">
                  <c:v>2690.8173333333316</c:v>
                </c:pt>
                <c:pt idx="3">
                  <c:v>6807.6066666666675</c:v>
                </c:pt>
                <c:pt idx="4">
                  <c:v>2907.494666666666</c:v>
                </c:pt>
                <c:pt idx="5">
                  <c:v>15910.208333333334</c:v>
                </c:pt>
                <c:pt idx="6">
                  <c:v>2222.5586666666654</c:v>
                </c:pt>
                <c:pt idx="7">
                  <c:v>2178.7124999999996</c:v>
                </c:pt>
                <c:pt idx="8">
                  <c:v>2198.7500000000005</c:v>
                </c:pt>
                <c:pt idx="9">
                  <c:v>2870.2666666666664</c:v>
                </c:pt>
              </c:numCache>
            </c:numRef>
          </c:val>
          <c:extLst>
            <c:ext xmlns:c16="http://schemas.microsoft.com/office/drawing/2014/chart" uri="{C3380CC4-5D6E-409C-BE32-E72D297353CC}">
              <c16:uniqueId val="{00000001-E904-4DB8-84A4-644E09FDB7C7}"/>
            </c:ext>
          </c:extLst>
        </c:ser>
        <c:dLbls>
          <c:dLblPos val="inEnd"/>
          <c:showLegendKey val="0"/>
          <c:showVal val="1"/>
          <c:showCatName val="0"/>
          <c:showSerName val="0"/>
          <c:showPercent val="0"/>
          <c:showBubbleSize val="0"/>
        </c:dLbls>
        <c:gapWidth val="65"/>
        <c:axId val="1577430703"/>
        <c:axId val="1577431183"/>
      </c:barChart>
      <c:catAx>
        <c:axId val="1577430703"/>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197" b="0" i="0" u="none" strike="noStrike" kern="1200" cap="all" baseline="0">
                <a:solidFill>
                  <a:schemeClr val="dk1">
                    <a:lumMod val="75000"/>
                    <a:lumOff val="25000"/>
                  </a:schemeClr>
                </a:solidFill>
                <a:latin typeface="+mn-lt"/>
                <a:ea typeface="+mn-ea"/>
                <a:cs typeface="+mn-cs"/>
              </a:defRPr>
            </a:pPr>
            <a:endParaRPr lang="en-US"/>
          </a:p>
        </c:txPr>
        <c:crossAx val="1577431183"/>
        <c:crosses val="autoZero"/>
        <c:auto val="1"/>
        <c:lblAlgn val="ctr"/>
        <c:lblOffset val="100"/>
        <c:noMultiLvlLbl val="0"/>
      </c:catAx>
      <c:valAx>
        <c:axId val="1577431183"/>
        <c:scaling>
          <c:orientation val="minMax"/>
        </c:scaling>
        <c:delete val="1"/>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none"/>
        <c:minorTickMark val="none"/>
        <c:tickLblPos val="nextTo"/>
        <c:crossAx val="1577430703"/>
        <c:crosses val="autoZero"/>
        <c:crossBetween val="between"/>
      </c:valAx>
      <c:spPr>
        <a:noFill/>
        <a:ln>
          <a:noFill/>
        </a:ln>
        <a:effectLst/>
      </c:spPr>
    </c:plotArea>
    <c:legend>
      <c:legendPos val="r"/>
      <c:layout>
        <c:manualLayout>
          <c:xMode val="edge"/>
          <c:yMode val="edge"/>
          <c:x val="0.68920001742327863"/>
          <c:y val="9.9754244070341433E-2"/>
          <c:w val="0.30044629002136164"/>
          <c:h val="0.1882169356761593"/>
        </c:manualLayout>
      </c:layout>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[hamza_project NEW.xlsx]WORKING SHEET!PivotTable36</c:name>
    <c:fmtId val="4"/>
  </c:pivotSource>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en-US"/>
              <a:t>DAILY NET AMOUNT</a:t>
            </a:r>
          </a:p>
        </c:rich>
      </c:tx>
      <c:layout>
        <c:manualLayout>
          <c:xMode val="edge"/>
          <c:yMode val="edge"/>
          <c:x val="0.27736865709298836"/>
          <c:y val="1.1418453253798472E-2"/>
        </c:manualLayout>
      </c:layout>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540000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2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2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2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2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2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2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2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2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2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2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3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3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3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3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3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3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flat" cmpd="sng" algn="ctr">
            <a:no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5.6532719452498791E-2"/>
          <c:y val="0.1350583903255852"/>
          <c:w val="0.8407064515795043"/>
          <c:h val="0.60562170338152965"/>
        </c:manualLayout>
      </c:layout>
      <c:barChart>
        <c:barDir val="col"/>
        <c:grouping val="clustered"/>
        <c:varyColors val="0"/>
        <c:ser>
          <c:idx val="0"/>
          <c:order val="0"/>
          <c:tx>
            <c:strRef>
              <c:f>'WORKING SHEET'!$AF$76</c:f>
              <c:strCache>
                <c:ptCount val="1"/>
                <c:pt idx="0">
                  <c:v>Total</c:v>
                </c:pt>
              </c:strCache>
            </c:strRef>
          </c:tx>
          <c:spPr>
            <a:solidFill>
              <a:schemeClr val="accent1">
                <a:alpha val="85000"/>
              </a:schemeClr>
            </a:solidFill>
            <a:ln w="9525" cap="flat" cmpd="sng" algn="ctr">
              <a:solidFill>
                <a:schemeClr val="lt1">
                  <a:alpha val="50000"/>
                </a:schemeClr>
              </a:solidFill>
              <a:round/>
            </a:ln>
            <a:effectLst/>
          </c:spPr>
          <c:invertIfNegative val="0"/>
          <c:dLbls>
            <c:dLbl>
              <c:idx val="0"/>
              <c:layout>
                <c:manualLayout>
                  <c:x val="3.4603000052858047E-3"/>
                  <c:y val="6.486040648833885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87EF-4BBA-BF64-E4CA72F995FD}"/>
                </c:ext>
              </c:extLst>
            </c:dLbl>
            <c:dLbl>
              <c:idx val="1"/>
              <c:layout>
                <c:manualLayout>
                  <c:x val="1.7301500026429063E-3"/>
                  <c:y val="-8.792117502882862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7EF-4BBA-BF64-E4CA72F995FD}"/>
                </c:ext>
              </c:extLst>
            </c:dLbl>
            <c:dLbl>
              <c:idx val="2"/>
              <c:layout>
                <c:manualLayout>
                  <c:x val="-3.4603000052858286E-3"/>
                  <c:y val="3.2745142225804728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7EF-4BBA-BF64-E4CA72F995FD}"/>
                </c:ext>
              </c:extLst>
            </c:dLbl>
            <c:dLbl>
              <c:idx val="3"/>
              <c:layout>
                <c:manualLayout>
                  <c:x val="-1.5859525146972129E-17"/>
                  <c:y val="7.6210977623797655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7EF-4BBA-BF64-E4CA72F995FD}"/>
                </c:ext>
              </c:extLst>
            </c:dLbl>
            <c:dLbl>
              <c:idx val="4"/>
              <c:layout>
                <c:manualLayout>
                  <c:x val="3.4603000052858125E-3"/>
                  <c:y val="1.778256144555290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7EF-4BBA-BF64-E4CA72F995FD}"/>
                </c:ext>
              </c:extLst>
            </c:dLbl>
            <c:dLbl>
              <c:idx val="5"/>
              <c:layout>
                <c:manualLayout>
                  <c:x val="-3.4603000052858442E-3"/>
                  <c:y val="1.081006774805598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7EF-4BBA-BF64-E4CA72F995FD}"/>
                </c:ext>
              </c:extLst>
            </c:dLbl>
            <c:dLbl>
              <c:idx val="6"/>
              <c:layout>
                <c:manualLayout>
                  <c:x val="-5.1904500079287185E-3"/>
                  <c:y val="-1.135057113545929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87EF-4BBA-BF64-E4CA72F995FD}"/>
                </c:ext>
              </c:extLst>
            </c:dLbl>
            <c:dLbl>
              <c:idx val="7"/>
              <c:layout>
                <c:manualLayout>
                  <c:x val="1.7301500026429063E-3"/>
                  <c:y val="7.2046547981485841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87EF-4BBA-BF64-E4CA72F995FD}"/>
                </c:ext>
              </c:extLst>
            </c:dLbl>
            <c:dLbl>
              <c:idx val="8"/>
              <c:layout>
                <c:manualLayout>
                  <c:x val="1.7301500026428746E-3"/>
                  <c:y val="1.2377527571524615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87EF-4BBA-BF64-E4CA72F995FD}"/>
                </c:ext>
              </c:extLst>
            </c:dLbl>
            <c:dLbl>
              <c:idx val="9"/>
              <c:layout>
                <c:manualLayout>
                  <c:x val="-3.1719050293944259E-17"/>
                  <c:y val="9.1885575858479795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87EF-4BBA-BF64-E4CA72F995FD}"/>
                </c:ext>
              </c:extLst>
            </c:dLbl>
            <c:dLbl>
              <c:idx val="10"/>
              <c:layout>
                <c:manualLayout>
                  <c:x val="3.4603000052857492E-3"/>
                  <c:y val="3.7835237118196675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87EF-4BBA-BF64-E4CA72F995FD}"/>
                </c:ext>
              </c:extLst>
            </c:dLbl>
            <c:dLbl>
              <c:idx val="11"/>
              <c:layout>
                <c:manualLayout>
                  <c:x val="1.7301500026429063E-3"/>
                  <c:y val="-1.481128239110186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87EF-4BBA-BF64-E4CA72F995FD}"/>
                </c:ext>
              </c:extLst>
            </c:dLbl>
            <c:dLbl>
              <c:idx val="12"/>
              <c:layout>
                <c:manualLayout>
                  <c:x val="6.9206000105715617E-3"/>
                  <c:y val="1.2377527571524664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87EF-4BBA-BF64-E4CA72F995FD}"/>
                </c:ext>
              </c:extLst>
            </c:dLbl>
            <c:dLbl>
              <c:idx val="13"/>
              <c:layout>
                <c:manualLayout>
                  <c:x val="-5.1904500079287185E-3"/>
                  <c:y val="-1.243157791026502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87EF-4BBA-BF64-E4CA72F995FD}"/>
                </c:ext>
              </c:extLst>
            </c:dLbl>
            <c:dLbl>
              <c:idx val="14"/>
              <c:layout>
                <c:manualLayout>
                  <c:x val="0"/>
                  <c:y val="8.756154875925745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87EF-4BBA-BF64-E4CA72F995FD}"/>
                </c:ext>
              </c:extLst>
            </c:dLbl>
            <c:dLbl>
              <c:idx val="15"/>
              <c:layout>
                <c:manualLayout>
                  <c:x val="0"/>
                  <c:y val="8.485903182224330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87EF-4BBA-BF64-E4CA72F995FD}"/>
                </c:ext>
              </c:extLst>
            </c:dLbl>
            <c:dLbl>
              <c:idx val="16"/>
              <c:layout>
                <c:manualLayout>
                  <c:x val="-1.7301500026429063E-3"/>
                  <c:y val="5.242882857807380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87EF-4BBA-BF64-E4CA72F995FD}"/>
                </c:ext>
              </c:extLst>
            </c:dLbl>
            <c:dLbl>
              <c:idx val="17"/>
              <c:layout>
                <c:manualLayout>
                  <c:x val="-1.7301500026429063E-3"/>
                  <c:y val="-1.2658631892295975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87EF-4BBA-BF64-E4CA72F995FD}"/>
                </c:ext>
              </c:extLst>
            </c:dLbl>
            <c:dLbl>
              <c:idx val="18"/>
              <c:layout>
                <c:manualLayout>
                  <c:x val="-5.1904500079287185E-3"/>
                  <c:y val="6.2928000480069135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1-87EF-4BBA-BF64-E4CA72F995FD}"/>
                </c:ext>
              </c:extLst>
            </c:dLbl>
            <c:dLbl>
              <c:idx val="19"/>
              <c:layout>
                <c:manualLayout>
                  <c:x val="-6.3438100587888518E-17"/>
                  <c:y val="1.999862533390447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0-87EF-4BBA-BF64-E4CA72F995FD}"/>
                </c:ext>
              </c:extLst>
            </c:dLbl>
            <c:dLbl>
              <c:idx val="20"/>
              <c:layout>
                <c:manualLayout>
                  <c:x val="1.7301500026429063E-3"/>
                  <c:y val="3.202163375447910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F-87EF-4BBA-BF64-E4CA72F995FD}"/>
                </c:ext>
              </c:extLst>
            </c:dLbl>
            <c:dLbl>
              <c:idx val="21"/>
              <c:layout>
                <c:manualLayout>
                  <c:x val="0"/>
                  <c:y val="6.9724936974964267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E-87EF-4BBA-BF64-E4CA72F995FD}"/>
                </c:ext>
              </c:extLst>
            </c:dLbl>
            <c:dLbl>
              <c:idx val="22"/>
              <c:layout>
                <c:manualLayout>
                  <c:x val="-1.7301500026429063E-3"/>
                  <c:y val="6.486040648833885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D-87EF-4BBA-BF64-E4CA72F995FD}"/>
                </c:ext>
              </c:extLst>
            </c:dLbl>
            <c:dLbl>
              <c:idx val="23"/>
              <c:layout>
                <c:manualLayout>
                  <c:x val="-3.4603000052858125E-3"/>
                  <c:y val="1.459359145987621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C-87EF-4BBA-BF64-E4CA72F995FD}"/>
                </c:ext>
              </c:extLst>
            </c:dLbl>
            <c:dLbl>
              <c:idx val="24"/>
              <c:layout>
                <c:manualLayout>
                  <c:x val="-1.7301500026430331E-3"/>
                  <c:y val="1.999862533390447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B-87EF-4BBA-BF64-E4CA72F995FD}"/>
                </c:ext>
              </c:extLst>
            </c:dLbl>
            <c:dLbl>
              <c:idx val="25"/>
              <c:layout>
                <c:manualLayout>
                  <c:x val="0"/>
                  <c:y val="-3.3770821882210848E-4"/>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87EF-4BBA-BF64-E4CA72F995FD}"/>
                </c:ext>
              </c:extLst>
            </c:dLbl>
            <c:dLbl>
              <c:idx val="26"/>
              <c:layout>
                <c:manualLayout>
                  <c:x val="0"/>
                  <c:y val="1.081006774805598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87EF-4BBA-BF64-E4CA72F995FD}"/>
                </c:ext>
              </c:extLst>
            </c:dLbl>
            <c:dLbl>
              <c:idx val="27"/>
              <c:layout>
                <c:manualLayout>
                  <c:x val="-1.7301500026429063E-3"/>
                  <c:y val="3.080869308196095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87EF-4BBA-BF64-E4CA72F995FD}"/>
                </c:ext>
              </c:extLst>
            </c:dLbl>
            <c:dLbl>
              <c:idx val="28"/>
              <c:layout>
                <c:manualLayout>
                  <c:x val="-1.7301500026430331E-3"/>
                  <c:y val="-1.30042135856590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87EF-4BBA-BF64-E4CA72F995FD}"/>
                </c:ext>
              </c:extLst>
            </c:dLbl>
            <c:dLbl>
              <c:idx val="29"/>
              <c:layout>
                <c:manualLayout>
                  <c:x val="1.7301500026429063E-3"/>
                  <c:y val="1.999862533390443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87EF-4BBA-BF64-E4CA72F995FD}"/>
                </c:ext>
              </c:extLst>
            </c:dLbl>
            <c:dLbl>
              <c:idx val="30"/>
              <c:layout>
                <c:manualLayout>
                  <c:x val="-1.2687620117577704E-16"/>
                  <c:y val="-3.837574050560048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87EF-4BBA-BF64-E4CA72F995FD}"/>
                </c:ext>
              </c:extLst>
            </c:dLbl>
            <c:dLbl>
              <c:idx val="31"/>
              <c:layout>
                <c:manualLayout>
                  <c:x val="-1.2687620117577704E-16"/>
                  <c:y val="7.7011092874441705E-4"/>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87EF-4BBA-BF64-E4CA72F995FD}"/>
                </c:ext>
              </c:extLst>
            </c:dLbl>
            <c:dLbl>
              <c:idx val="32"/>
              <c:layout>
                <c:manualLayout>
                  <c:x val="-1.7301500026430331E-3"/>
                  <c:y val="-1.323743866935726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87EF-4BBA-BF64-E4CA72F995FD}"/>
                </c:ext>
              </c:extLst>
            </c:dLbl>
            <c:dLbl>
              <c:idx val="33"/>
              <c:layout>
                <c:manualLayout>
                  <c:x val="0"/>
                  <c:y val="4.301683455255151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87EF-4BBA-BF64-E4CA72F995FD}"/>
                </c:ext>
              </c:extLst>
            </c:dLbl>
            <c:spPr>
              <a:noFill/>
              <a:ln>
                <a:noFill/>
              </a:ln>
              <a:effectLst/>
            </c:spPr>
            <c:txPr>
              <a:bodyPr rot="-5400000" spcFirstLastPara="1" vertOverflow="ellipsis" wrap="square" lIns="38100" tIns="19050" rIns="38100" bIns="19050" anchor="ctr" anchorCtr="1">
                <a:spAutoFit/>
              </a:bodyPr>
              <a:lstStyle/>
              <a:p>
                <a:pPr>
                  <a:defRPr sz="1197" b="1" i="0" u="none" strike="noStrike" kern="1200" baseline="0">
                    <a:solidFill>
                      <a:schemeClr val="tx1">
                        <a:lumMod val="65000"/>
                        <a:lumOff val="3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'WORKING SHEET'!$AE$77:$AE$111</c:f>
              <c:strCache>
                <c:ptCount val="34"/>
                <c:pt idx="0">
                  <c:v>01-12-2023</c:v>
                </c:pt>
                <c:pt idx="1">
                  <c:v>02-12-2023</c:v>
                </c:pt>
                <c:pt idx="2">
                  <c:v>03-12-2023</c:v>
                </c:pt>
                <c:pt idx="3">
                  <c:v>04-12-2023</c:v>
                </c:pt>
                <c:pt idx="4">
                  <c:v>05-12-2023</c:v>
                </c:pt>
                <c:pt idx="5">
                  <c:v>06-12-2023</c:v>
                </c:pt>
                <c:pt idx="6">
                  <c:v>07-12-2023</c:v>
                </c:pt>
                <c:pt idx="7">
                  <c:v>08-12-2023</c:v>
                </c:pt>
                <c:pt idx="8">
                  <c:v>09-12-2023</c:v>
                </c:pt>
                <c:pt idx="9">
                  <c:v>10-12-2023</c:v>
                </c:pt>
                <c:pt idx="10">
                  <c:v>11-12-2023</c:v>
                </c:pt>
                <c:pt idx="11">
                  <c:v>12-12-2023</c:v>
                </c:pt>
                <c:pt idx="12">
                  <c:v>13-12-2023</c:v>
                </c:pt>
                <c:pt idx="13">
                  <c:v>14-12-2023</c:v>
                </c:pt>
                <c:pt idx="14">
                  <c:v>15-12-2023</c:v>
                </c:pt>
                <c:pt idx="15">
                  <c:v>16-12-2023</c:v>
                </c:pt>
                <c:pt idx="16">
                  <c:v>17-12-2023</c:v>
                </c:pt>
                <c:pt idx="17">
                  <c:v>18-12-2023</c:v>
                </c:pt>
                <c:pt idx="18">
                  <c:v>19-12-2023</c:v>
                </c:pt>
                <c:pt idx="19">
                  <c:v>20-12-2023</c:v>
                </c:pt>
                <c:pt idx="20">
                  <c:v>21-12-2023</c:v>
                </c:pt>
                <c:pt idx="21">
                  <c:v>22-12-2023</c:v>
                </c:pt>
                <c:pt idx="22">
                  <c:v>23-12-2023</c:v>
                </c:pt>
                <c:pt idx="23">
                  <c:v>24-12-2023</c:v>
                </c:pt>
                <c:pt idx="24">
                  <c:v>25-12-2023</c:v>
                </c:pt>
                <c:pt idx="25">
                  <c:v>26-12-2023</c:v>
                </c:pt>
                <c:pt idx="26">
                  <c:v>27-12-2023</c:v>
                </c:pt>
                <c:pt idx="27">
                  <c:v>28-12-2023</c:v>
                </c:pt>
                <c:pt idx="28">
                  <c:v>29-12-2023</c:v>
                </c:pt>
                <c:pt idx="29">
                  <c:v>30-12-2023</c:v>
                </c:pt>
                <c:pt idx="30">
                  <c:v>31-12-2023</c:v>
                </c:pt>
                <c:pt idx="31">
                  <c:v>01-01-2024</c:v>
                </c:pt>
                <c:pt idx="32">
                  <c:v>02-01-2024</c:v>
                </c:pt>
                <c:pt idx="33">
                  <c:v>03-01-2024</c:v>
                </c:pt>
              </c:strCache>
            </c:strRef>
          </c:cat>
          <c:val>
            <c:numRef>
              <c:f>'WORKING SHEET'!$AF$77:$AF$111</c:f>
              <c:numCache>
                <c:formatCode>General</c:formatCode>
                <c:ptCount val="34"/>
                <c:pt idx="0">
                  <c:v>5518.7833333333301</c:v>
                </c:pt>
                <c:pt idx="1">
                  <c:v>3170.3166666666652</c:v>
                </c:pt>
                <c:pt idx="2">
                  <c:v>2762.0499999999979</c:v>
                </c:pt>
                <c:pt idx="3">
                  <c:v>7808.0000000000009</c:v>
                </c:pt>
                <c:pt idx="4">
                  <c:v>4619.5499999999993</c:v>
                </c:pt>
                <c:pt idx="5">
                  <c:v>5296.0333333333283</c:v>
                </c:pt>
                <c:pt idx="6">
                  <c:v>7826.7499999999955</c:v>
                </c:pt>
                <c:pt idx="7">
                  <c:v>4664.6333333333323</c:v>
                </c:pt>
                <c:pt idx="8">
                  <c:v>5189.0499999999975</c:v>
                </c:pt>
                <c:pt idx="9">
                  <c:v>7049.1666666666661</c:v>
                </c:pt>
                <c:pt idx="10">
                  <c:v>5493.1833333333334</c:v>
                </c:pt>
                <c:pt idx="11">
                  <c:v>3593.4333333333311</c:v>
                </c:pt>
                <c:pt idx="12">
                  <c:v>5603.5599999999977</c:v>
                </c:pt>
                <c:pt idx="13">
                  <c:v>6957.6816666666637</c:v>
                </c:pt>
                <c:pt idx="14">
                  <c:v>11884.578333333329</c:v>
                </c:pt>
                <c:pt idx="15">
                  <c:v>11107.48333333333</c:v>
                </c:pt>
                <c:pt idx="16">
                  <c:v>6983.0016666666634</c:v>
                </c:pt>
                <c:pt idx="17">
                  <c:v>4580.2983333333314</c:v>
                </c:pt>
                <c:pt idx="18">
                  <c:v>12970.289999999995</c:v>
                </c:pt>
                <c:pt idx="19">
                  <c:v>10530.531166666662</c:v>
                </c:pt>
                <c:pt idx="20">
                  <c:v>5134.3658333333333</c:v>
                </c:pt>
                <c:pt idx="21">
                  <c:v>6515.4899999999952</c:v>
                </c:pt>
                <c:pt idx="22">
                  <c:v>5988.3433333333305</c:v>
                </c:pt>
                <c:pt idx="23">
                  <c:v>8666.0983333333315</c:v>
                </c:pt>
                <c:pt idx="24">
                  <c:v>8904.9383333333317</c:v>
                </c:pt>
                <c:pt idx="25">
                  <c:v>6505.7999999999993</c:v>
                </c:pt>
                <c:pt idx="26">
                  <c:v>9021.2133333333295</c:v>
                </c:pt>
                <c:pt idx="27">
                  <c:v>5334.3983333333326</c:v>
                </c:pt>
                <c:pt idx="28">
                  <c:v>3072.9499999999989</c:v>
                </c:pt>
                <c:pt idx="29">
                  <c:v>5695.8166666666666</c:v>
                </c:pt>
                <c:pt idx="30">
                  <c:v>3791.4199999999992</c:v>
                </c:pt>
                <c:pt idx="31">
                  <c:v>3911.7149999999997</c:v>
                </c:pt>
                <c:pt idx="32">
                  <c:v>3567.3433333333328</c:v>
                </c:pt>
                <c:pt idx="33">
                  <c:v>4347.6316666666653</c:v>
                </c:pt>
              </c:numCache>
            </c:numRef>
          </c:val>
          <c:extLst>
            <c:ext xmlns:c16="http://schemas.microsoft.com/office/drawing/2014/chart" uri="{C3380CC4-5D6E-409C-BE32-E72D297353CC}">
              <c16:uniqueId val="{00000000-07FB-417F-A846-5C159CD13E46}"/>
            </c:ext>
          </c:extLst>
        </c:ser>
        <c:dLbls>
          <c:dLblPos val="inEnd"/>
          <c:showLegendKey val="0"/>
          <c:showVal val="1"/>
          <c:showCatName val="0"/>
          <c:showSerName val="0"/>
          <c:showPercent val="0"/>
          <c:showBubbleSize val="0"/>
        </c:dLbls>
        <c:gapWidth val="65"/>
        <c:axId val="1611476719"/>
        <c:axId val="1611471919"/>
      </c:barChart>
      <c:catAx>
        <c:axId val="1611476719"/>
        <c:scaling>
          <c:orientation val="minMax"/>
        </c:scaling>
        <c:delete val="0"/>
        <c:axPos val="b"/>
        <c:title>
          <c:tx>
            <c:rich>
              <a:bodyPr rot="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r>
                  <a:rPr lang="en-IN"/>
                  <a:t>DATE</a:t>
                </a:r>
              </a:p>
            </c:rich>
          </c:tx>
          <c:overlay val="0"/>
          <c:spPr>
            <a:noFill/>
            <a:ln>
              <a:noFill/>
            </a:ln>
            <a:effectLst/>
          </c:spPr>
          <c:txPr>
            <a:bodyPr rot="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endParaRPr lang="en-US"/>
            </a:p>
          </c:txPr>
        </c:title>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197" b="0" i="0" u="none" strike="noStrike" kern="1200" cap="all" baseline="0">
                <a:solidFill>
                  <a:schemeClr val="dk1">
                    <a:lumMod val="75000"/>
                    <a:lumOff val="25000"/>
                  </a:schemeClr>
                </a:solidFill>
                <a:latin typeface="+mn-lt"/>
                <a:ea typeface="+mn-ea"/>
                <a:cs typeface="+mn-cs"/>
              </a:defRPr>
            </a:pPr>
            <a:endParaRPr lang="en-US"/>
          </a:p>
        </c:txPr>
        <c:crossAx val="1611471919"/>
        <c:crosses val="autoZero"/>
        <c:auto val="1"/>
        <c:lblAlgn val="ctr"/>
        <c:lblOffset val="100"/>
        <c:noMultiLvlLbl val="0"/>
      </c:catAx>
      <c:valAx>
        <c:axId val="1611471919"/>
        <c:scaling>
          <c:orientation val="minMax"/>
        </c:scaling>
        <c:delete val="1"/>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title>
          <c:tx>
            <c:rich>
              <a:bodyPr rot="-540000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r>
                  <a:rPr lang="en-IN"/>
                  <a:t>NET AMOUNT </a:t>
                </a:r>
              </a:p>
            </c:rich>
          </c:tx>
          <c:overlay val="0"/>
          <c:spPr>
            <a:noFill/>
            <a:ln>
              <a:noFill/>
            </a:ln>
            <a:effectLst/>
          </c:spPr>
          <c:txPr>
            <a:bodyPr rot="-540000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endParaRPr lang="en-IN"/>
            </a:p>
          </c:txPr>
        </c:title>
        <c:numFmt formatCode="General" sourceLinked="1"/>
        <c:majorTickMark val="none"/>
        <c:minorTickMark val="none"/>
        <c:tickLblPos val="nextTo"/>
        <c:crossAx val="1611476719"/>
        <c:crosses val="autoZero"/>
        <c:crossBetween val="between"/>
      </c:valAx>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cs:styleClr val="auto"/>
    </cs:fontRef>
    <cs:defRPr sz="133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33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18">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defRPr sz="1197"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330" kern="1200"/>
  </cs:chartArea>
  <cs:dataLabel>
    <cs:lnRef idx="0"/>
    <cs:fillRef idx="0"/>
    <cs:effectRef idx="0"/>
    <cs:fontRef idx="minor">
      <a:schemeClr val="lt1"/>
    </cs:fontRef>
    <cs:spPr/>
    <cs:defRPr sz="133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33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08">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charts/style7.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E51764E-DB7E-4C6D-9D11-B19EB643A664}"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IN"/>
        </a:p>
      </dgm:t>
    </dgm:pt>
    <dgm:pt modelId="{24D2C8B8-EE2B-42CE-ACC4-40D32048B599}">
      <dgm:prSet custT="1"/>
      <dgm:spPr/>
      <dgm:t>
        <a:bodyPr/>
        <a:lstStyle/>
        <a:p>
          <a:r>
            <a:rPr lang="en-IN" sz="2400" b="0" i="0" dirty="0" err="1">
              <a:solidFill>
                <a:schemeClr val="bg1"/>
              </a:solidFill>
            </a:rPr>
            <a:t>Astrosage</a:t>
          </a:r>
          <a:r>
            <a:rPr lang="en-IN" sz="2400" b="0" i="0" dirty="0">
              <a:solidFill>
                <a:schemeClr val="bg1"/>
              </a:solidFill>
            </a:rPr>
            <a:t> has been facing challenges in maintaining optimal call  </a:t>
          </a:r>
          <a:r>
            <a:rPr lang="en-IN" sz="2400" b="0" i="0" dirty="0" err="1">
              <a:solidFill>
                <a:schemeClr val="bg1"/>
              </a:solidFill>
            </a:rPr>
            <a:t>center</a:t>
          </a:r>
          <a:r>
            <a:rPr lang="en-IN" sz="2400" b="0" i="0" dirty="0">
              <a:solidFill>
                <a:schemeClr val="bg1"/>
              </a:solidFill>
            </a:rPr>
            <a:t> performance as per given data :</a:t>
          </a:r>
          <a:endParaRPr lang="en-IN" sz="2400" dirty="0">
            <a:solidFill>
              <a:schemeClr val="bg1"/>
            </a:solidFill>
          </a:endParaRPr>
        </a:p>
      </dgm:t>
    </dgm:pt>
    <dgm:pt modelId="{B302C25C-061D-4842-927A-ED3F672FF512}" type="parTrans" cxnId="{485B0BFD-C6E8-40D2-A6EA-D2AA236782B6}">
      <dgm:prSet/>
      <dgm:spPr/>
      <dgm:t>
        <a:bodyPr/>
        <a:lstStyle/>
        <a:p>
          <a:endParaRPr lang="en-IN"/>
        </a:p>
      </dgm:t>
    </dgm:pt>
    <dgm:pt modelId="{3C709900-5A0A-409A-963B-AA768D371989}" type="sibTrans" cxnId="{485B0BFD-C6E8-40D2-A6EA-D2AA236782B6}">
      <dgm:prSet/>
      <dgm:spPr/>
      <dgm:t>
        <a:bodyPr/>
        <a:lstStyle/>
        <a:p>
          <a:endParaRPr lang="en-IN"/>
        </a:p>
      </dgm:t>
    </dgm:pt>
    <dgm:pt modelId="{88AAAB50-2424-4428-BB0F-AD2451C267A4}">
      <dgm:prSet custT="1"/>
      <dgm:spPr/>
      <dgm:t>
        <a:bodyPr/>
        <a:lstStyle/>
        <a:p>
          <a:pPr>
            <a:buFont typeface="Wingdings" panose="05000000000000000000" pitchFamily="2" charset="2"/>
            <a:buChar char="§"/>
          </a:pPr>
          <a:r>
            <a:rPr lang="en-IN" sz="1800" b="1" i="0" dirty="0"/>
            <a:t>Declining customer satisfaction scores</a:t>
          </a:r>
          <a:endParaRPr lang="en-IN" sz="1800" dirty="0"/>
        </a:p>
      </dgm:t>
    </dgm:pt>
    <dgm:pt modelId="{78F0A4DA-6A63-4400-A7CE-A51C4E531E8F}" type="parTrans" cxnId="{2C7336E5-AB8A-4D29-A776-CE56DE2CE966}">
      <dgm:prSet/>
      <dgm:spPr/>
      <dgm:t>
        <a:bodyPr/>
        <a:lstStyle/>
        <a:p>
          <a:endParaRPr lang="en-IN"/>
        </a:p>
      </dgm:t>
    </dgm:pt>
    <dgm:pt modelId="{6DBD687D-8675-4C5F-BCDB-ABAE0BF7B42E}" type="sibTrans" cxnId="{2C7336E5-AB8A-4D29-A776-CE56DE2CE966}">
      <dgm:prSet/>
      <dgm:spPr/>
      <dgm:t>
        <a:bodyPr/>
        <a:lstStyle/>
        <a:p>
          <a:endParaRPr lang="en-IN"/>
        </a:p>
      </dgm:t>
    </dgm:pt>
    <dgm:pt modelId="{F345B0A7-AE3F-4490-A8B0-1985E62DADA9}">
      <dgm:prSet custT="1"/>
      <dgm:spPr/>
      <dgm:t>
        <a:bodyPr/>
        <a:lstStyle/>
        <a:p>
          <a:pPr>
            <a:buFont typeface="Wingdings" panose="05000000000000000000" pitchFamily="2" charset="2"/>
            <a:buChar char="§"/>
          </a:pPr>
          <a:r>
            <a:rPr lang="en-IN" sz="1800" b="1" i="0" dirty="0"/>
            <a:t>Inconsistent call volumes.</a:t>
          </a:r>
          <a:endParaRPr lang="en-IN" sz="1800" dirty="0"/>
        </a:p>
      </dgm:t>
    </dgm:pt>
    <dgm:pt modelId="{F5D013E2-83FF-4181-A0DD-5415264F589E}" type="parTrans" cxnId="{FC9A7D02-82AB-40FF-9423-966C5186C9CF}">
      <dgm:prSet/>
      <dgm:spPr/>
      <dgm:t>
        <a:bodyPr/>
        <a:lstStyle/>
        <a:p>
          <a:endParaRPr lang="en-IN"/>
        </a:p>
      </dgm:t>
    </dgm:pt>
    <dgm:pt modelId="{0FBC55D4-79F8-40B2-B141-57A6C7BAD06E}" type="sibTrans" cxnId="{FC9A7D02-82AB-40FF-9423-966C5186C9CF}">
      <dgm:prSet/>
      <dgm:spPr/>
      <dgm:t>
        <a:bodyPr/>
        <a:lstStyle/>
        <a:p>
          <a:endParaRPr lang="en-IN"/>
        </a:p>
      </dgm:t>
    </dgm:pt>
    <dgm:pt modelId="{A74E4004-4760-40BC-AFCE-AD8739E8101F}">
      <dgm:prSet custT="1"/>
      <dgm:spPr/>
      <dgm:t>
        <a:bodyPr/>
        <a:lstStyle/>
        <a:p>
          <a:pPr>
            <a:buFont typeface="Wingdings" panose="05000000000000000000" pitchFamily="2" charset="2"/>
            <a:buChar char="§"/>
          </a:pPr>
          <a:r>
            <a:rPr lang="en-IN" sz="1800" b="1" i="0" dirty="0"/>
            <a:t>Variability in agent performance.</a:t>
          </a:r>
          <a:endParaRPr lang="en-IN" sz="1800" dirty="0"/>
        </a:p>
      </dgm:t>
    </dgm:pt>
    <dgm:pt modelId="{02228CB9-3347-4401-80A2-0D75BDB16501}" type="parTrans" cxnId="{5B460088-A889-4235-A123-FD3D0D10550C}">
      <dgm:prSet/>
      <dgm:spPr/>
      <dgm:t>
        <a:bodyPr/>
        <a:lstStyle/>
        <a:p>
          <a:endParaRPr lang="en-IN"/>
        </a:p>
      </dgm:t>
    </dgm:pt>
    <dgm:pt modelId="{AC195E3C-5FC8-45BB-B891-F597A1E4F436}" type="sibTrans" cxnId="{5B460088-A889-4235-A123-FD3D0D10550C}">
      <dgm:prSet/>
      <dgm:spPr/>
      <dgm:t>
        <a:bodyPr/>
        <a:lstStyle/>
        <a:p>
          <a:endParaRPr lang="en-IN"/>
        </a:p>
      </dgm:t>
    </dgm:pt>
    <dgm:pt modelId="{52933014-0DDA-41D5-97FE-E1D6AA9DB16A}">
      <dgm:prSet custT="1"/>
      <dgm:spPr/>
      <dgm:t>
        <a:bodyPr/>
        <a:lstStyle/>
        <a:p>
          <a:pPr>
            <a:buFont typeface="Wingdings" panose="05000000000000000000" pitchFamily="2" charset="2"/>
            <a:buNone/>
          </a:pPr>
          <a:r>
            <a:rPr lang="en-IN" sz="1800" b="0" i="0" dirty="0"/>
            <a:t>Overall agent performance is poor.</a:t>
          </a:r>
          <a:endParaRPr lang="en-IN" sz="1800" dirty="0"/>
        </a:p>
      </dgm:t>
    </dgm:pt>
    <dgm:pt modelId="{8B74FB56-86D9-416A-9E7E-64DAC1C10AC0}" type="parTrans" cxnId="{1C1BE6AF-E895-4AF2-9702-07CB5B4E9B59}">
      <dgm:prSet/>
      <dgm:spPr/>
      <dgm:t>
        <a:bodyPr/>
        <a:lstStyle/>
        <a:p>
          <a:endParaRPr lang="en-IN"/>
        </a:p>
      </dgm:t>
    </dgm:pt>
    <dgm:pt modelId="{5F5ED00A-81A6-4EC5-93F0-17FEC53CB5CC}" type="sibTrans" cxnId="{1C1BE6AF-E895-4AF2-9702-07CB5B4E9B59}">
      <dgm:prSet/>
      <dgm:spPr/>
      <dgm:t>
        <a:bodyPr/>
        <a:lstStyle/>
        <a:p>
          <a:endParaRPr lang="en-IN"/>
        </a:p>
      </dgm:t>
    </dgm:pt>
    <dgm:pt modelId="{5D786515-B447-4C48-B1BA-DC6F1F4FAEA7}">
      <dgm:prSet custT="1"/>
      <dgm:spPr/>
      <dgm:t>
        <a:bodyPr/>
        <a:lstStyle/>
        <a:p>
          <a:pPr>
            <a:buFont typeface="Wingdings" panose="05000000000000000000" pitchFamily="2" charset="2"/>
            <a:buNone/>
          </a:pPr>
          <a:r>
            <a:rPr lang="en-IN" sz="1800" b="0" i="0" dirty="0"/>
            <a:t>Average performance of guru is not fair </a:t>
          </a:r>
          <a:r>
            <a:rPr lang="en-IN" sz="1700" b="0" i="0" dirty="0"/>
            <a:t>.</a:t>
          </a:r>
          <a:endParaRPr lang="en-IN" sz="1700" dirty="0"/>
        </a:p>
      </dgm:t>
    </dgm:pt>
    <dgm:pt modelId="{7420B2BA-AE48-443D-8AFA-0AAD5A2C0FC2}" type="parTrans" cxnId="{A29F0EAD-3A00-4E10-8248-C44489E2E121}">
      <dgm:prSet/>
      <dgm:spPr/>
      <dgm:t>
        <a:bodyPr/>
        <a:lstStyle/>
        <a:p>
          <a:endParaRPr lang="en-IN"/>
        </a:p>
      </dgm:t>
    </dgm:pt>
    <dgm:pt modelId="{977A91EA-72E8-4E58-8E3A-C6070D1DCEF5}" type="sibTrans" cxnId="{A29F0EAD-3A00-4E10-8248-C44489E2E121}">
      <dgm:prSet/>
      <dgm:spPr/>
      <dgm:t>
        <a:bodyPr/>
        <a:lstStyle/>
        <a:p>
          <a:endParaRPr lang="en-IN"/>
        </a:p>
      </dgm:t>
    </dgm:pt>
    <dgm:pt modelId="{B03AC6D5-789C-46E5-AA1B-5C53BE0D832B}">
      <dgm:prSet custT="1"/>
      <dgm:spPr/>
      <dgm:t>
        <a:bodyPr/>
        <a:lstStyle/>
        <a:p>
          <a:pPr>
            <a:buFont typeface="Wingdings" panose="05000000000000000000" pitchFamily="2" charset="2"/>
            <a:buNone/>
          </a:pPr>
          <a:r>
            <a:rPr lang="en-IN" sz="1800" b="0" i="0" dirty="0"/>
            <a:t>Average customer satisfaction is very low.</a:t>
          </a:r>
          <a:endParaRPr lang="en-IN" sz="1800" dirty="0"/>
        </a:p>
      </dgm:t>
    </dgm:pt>
    <dgm:pt modelId="{B8ED710B-C1B8-488F-BC31-834F53FADA21}" type="parTrans" cxnId="{9FD4815C-4D9E-4601-9B6A-71141F1A89AD}">
      <dgm:prSet/>
      <dgm:spPr/>
      <dgm:t>
        <a:bodyPr/>
        <a:lstStyle/>
        <a:p>
          <a:endParaRPr lang="en-IN"/>
        </a:p>
      </dgm:t>
    </dgm:pt>
    <dgm:pt modelId="{8BB283AC-08F2-4931-9EF4-5E4B60C55721}" type="sibTrans" cxnId="{9FD4815C-4D9E-4601-9B6A-71141F1A89AD}">
      <dgm:prSet/>
      <dgm:spPr/>
      <dgm:t>
        <a:bodyPr/>
        <a:lstStyle/>
        <a:p>
          <a:endParaRPr lang="en-IN"/>
        </a:p>
      </dgm:t>
    </dgm:pt>
    <dgm:pt modelId="{218B0611-5E63-4B6C-8ABD-8D7B5875EB31}">
      <dgm:prSet custT="1"/>
      <dgm:spPr/>
      <dgm:t>
        <a:bodyPr/>
        <a:lstStyle/>
        <a:p>
          <a:pPr>
            <a:buFont typeface="Wingdings" panose="05000000000000000000" pitchFamily="2" charset="2"/>
            <a:buNone/>
          </a:pPr>
          <a:r>
            <a:rPr lang="en-IN" sz="1800" b="0" i="0" dirty="0"/>
            <a:t>Average rating is 2.93 , which is very low .</a:t>
          </a:r>
          <a:endParaRPr lang="en-IN" sz="1800" dirty="0"/>
        </a:p>
      </dgm:t>
    </dgm:pt>
    <dgm:pt modelId="{C50DC8AF-EFD4-4404-955C-02587EDAECDD}" type="parTrans" cxnId="{96C392FE-AE11-441D-BFE2-F95757588CD0}">
      <dgm:prSet/>
      <dgm:spPr/>
      <dgm:t>
        <a:bodyPr/>
        <a:lstStyle/>
        <a:p>
          <a:endParaRPr lang="en-IN"/>
        </a:p>
      </dgm:t>
    </dgm:pt>
    <dgm:pt modelId="{1193FA0C-EC10-44A4-A11F-EE95E8CBE068}" type="sibTrans" cxnId="{96C392FE-AE11-441D-BFE2-F95757588CD0}">
      <dgm:prSet/>
      <dgm:spPr/>
      <dgm:t>
        <a:bodyPr/>
        <a:lstStyle/>
        <a:p>
          <a:endParaRPr lang="en-IN"/>
        </a:p>
      </dgm:t>
    </dgm:pt>
    <dgm:pt modelId="{AD035292-261C-4BC1-8094-FCADB4A031F6}">
      <dgm:prSet custT="1"/>
      <dgm:spPr/>
      <dgm:t>
        <a:bodyPr/>
        <a:lstStyle/>
        <a:p>
          <a:pPr>
            <a:buFont typeface="Wingdings" panose="05000000000000000000" pitchFamily="2" charset="2"/>
            <a:buNone/>
          </a:pPr>
          <a:r>
            <a:rPr lang="en-IN" sz="1800" b="0" i="0" dirty="0"/>
            <a:t>Daily call volume is inconsistent. </a:t>
          </a:r>
          <a:endParaRPr lang="en-IN" sz="1800" dirty="0"/>
        </a:p>
      </dgm:t>
    </dgm:pt>
    <dgm:pt modelId="{80109152-AA77-48E1-92C0-015CB5D11F27}" type="parTrans" cxnId="{5A4FB5FD-AC87-4FA2-A43B-299731331383}">
      <dgm:prSet/>
      <dgm:spPr/>
      <dgm:t>
        <a:bodyPr/>
        <a:lstStyle/>
        <a:p>
          <a:endParaRPr lang="en-IN"/>
        </a:p>
      </dgm:t>
    </dgm:pt>
    <dgm:pt modelId="{62C2CD4F-D03A-4163-A06A-B3045A9DFF72}" type="sibTrans" cxnId="{5A4FB5FD-AC87-4FA2-A43B-299731331383}">
      <dgm:prSet/>
      <dgm:spPr/>
      <dgm:t>
        <a:bodyPr/>
        <a:lstStyle/>
        <a:p>
          <a:endParaRPr lang="en-IN"/>
        </a:p>
      </dgm:t>
    </dgm:pt>
    <dgm:pt modelId="{5FB22505-DAAA-40E4-9C71-BDC3E475E875}">
      <dgm:prSet custT="1"/>
      <dgm:spPr/>
      <dgm:t>
        <a:bodyPr/>
        <a:lstStyle/>
        <a:p>
          <a:pPr>
            <a:buFont typeface="Wingdings" panose="05000000000000000000" pitchFamily="2" charset="2"/>
            <a:buNone/>
          </a:pPr>
          <a:r>
            <a:rPr lang="en-IN" sz="1800" b="0" i="0" dirty="0"/>
            <a:t>Total change in call volume is in negative , and average change is in negative. </a:t>
          </a:r>
          <a:endParaRPr lang="en-IN" sz="1800" dirty="0"/>
        </a:p>
      </dgm:t>
    </dgm:pt>
    <dgm:pt modelId="{D04BA7D3-67AE-4A1B-97C7-5A5DB823CE01}" type="parTrans" cxnId="{887FA394-FFBF-44B7-BFB3-9621F18F1BC8}">
      <dgm:prSet/>
      <dgm:spPr/>
      <dgm:t>
        <a:bodyPr/>
        <a:lstStyle/>
        <a:p>
          <a:endParaRPr lang="en-IN"/>
        </a:p>
      </dgm:t>
    </dgm:pt>
    <dgm:pt modelId="{CC04F766-FBFB-412D-AE88-E8EC0CC9BD76}" type="sibTrans" cxnId="{887FA394-FFBF-44B7-BFB3-9621F18F1BC8}">
      <dgm:prSet/>
      <dgm:spPr/>
      <dgm:t>
        <a:bodyPr/>
        <a:lstStyle/>
        <a:p>
          <a:endParaRPr lang="en-IN"/>
        </a:p>
      </dgm:t>
    </dgm:pt>
    <dgm:pt modelId="{438A5F3B-0F79-4E02-BCD0-DAF4ADBC97ED}" type="pres">
      <dgm:prSet presAssocID="{1E51764E-DB7E-4C6D-9D11-B19EB643A664}" presName="Name0" presStyleCnt="0">
        <dgm:presLayoutVars>
          <dgm:dir/>
          <dgm:animLvl val="lvl"/>
          <dgm:resizeHandles val="exact"/>
        </dgm:presLayoutVars>
      </dgm:prSet>
      <dgm:spPr/>
    </dgm:pt>
    <dgm:pt modelId="{32334B71-D73F-4013-8D4C-FB2117756A20}" type="pres">
      <dgm:prSet presAssocID="{24D2C8B8-EE2B-42CE-ACC4-40D32048B599}" presName="linNode" presStyleCnt="0"/>
      <dgm:spPr/>
    </dgm:pt>
    <dgm:pt modelId="{67E38D05-5D1D-4ED7-A2E8-BBCE0B55078C}" type="pres">
      <dgm:prSet presAssocID="{24D2C8B8-EE2B-42CE-ACC4-40D32048B599}" presName="parentText" presStyleLbl="node1" presStyleIdx="0" presStyleCnt="1">
        <dgm:presLayoutVars>
          <dgm:chMax val="1"/>
          <dgm:bulletEnabled val="1"/>
        </dgm:presLayoutVars>
      </dgm:prSet>
      <dgm:spPr/>
    </dgm:pt>
    <dgm:pt modelId="{259411CA-14B5-4C15-AEFE-4ABE4FA4DED2}" type="pres">
      <dgm:prSet presAssocID="{24D2C8B8-EE2B-42CE-ACC4-40D32048B599}" presName="descendantText" presStyleLbl="alignAccFollowNode1" presStyleIdx="0" presStyleCnt="1" custScaleY="122530" custLinFactNeighborX="866" custLinFactNeighborY="-5911">
        <dgm:presLayoutVars>
          <dgm:bulletEnabled val="1"/>
        </dgm:presLayoutVars>
      </dgm:prSet>
      <dgm:spPr/>
    </dgm:pt>
  </dgm:ptLst>
  <dgm:cxnLst>
    <dgm:cxn modelId="{FC9A7D02-82AB-40FF-9423-966C5186C9CF}" srcId="{24D2C8B8-EE2B-42CE-ACC4-40D32048B599}" destId="{F345B0A7-AE3F-4490-A8B0-1985E62DADA9}" srcOrd="3" destOrd="0" parTransId="{F5D013E2-83FF-4181-A0DD-5415264F589E}" sibTransId="{0FBC55D4-79F8-40B2-B141-57A6C7BAD06E}"/>
    <dgm:cxn modelId="{9FD4815C-4D9E-4601-9B6A-71141F1A89AD}" srcId="{24D2C8B8-EE2B-42CE-ACC4-40D32048B599}" destId="{B03AC6D5-789C-46E5-AA1B-5C53BE0D832B}" srcOrd="1" destOrd="0" parTransId="{B8ED710B-C1B8-488F-BC31-834F53FADA21}" sibTransId="{8BB283AC-08F2-4931-9EF4-5E4B60C55721}"/>
    <dgm:cxn modelId="{9F66B445-8FE2-4718-836E-F6105C494544}" type="presOf" srcId="{A74E4004-4760-40BC-AFCE-AD8739E8101F}" destId="{259411CA-14B5-4C15-AEFE-4ABE4FA4DED2}" srcOrd="0" destOrd="6" presId="urn:microsoft.com/office/officeart/2005/8/layout/vList5"/>
    <dgm:cxn modelId="{B3B1F24C-66CF-424F-A3BE-5B7FDD8EFD42}" type="presOf" srcId="{218B0611-5E63-4B6C-8ABD-8D7B5875EB31}" destId="{259411CA-14B5-4C15-AEFE-4ABE4FA4DED2}" srcOrd="0" destOrd="2" presId="urn:microsoft.com/office/officeart/2005/8/layout/vList5"/>
    <dgm:cxn modelId="{9EA5BB74-1F67-4C97-B41C-2077C83B20DF}" type="presOf" srcId="{F345B0A7-AE3F-4490-A8B0-1985E62DADA9}" destId="{259411CA-14B5-4C15-AEFE-4ABE4FA4DED2}" srcOrd="0" destOrd="3" presId="urn:microsoft.com/office/officeart/2005/8/layout/vList5"/>
    <dgm:cxn modelId="{5D73D576-C248-4788-9261-F60500FEEC01}" type="presOf" srcId="{AD035292-261C-4BC1-8094-FCADB4A031F6}" destId="{259411CA-14B5-4C15-AEFE-4ABE4FA4DED2}" srcOrd="0" destOrd="4" presId="urn:microsoft.com/office/officeart/2005/8/layout/vList5"/>
    <dgm:cxn modelId="{4CD4A778-A494-4D20-A4BE-A27B83EC2248}" type="presOf" srcId="{88AAAB50-2424-4428-BB0F-AD2451C267A4}" destId="{259411CA-14B5-4C15-AEFE-4ABE4FA4DED2}" srcOrd="0" destOrd="0" presId="urn:microsoft.com/office/officeart/2005/8/layout/vList5"/>
    <dgm:cxn modelId="{5B460088-A889-4235-A123-FD3D0D10550C}" srcId="{24D2C8B8-EE2B-42CE-ACC4-40D32048B599}" destId="{A74E4004-4760-40BC-AFCE-AD8739E8101F}" srcOrd="6" destOrd="0" parTransId="{02228CB9-3347-4401-80A2-0D75BDB16501}" sibTransId="{AC195E3C-5FC8-45BB-B891-F597A1E4F436}"/>
    <dgm:cxn modelId="{887FA394-FFBF-44B7-BFB3-9621F18F1BC8}" srcId="{24D2C8B8-EE2B-42CE-ACC4-40D32048B599}" destId="{5FB22505-DAAA-40E4-9C71-BDC3E475E875}" srcOrd="5" destOrd="0" parTransId="{D04BA7D3-67AE-4A1B-97C7-5A5DB823CE01}" sibTransId="{CC04F766-FBFB-412D-AE88-E8EC0CC9BD76}"/>
    <dgm:cxn modelId="{A29F0EAD-3A00-4E10-8248-C44489E2E121}" srcId="{24D2C8B8-EE2B-42CE-ACC4-40D32048B599}" destId="{5D786515-B447-4C48-B1BA-DC6F1F4FAEA7}" srcOrd="8" destOrd="0" parTransId="{7420B2BA-AE48-443D-8AFA-0AAD5A2C0FC2}" sibTransId="{977A91EA-72E8-4E58-8E3A-C6070D1DCEF5}"/>
    <dgm:cxn modelId="{1C1BE6AF-E895-4AF2-9702-07CB5B4E9B59}" srcId="{24D2C8B8-EE2B-42CE-ACC4-40D32048B599}" destId="{52933014-0DDA-41D5-97FE-E1D6AA9DB16A}" srcOrd="7" destOrd="0" parTransId="{8B74FB56-86D9-416A-9E7E-64DAC1C10AC0}" sibTransId="{5F5ED00A-81A6-4EC5-93F0-17FEC53CB5CC}"/>
    <dgm:cxn modelId="{2CBE25B6-D54A-4276-AE43-1EC7C7E0367A}" type="presOf" srcId="{5D786515-B447-4C48-B1BA-DC6F1F4FAEA7}" destId="{259411CA-14B5-4C15-AEFE-4ABE4FA4DED2}" srcOrd="0" destOrd="8" presId="urn:microsoft.com/office/officeart/2005/8/layout/vList5"/>
    <dgm:cxn modelId="{AF692CBD-448F-43F2-8AE4-EE4B58B6F1FD}" type="presOf" srcId="{24D2C8B8-EE2B-42CE-ACC4-40D32048B599}" destId="{67E38D05-5D1D-4ED7-A2E8-BBCE0B55078C}" srcOrd="0" destOrd="0" presId="urn:microsoft.com/office/officeart/2005/8/layout/vList5"/>
    <dgm:cxn modelId="{B23394C1-CE48-4298-B8F8-1F2589E3DBA0}" type="presOf" srcId="{B03AC6D5-789C-46E5-AA1B-5C53BE0D832B}" destId="{259411CA-14B5-4C15-AEFE-4ABE4FA4DED2}" srcOrd="0" destOrd="1" presId="urn:microsoft.com/office/officeart/2005/8/layout/vList5"/>
    <dgm:cxn modelId="{E7A142CA-BAD5-408D-BA93-8C23B2D809AA}" type="presOf" srcId="{1E51764E-DB7E-4C6D-9D11-B19EB643A664}" destId="{438A5F3B-0F79-4E02-BCD0-DAF4ADBC97ED}" srcOrd="0" destOrd="0" presId="urn:microsoft.com/office/officeart/2005/8/layout/vList5"/>
    <dgm:cxn modelId="{1557E5E0-A7D5-49AA-9625-1F97F9CF615A}" type="presOf" srcId="{52933014-0DDA-41D5-97FE-E1D6AA9DB16A}" destId="{259411CA-14B5-4C15-AEFE-4ABE4FA4DED2}" srcOrd="0" destOrd="7" presId="urn:microsoft.com/office/officeart/2005/8/layout/vList5"/>
    <dgm:cxn modelId="{2C7336E5-AB8A-4D29-A776-CE56DE2CE966}" srcId="{24D2C8B8-EE2B-42CE-ACC4-40D32048B599}" destId="{88AAAB50-2424-4428-BB0F-AD2451C267A4}" srcOrd="0" destOrd="0" parTransId="{78F0A4DA-6A63-4400-A7CE-A51C4E531E8F}" sibTransId="{6DBD687D-8675-4C5F-BCDB-ABAE0BF7B42E}"/>
    <dgm:cxn modelId="{629F77E6-BBF8-43D5-B658-10223B4E53DB}" type="presOf" srcId="{5FB22505-DAAA-40E4-9C71-BDC3E475E875}" destId="{259411CA-14B5-4C15-AEFE-4ABE4FA4DED2}" srcOrd="0" destOrd="5" presId="urn:microsoft.com/office/officeart/2005/8/layout/vList5"/>
    <dgm:cxn modelId="{485B0BFD-C6E8-40D2-A6EA-D2AA236782B6}" srcId="{1E51764E-DB7E-4C6D-9D11-B19EB643A664}" destId="{24D2C8B8-EE2B-42CE-ACC4-40D32048B599}" srcOrd="0" destOrd="0" parTransId="{B302C25C-061D-4842-927A-ED3F672FF512}" sibTransId="{3C709900-5A0A-409A-963B-AA768D371989}"/>
    <dgm:cxn modelId="{5A4FB5FD-AC87-4FA2-A43B-299731331383}" srcId="{24D2C8B8-EE2B-42CE-ACC4-40D32048B599}" destId="{AD035292-261C-4BC1-8094-FCADB4A031F6}" srcOrd="4" destOrd="0" parTransId="{80109152-AA77-48E1-92C0-015CB5D11F27}" sibTransId="{62C2CD4F-D03A-4163-A06A-B3045A9DFF72}"/>
    <dgm:cxn modelId="{96C392FE-AE11-441D-BFE2-F95757588CD0}" srcId="{24D2C8B8-EE2B-42CE-ACC4-40D32048B599}" destId="{218B0611-5E63-4B6C-8ABD-8D7B5875EB31}" srcOrd="2" destOrd="0" parTransId="{C50DC8AF-EFD4-4404-955C-02587EDAECDD}" sibTransId="{1193FA0C-EC10-44A4-A11F-EE95E8CBE068}"/>
    <dgm:cxn modelId="{0E308C9B-1AC6-4931-AA57-207E2DDC5AFD}" type="presParOf" srcId="{438A5F3B-0F79-4E02-BCD0-DAF4ADBC97ED}" destId="{32334B71-D73F-4013-8D4C-FB2117756A20}" srcOrd="0" destOrd="0" presId="urn:microsoft.com/office/officeart/2005/8/layout/vList5"/>
    <dgm:cxn modelId="{59BFB3BD-DD5B-4B08-A3AC-DCED07ED0EAD}" type="presParOf" srcId="{32334B71-D73F-4013-8D4C-FB2117756A20}" destId="{67E38D05-5D1D-4ED7-A2E8-BBCE0B55078C}" srcOrd="0" destOrd="0" presId="urn:microsoft.com/office/officeart/2005/8/layout/vList5"/>
    <dgm:cxn modelId="{8B6BDF43-ADED-4F1F-981B-8EF136195365}" type="presParOf" srcId="{32334B71-D73F-4013-8D4C-FB2117756A20}" destId="{259411CA-14B5-4C15-AEFE-4ABE4FA4DED2}"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9411CA-14B5-4C15-AEFE-4ABE4FA4DED2}">
      <dsp:nvSpPr>
        <dsp:cNvPr id="0" name=""/>
        <dsp:cNvSpPr/>
      </dsp:nvSpPr>
      <dsp:spPr>
        <a:xfrm rot="5400000">
          <a:off x="4410271" y="-1027778"/>
          <a:ext cx="3957765" cy="6013321"/>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Font typeface="Wingdings" panose="05000000000000000000" pitchFamily="2" charset="2"/>
            <a:buChar char="§"/>
          </a:pPr>
          <a:r>
            <a:rPr lang="en-IN" sz="1800" b="1" i="0" kern="1200" dirty="0"/>
            <a:t>Declining customer satisfaction scores</a:t>
          </a:r>
          <a:endParaRPr lang="en-IN" sz="1800" kern="1200" dirty="0"/>
        </a:p>
        <a:p>
          <a:pPr marL="171450" lvl="1" indent="-171450" algn="l" defTabSz="800100">
            <a:lnSpc>
              <a:spcPct val="90000"/>
            </a:lnSpc>
            <a:spcBef>
              <a:spcPct val="0"/>
            </a:spcBef>
            <a:spcAft>
              <a:spcPct val="15000"/>
            </a:spcAft>
            <a:buFont typeface="Wingdings" panose="05000000000000000000" pitchFamily="2" charset="2"/>
            <a:buNone/>
          </a:pPr>
          <a:r>
            <a:rPr lang="en-IN" sz="1800" b="0" i="0" kern="1200" dirty="0"/>
            <a:t>Average customer satisfaction is very low.</a:t>
          </a:r>
          <a:endParaRPr lang="en-IN" sz="1800" kern="1200" dirty="0"/>
        </a:p>
        <a:p>
          <a:pPr marL="171450" lvl="1" indent="-171450" algn="l" defTabSz="800100">
            <a:lnSpc>
              <a:spcPct val="90000"/>
            </a:lnSpc>
            <a:spcBef>
              <a:spcPct val="0"/>
            </a:spcBef>
            <a:spcAft>
              <a:spcPct val="15000"/>
            </a:spcAft>
            <a:buFont typeface="Wingdings" panose="05000000000000000000" pitchFamily="2" charset="2"/>
            <a:buNone/>
          </a:pPr>
          <a:r>
            <a:rPr lang="en-IN" sz="1800" b="0" i="0" kern="1200" dirty="0"/>
            <a:t>Average rating is 2.93 , which is very low .</a:t>
          </a:r>
          <a:endParaRPr lang="en-IN" sz="1800" kern="1200" dirty="0"/>
        </a:p>
        <a:p>
          <a:pPr marL="171450" lvl="1" indent="-171450" algn="l" defTabSz="800100">
            <a:lnSpc>
              <a:spcPct val="90000"/>
            </a:lnSpc>
            <a:spcBef>
              <a:spcPct val="0"/>
            </a:spcBef>
            <a:spcAft>
              <a:spcPct val="15000"/>
            </a:spcAft>
            <a:buFont typeface="Wingdings" panose="05000000000000000000" pitchFamily="2" charset="2"/>
            <a:buChar char="§"/>
          </a:pPr>
          <a:r>
            <a:rPr lang="en-IN" sz="1800" b="1" i="0" kern="1200" dirty="0"/>
            <a:t>Inconsistent call volumes.</a:t>
          </a:r>
          <a:endParaRPr lang="en-IN" sz="1800" kern="1200" dirty="0"/>
        </a:p>
        <a:p>
          <a:pPr marL="171450" lvl="1" indent="-171450" algn="l" defTabSz="800100">
            <a:lnSpc>
              <a:spcPct val="90000"/>
            </a:lnSpc>
            <a:spcBef>
              <a:spcPct val="0"/>
            </a:spcBef>
            <a:spcAft>
              <a:spcPct val="15000"/>
            </a:spcAft>
            <a:buFont typeface="Wingdings" panose="05000000000000000000" pitchFamily="2" charset="2"/>
            <a:buNone/>
          </a:pPr>
          <a:r>
            <a:rPr lang="en-IN" sz="1800" b="0" i="0" kern="1200" dirty="0"/>
            <a:t>Daily call volume is inconsistent. </a:t>
          </a:r>
          <a:endParaRPr lang="en-IN" sz="1800" kern="1200" dirty="0"/>
        </a:p>
        <a:p>
          <a:pPr marL="171450" lvl="1" indent="-171450" algn="l" defTabSz="800100">
            <a:lnSpc>
              <a:spcPct val="90000"/>
            </a:lnSpc>
            <a:spcBef>
              <a:spcPct val="0"/>
            </a:spcBef>
            <a:spcAft>
              <a:spcPct val="15000"/>
            </a:spcAft>
            <a:buFont typeface="Wingdings" panose="05000000000000000000" pitchFamily="2" charset="2"/>
            <a:buNone/>
          </a:pPr>
          <a:r>
            <a:rPr lang="en-IN" sz="1800" b="0" i="0" kern="1200" dirty="0"/>
            <a:t>Total change in call volume is in negative , and average change is in negative. </a:t>
          </a:r>
          <a:endParaRPr lang="en-IN" sz="1800" kern="1200" dirty="0"/>
        </a:p>
        <a:p>
          <a:pPr marL="171450" lvl="1" indent="-171450" algn="l" defTabSz="800100">
            <a:lnSpc>
              <a:spcPct val="90000"/>
            </a:lnSpc>
            <a:spcBef>
              <a:spcPct val="0"/>
            </a:spcBef>
            <a:spcAft>
              <a:spcPct val="15000"/>
            </a:spcAft>
            <a:buFont typeface="Wingdings" panose="05000000000000000000" pitchFamily="2" charset="2"/>
            <a:buChar char="§"/>
          </a:pPr>
          <a:r>
            <a:rPr lang="en-IN" sz="1800" b="1" i="0" kern="1200" dirty="0"/>
            <a:t>Variability in agent performance.</a:t>
          </a:r>
          <a:endParaRPr lang="en-IN" sz="1800" kern="1200" dirty="0"/>
        </a:p>
        <a:p>
          <a:pPr marL="171450" lvl="1" indent="-171450" algn="l" defTabSz="800100">
            <a:lnSpc>
              <a:spcPct val="90000"/>
            </a:lnSpc>
            <a:spcBef>
              <a:spcPct val="0"/>
            </a:spcBef>
            <a:spcAft>
              <a:spcPct val="15000"/>
            </a:spcAft>
            <a:buFont typeface="Wingdings" panose="05000000000000000000" pitchFamily="2" charset="2"/>
            <a:buNone/>
          </a:pPr>
          <a:r>
            <a:rPr lang="en-IN" sz="1800" b="0" i="0" kern="1200" dirty="0"/>
            <a:t>Overall agent performance is poor.</a:t>
          </a:r>
          <a:endParaRPr lang="en-IN" sz="1800" kern="1200" dirty="0"/>
        </a:p>
        <a:p>
          <a:pPr marL="171450" lvl="1" indent="-171450" algn="l" defTabSz="800100">
            <a:lnSpc>
              <a:spcPct val="90000"/>
            </a:lnSpc>
            <a:spcBef>
              <a:spcPct val="0"/>
            </a:spcBef>
            <a:spcAft>
              <a:spcPct val="15000"/>
            </a:spcAft>
            <a:buFont typeface="Wingdings" panose="05000000000000000000" pitchFamily="2" charset="2"/>
            <a:buNone/>
          </a:pPr>
          <a:r>
            <a:rPr lang="en-IN" sz="1800" b="0" i="0" kern="1200" dirty="0"/>
            <a:t>Average performance of guru is not fair </a:t>
          </a:r>
          <a:r>
            <a:rPr lang="en-IN" sz="1700" b="0" i="0" kern="1200" dirty="0"/>
            <a:t>.</a:t>
          </a:r>
          <a:endParaRPr lang="en-IN" sz="1700" kern="1200" dirty="0"/>
        </a:p>
      </dsp:txBody>
      <dsp:txXfrm rot="-5400000">
        <a:off x="3382493" y="193202"/>
        <a:ext cx="5820119" cy="3571361"/>
      </dsp:txXfrm>
    </dsp:sp>
    <dsp:sp modelId="{67E38D05-5D1D-4ED7-A2E8-BBCE0B55078C}">
      <dsp:nvSpPr>
        <dsp:cNvPr id="0" name=""/>
        <dsp:cNvSpPr/>
      </dsp:nvSpPr>
      <dsp:spPr>
        <a:xfrm>
          <a:off x="0" y="1973"/>
          <a:ext cx="3382493" cy="403754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IN" sz="2400" b="0" i="0" kern="1200" dirty="0" err="1">
              <a:solidFill>
                <a:schemeClr val="bg1"/>
              </a:solidFill>
            </a:rPr>
            <a:t>Astrosage</a:t>
          </a:r>
          <a:r>
            <a:rPr lang="en-IN" sz="2400" b="0" i="0" kern="1200" dirty="0">
              <a:solidFill>
                <a:schemeClr val="bg1"/>
              </a:solidFill>
            </a:rPr>
            <a:t> has been facing challenges in maintaining optimal call  </a:t>
          </a:r>
          <a:r>
            <a:rPr lang="en-IN" sz="2400" b="0" i="0" kern="1200" dirty="0" err="1">
              <a:solidFill>
                <a:schemeClr val="bg1"/>
              </a:solidFill>
            </a:rPr>
            <a:t>center</a:t>
          </a:r>
          <a:r>
            <a:rPr lang="en-IN" sz="2400" b="0" i="0" kern="1200" dirty="0">
              <a:solidFill>
                <a:schemeClr val="bg1"/>
              </a:solidFill>
            </a:rPr>
            <a:t> performance as per given data :</a:t>
          </a:r>
          <a:endParaRPr lang="en-IN" sz="2400" kern="1200" dirty="0">
            <a:solidFill>
              <a:schemeClr val="bg1"/>
            </a:solidFill>
          </a:endParaRPr>
        </a:p>
      </dsp:txBody>
      <dsp:txXfrm>
        <a:off x="165120" y="167093"/>
        <a:ext cx="3052253" cy="3707307"/>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A2CBCE-1B9F-45E7-9BE6-B07CF3F42666}" type="datetimeFigureOut">
              <a:rPr lang="en-IN" smtClean="0"/>
              <a:t>04-09-2025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CB716F-4F47-45ED-B3F8-A6DADDF7CDC6}" type="slidenum">
              <a:rPr lang="en-IN" smtClean="0"/>
              <a:t>‹#›</a:t>
            </a:fld>
            <a:endParaRPr lang="en-IN"/>
          </a:p>
        </p:txBody>
      </p:sp>
    </p:spTree>
    <p:extLst>
      <p:ext uri="{BB962C8B-B14F-4D97-AF65-F5344CB8AC3E}">
        <p14:creationId xmlns:p14="http://schemas.microsoft.com/office/powerpoint/2010/main" val="5689731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2CB716F-4F47-45ED-B3F8-A6DADDF7CDC6}" type="slidenum">
              <a:rPr lang="en-IN" smtClean="0"/>
              <a:t>16</a:t>
            </a:fld>
            <a:endParaRPr lang="en-IN"/>
          </a:p>
        </p:txBody>
      </p:sp>
    </p:spTree>
    <p:extLst>
      <p:ext uri="{BB962C8B-B14F-4D97-AF65-F5344CB8AC3E}">
        <p14:creationId xmlns:p14="http://schemas.microsoft.com/office/powerpoint/2010/main" val="9200748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53339-04E2-4257-B2E5-76511AB7E19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03B2C31-2124-A8CD-E965-4B4FF3656B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BA1493B-DC4C-9EA2-0E3B-DB4EC8CCC68A}"/>
              </a:ext>
            </a:extLst>
          </p:cNvPr>
          <p:cNvSpPr>
            <a:spLocks noGrp="1"/>
          </p:cNvSpPr>
          <p:nvPr>
            <p:ph type="dt" sz="half" idx="10"/>
          </p:nvPr>
        </p:nvSpPr>
        <p:spPr/>
        <p:txBody>
          <a:bodyPr/>
          <a:lstStyle/>
          <a:p>
            <a:fld id="{E9462EF3-3C4F-43EE-ACEE-D4B806740EA3}" type="datetimeFigureOut">
              <a:rPr lang="en-US" smtClean="0"/>
              <a:pPr/>
              <a:t>9/4/2025</a:t>
            </a:fld>
            <a:endParaRPr lang="en-US" dirty="0"/>
          </a:p>
        </p:txBody>
      </p:sp>
      <p:sp>
        <p:nvSpPr>
          <p:cNvPr id="5" name="Footer Placeholder 4">
            <a:extLst>
              <a:ext uri="{FF2B5EF4-FFF2-40B4-BE49-F238E27FC236}">
                <a16:creationId xmlns:a16="http://schemas.microsoft.com/office/drawing/2014/main" id="{3C658729-A977-F4C2-B9B4-3BEF3BB333D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7D33174-AAFB-BA4E-716A-1932D6B7F16B}"/>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4910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45811-A3E8-511D-13C2-A4CBA5943B1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06F7AC8-245B-21F5-4754-1E6839FC13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80A5E1F-E1D0-9C64-8F24-DC877E49B400}"/>
              </a:ext>
            </a:extLst>
          </p:cNvPr>
          <p:cNvSpPr>
            <a:spLocks noGrp="1"/>
          </p:cNvSpPr>
          <p:nvPr>
            <p:ph type="dt" sz="half" idx="10"/>
          </p:nvPr>
        </p:nvSpPr>
        <p:spPr/>
        <p:txBody>
          <a:bodyPr/>
          <a:lstStyle/>
          <a:p>
            <a:fld id="{076C0EF2-9919-473B-8215-8616BAF10692}" type="datetimeFigureOut">
              <a:rPr lang="en-US" smtClean="0"/>
              <a:t>9/4/2025</a:t>
            </a:fld>
            <a:endParaRPr lang="en-US" dirty="0"/>
          </a:p>
        </p:txBody>
      </p:sp>
      <p:sp>
        <p:nvSpPr>
          <p:cNvPr id="5" name="Footer Placeholder 4">
            <a:extLst>
              <a:ext uri="{FF2B5EF4-FFF2-40B4-BE49-F238E27FC236}">
                <a16:creationId xmlns:a16="http://schemas.microsoft.com/office/drawing/2014/main" id="{86E3E443-F1E0-D80D-DA5F-8D85DDFA4F6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BD98B4B-6F12-90C2-2668-B7596A07326C}"/>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75082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02F78-2CD0-0C1F-A9B7-ACAC23D9C66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07DB8D8-3854-896A-7ADF-7170D9BEBF9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0C2496-7E53-4B71-60C2-4CF3B206CE10}"/>
              </a:ext>
            </a:extLst>
          </p:cNvPr>
          <p:cNvSpPr>
            <a:spLocks noGrp="1"/>
          </p:cNvSpPr>
          <p:nvPr>
            <p:ph type="dt" sz="half" idx="10"/>
          </p:nvPr>
        </p:nvSpPr>
        <p:spPr/>
        <p:txBody>
          <a:bodyPr/>
          <a:lstStyle/>
          <a:p>
            <a:fld id="{A09472EB-AC54-4713-BFC2-BEB621108C63}" type="datetimeFigureOut">
              <a:rPr lang="en-US" smtClean="0"/>
              <a:t>9/4/2025</a:t>
            </a:fld>
            <a:endParaRPr lang="en-US" dirty="0"/>
          </a:p>
        </p:txBody>
      </p:sp>
      <p:sp>
        <p:nvSpPr>
          <p:cNvPr id="5" name="Footer Placeholder 4">
            <a:extLst>
              <a:ext uri="{FF2B5EF4-FFF2-40B4-BE49-F238E27FC236}">
                <a16:creationId xmlns:a16="http://schemas.microsoft.com/office/drawing/2014/main" id="{1036F4FF-92A3-3F35-9D1E-4BA2F0C36DB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FDB7AAF-FFCB-18C0-E950-1982DD1CED9D}"/>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419464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00B46-ACE5-A916-056A-A66E3F13C89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0A7088C-55B1-C5E7-08EE-245E1BAA0C5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A07CC9A-7317-3B99-98CE-7D09D727E0D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A711BB7-A547-2491-98AA-7F6F81EAA099}"/>
              </a:ext>
            </a:extLst>
          </p:cNvPr>
          <p:cNvSpPr>
            <a:spLocks noGrp="1"/>
          </p:cNvSpPr>
          <p:nvPr>
            <p:ph type="dt" sz="half" idx="10"/>
          </p:nvPr>
        </p:nvSpPr>
        <p:spPr/>
        <p:txBody>
          <a:bodyPr/>
          <a:lstStyle/>
          <a:p>
            <a:fld id="{99455A0C-791E-4545-B787-F98AD45CD761}" type="datetimeFigureOut">
              <a:rPr lang="en-US" smtClean="0"/>
              <a:t>9/4/2025</a:t>
            </a:fld>
            <a:endParaRPr lang="en-US" dirty="0"/>
          </a:p>
        </p:txBody>
      </p:sp>
      <p:sp>
        <p:nvSpPr>
          <p:cNvPr id="6" name="Footer Placeholder 5">
            <a:extLst>
              <a:ext uri="{FF2B5EF4-FFF2-40B4-BE49-F238E27FC236}">
                <a16:creationId xmlns:a16="http://schemas.microsoft.com/office/drawing/2014/main" id="{EF5DA099-8315-1A6D-206C-F56DB345A41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CE7854A-CDEE-3F9D-F558-86AB0E6D7551}"/>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344482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2B9FF-3516-8D92-7B20-4A4804EF255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49BF589-096B-A213-63D8-90A349BB47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5A293F5-F391-DF40-2F93-033B0D60E73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7FE48EE-280E-D41D-6145-2D060BE3B9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F24CDE1-AEE7-0DD3-BDC2-F3D18B0F0AF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EDBB273-4922-90BF-BC2A-DA005C12F692}"/>
              </a:ext>
            </a:extLst>
          </p:cNvPr>
          <p:cNvSpPr>
            <a:spLocks noGrp="1"/>
          </p:cNvSpPr>
          <p:nvPr>
            <p:ph type="dt" sz="half" idx="10"/>
          </p:nvPr>
        </p:nvSpPr>
        <p:spPr/>
        <p:txBody>
          <a:bodyPr/>
          <a:lstStyle/>
          <a:p>
            <a:fld id="{42536B77-F4F4-4427-AC4F-9A623798AD82}" type="datetimeFigureOut">
              <a:rPr lang="en-US" smtClean="0"/>
              <a:t>9/4/2025</a:t>
            </a:fld>
            <a:endParaRPr lang="en-US" dirty="0"/>
          </a:p>
        </p:txBody>
      </p:sp>
      <p:sp>
        <p:nvSpPr>
          <p:cNvPr id="8" name="Footer Placeholder 7">
            <a:extLst>
              <a:ext uri="{FF2B5EF4-FFF2-40B4-BE49-F238E27FC236}">
                <a16:creationId xmlns:a16="http://schemas.microsoft.com/office/drawing/2014/main" id="{BCF4298A-63CD-1E0E-1D41-68A273E70AA2}"/>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767FFD94-FB59-C2AE-8209-B7E135BCF12D}"/>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04744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D28B1-38BD-93A9-A105-C681B28E08E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82E11B2-CC1C-675B-7A13-11320BD275C1}"/>
              </a:ext>
            </a:extLst>
          </p:cNvPr>
          <p:cNvSpPr>
            <a:spLocks noGrp="1"/>
          </p:cNvSpPr>
          <p:nvPr>
            <p:ph type="dt" sz="half" idx="10"/>
          </p:nvPr>
        </p:nvSpPr>
        <p:spPr/>
        <p:txBody>
          <a:bodyPr/>
          <a:lstStyle/>
          <a:p>
            <a:fld id="{D8BE790C-34EB-4565-8437-CACF4CDB7822}" type="datetimeFigureOut">
              <a:rPr lang="en-US" smtClean="0"/>
              <a:t>9/4/2025</a:t>
            </a:fld>
            <a:endParaRPr lang="en-US" dirty="0"/>
          </a:p>
        </p:txBody>
      </p:sp>
      <p:sp>
        <p:nvSpPr>
          <p:cNvPr id="4" name="Footer Placeholder 3">
            <a:extLst>
              <a:ext uri="{FF2B5EF4-FFF2-40B4-BE49-F238E27FC236}">
                <a16:creationId xmlns:a16="http://schemas.microsoft.com/office/drawing/2014/main" id="{B3E23491-C60D-9B33-BD4B-F883A50C8752}"/>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F1837DF3-0D12-280F-214E-DD445DFCFA5D}"/>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1449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4A61A8-178E-45E9-049F-7225FAC6C629}"/>
              </a:ext>
            </a:extLst>
          </p:cNvPr>
          <p:cNvSpPr>
            <a:spLocks noGrp="1"/>
          </p:cNvSpPr>
          <p:nvPr>
            <p:ph type="dt" sz="half" idx="10"/>
          </p:nvPr>
        </p:nvSpPr>
        <p:spPr/>
        <p:txBody>
          <a:bodyPr/>
          <a:lstStyle/>
          <a:p>
            <a:fld id="{F84A4C11-22B8-4A4E-8126-B3AF6B948A8E}" type="datetimeFigureOut">
              <a:rPr lang="en-US" smtClean="0"/>
              <a:t>9/4/2025</a:t>
            </a:fld>
            <a:endParaRPr lang="en-US" dirty="0"/>
          </a:p>
        </p:txBody>
      </p:sp>
      <p:sp>
        <p:nvSpPr>
          <p:cNvPr id="3" name="Footer Placeholder 2">
            <a:extLst>
              <a:ext uri="{FF2B5EF4-FFF2-40B4-BE49-F238E27FC236}">
                <a16:creationId xmlns:a16="http://schemas.microsoft.com/office/drawing/2014/main" id="{E628A5FA-BF60-73F2-D821-645C6D67679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1E09A64-BEBE-F89A-57E8-69733007E18D}"/>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300621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64529-1AA7-EDFB-122F-D46CF0FE1C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38229D0-0F15-BD24-02A6-F4EF35AA08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57D85FE-10B9-732B-0C5A-61AEFD9B18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08112B-3027-D3BB-72FE-E65FBEC8F834}"/>
              </a:ext>
            </a:extLst>
          </p:cNvPr>
          <p:cNvSpPr>
            <a:spLocks noGrp="1"/>
          </p:cNvSpPr>
          <p:nvPr>
            <p:ph type="dt" sz="half" idx="10"/>
          </p:nvPr>
        </p:nvSpPr>
        <p:spPr/>
        <p:txBody>
          <a:bodyPr/>
          <a:lstStyle/>
          <a:p>
            <a:fld id="{16ED06B6-C816-4861-964D-15A98395707D}" type="datetimeFigureOut">
              <a:rPr lang="en-US" smtClean="0"/>
              <a:t>9/4/2025</a:t>
            </a:fld>
            <a:endParaRPr lang="en-US" dirty="0"/>
          </a:p>
        </p:txBody>
      </p:sp>
      <p:sp>
        <p:nvSpPr>
          <p:cNvPr id="6" name="Footer Placeholder 5">
            <a:extLst>
              <a:ext uri="{FF2B5EF4-FFF2-40B4-BE49-F238E27FC236}">
                <a16:creationId xmlns:a16="http://schemas.microsoft.com/office/drawing/2014/main" id="{448EF5A7-7C13-A427-F5CF-7CF758A05AD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B8D72B9-3599-CE3D-AE2E-CE41F82CD94E}"/>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0987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3BBAF-0983-DC39-7CD5-D29F5CEB6C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A49C0E0-3571-60BB-5E78-57708D027E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70F3A44-B3E4-F976-A8C4-8BDAD24630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6A02A7-402F-0903-BF06-F19A43AA3577}"/>
              </a:ext>
            </a:extLst>
          </p:cNvPr>
          <p:cNvSpPr>
            <a:spLocks noGrp="1"/>
          </p:cNvSpPr>
          <p:nvPr>
            <p:ph type="dt" sz="half" idx="10"/>
          </p:nvPr>
        </p:nvSpPr>
        <p:spPr/>
        <p:txBody>
          <a:bodyPr/>
          <a:lstStyle/>
          <a:p>
            <a:fld id="{00B1A8AB-EA7C-4B1B-9D73-E2551851FABE}" type="datetimeFigureOut">
              <a:rPr lang="en-US" smtClean="0"/>
              <a:t>9/4/2025</a:t>
            </a:fld>
            <a:endParaRPr lang="en-US" dirty="0"/>
          </a:p>
        </p:txBody>
      </p:sp>
      <p:sp>
        <p:nvSpPr>
          <p:cNvPr id="6" name="Footer Placeholder 5">
            <a:extLst>
              <a:ext uri="{FF2B5EF4-FFF2-40B4-BE49-F238E27FC236}">
                <a16:creationId xmlns:a16="http://schemas.microsoft.com/office/drawing/2014/main" id="{5359EC80-587F-572F-38AA-6E6DC8F9C09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4D8DD12-4304-12EF-93DB-68F954304C5B}"/>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89091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A8112-5FE0-15E2-7F1B-149FA4CD4FC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0C8753D-9C92-A9E3-7157-B7D036728E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131CA0-04E1-DAEE-705E-509722C4B299}"/>
              </a:ext>
            </a:extLst>
          </p:cNvPr>
          <p:cNvSpPr>
            <a:spLocks noGrp="1"/>
          </p:cNvSpPr>
          <p:nvPr>
            <p:ph type="dt" sz="half" idx="10"/>
          </p:nvPr>
        </p:nvSpPr>
        <p:spPr/>
        <p:txBody>
          <a:bodyPr/>
          <a:lstStyle/>
          <a:p>
            <a:fld id="{5568300E-C023-45CD-A0BE-EDB7A8C6EA8B}" type="datetimeFigureOut">
              <a:rPr lang="en-US" smtClean="0"/>
              <a:t>9/4/2025</a:t>
            </a:fld>
            <a:endParaRPr lang="en-US" dirty="0"/>
          </a:p>
        </p:txBody>
      </p:sp>
      <p:sp>
        <p:nvSpPr>
          <p:cNvPr id="5" name="Footer Placeholder 4">
            <a:extLst>
              <a:ext uri="{FF2B5EF4-FFF2-40B4-BE49-F238E27FC236}">
                <a16:creationId xmlns:a16="http://schemas.microsoft.com/office/drawing/2014/main" id="{F7B041EB-FA5A-0DDA-0264-3735FE5F6E3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7282144-D57B-AD57-F9DB-642E27326D7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52230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E548C2-0A29-C3DE-98A0-E9AD2F61ECB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DBD5E9D-91EE-F6AD-8258-8FA564DD48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CB7551-11C4-466B-14C1-21D0290E3FE0}"/>
              </a:ext>
            </a:extLst>
          </p:cNvPr>
          <p:cNvSpPr>
            <a:spLocks noGrp="1"/>
          </p:cNvSpPr>
          <p:nvPr>
            <p:ph type="dt" sz="half" idx="10"/>
          </p:nvPr>
        </p:nvSpPr>
        <p:spPr/>
        <p:txBody>
          <a:bodyPr/>
          <a:lstStyle/>
          <a:p>
            <a:fld id="{3B620EAD-E369-4933-8469-ED7764B56A1B}" type="datetimeFigureOut">
              <a:rPr lang="en-US" smtClean="0"/>
              <a:t>9/4/2025</a:t>
            </a:fld>
            <a:endParaRPr lang="en-US" dirty="0"/>
          </a:p>
        </p:txBody>
      </p:sp>
      <p:sp>
        <p:nvSpPr>
          <p:cNvPr id="5" name="Footer Placeholder 4">
            <a:extLst>
              <a:ext uri="{FF2B5EF4-FFF2-40B4-BE49-F238E27FC236}">
                <a16:creationId xmlns:a16="http://schemas.microsoft.com/office/drawing/2014/main" id="{F632ACB4-87DF-1BCB-C114-12511D9489D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0874AA6-AD75-5800-9048-4FA4DA82A21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78136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E76A497-14BB-42B1-D2C0-30A4015C46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E8C99FE-E96E-AB8F-CCB0-5AC29B1A94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6640EE-734F-3682-67B5-9C7903E377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786BE5-D2A3-4BF0-8B30-D7403E61B3DC}" type="datetimeFigureOut">
              <a:rPr lang="en-US" smtClean="0"/>
              <a:t>9/4/2025</a:t>
            </a:fld>
            <a:endParaRPr lang="en-US" dirty="0"/>
          </a:p>
        </p:txBody>
      </p:sp>
      <p:sp>
        <p:nvSpPr>
          <p:cNvPr id="5" name="Footer Placeholder 4">
            <a:extLst>
              <a:ext uri="{FF2B5EF4-FFF2-40B4-BE49-F238E27FC236}">
                <a16:creationId xmlns:a16="http://schemas.microsoft.com/office/drawing/2014/main" id="{7FC79A40-778A-325B-A795-581AB02B22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1ED5B0C8-E7B8-D0F2-8621-471158A044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86525346"/>
      </p:ext>
    </p:extLst>
  </p:cSld>
  <p:clrMap bg1="lt1" tx1="dk1" bg2="lt2" tx2="dk2" accent1="accent1" accent2="accent2" accent3="accent3" accent4="accent4" accent5="accent5" accent6="accent6" hlink="hlink" folHlink="folHlink"/>
  <p:sldLayoutIdLst>
    <p:sldLayoutId id="2147483868" r:id="rId1"/>
    <p:sldLayoutId id="2147483869" r:id="rId2"/>
    <p:sldLayoutId id="2147483870" r:id="rId3"/>
    <p:sldLayoutId id="2147483871" r:id="rId4"/>
    <p:sldLayoutId id="2147483872" r:id="rId5"/>
    <p:sldLayoutId id="2147483873" r:id="rId6"/>
    <p:sldLayoutId id="2147483874" r:id="rId7"/>
    <p:sldLayoutId id="2147483875" r:id="rId8"/>
    <p:sldLayoutId id="2147483876" r:id="rId9"/>
    <p:sldLayoutId id="2147483877" r:id="rId10"/>
    <p:sldLayoutId id="2147483878"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ro.wikipedia.org/wiki/Microsoft_Excel" TargetMode="External"/><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s://www.pinterest.com/pin/370069294374177651/" TargetMode="External"/><Relationship Id="rId2" Type="http://schemas.openxmlformats.org/officeDocument/2006/relationships/image" Target="../media/image7.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3DCAA-F858-A717-1B49-A04709F52C68}"/>
              </a:ext>
            </a:extLst>
          </p:cNvPr>
          <p:cNvSpPr>
            <a:spLocks noGrp="1"/>
          </p:cNvSpPr>
          <p:nvPr>
            <p:ph type="ctrTitle"/>
          </p:nvPr>
        </p:nvSpPr>
        <p:spPr>
          <a:xfrm>
            <a:off x="1180552" y="844827"/>
            <a:ext cx="9370983" cy="1113182"/>
          </a:xfrm>
        </p:spPr>
        <p:txBody>
          <a:bodyPr>
            <a:normAutofit/>
          </a:bodyPr>
          <a:lstStyle/>
          <a:p>
            <a:r>
              <a:rPr lang="en-US" sz="4800" dirty="0" err="1">
                <a:latin typeface="Arial Black" panose="020B0A04020102020204" pitchFamily="34" charset="0"/>
              </a:rPr>
              <a:t>AstroSage</a:t>
            </a:r>
            <a:r>
              <a:rPr lang="en-US" sz="4800" dirty="0">
                <a:latin typeface="Arial Black" panose="020B0A04020102020204" pitchFamily="34" charset="0"/>
              </a:rPr>
              <a:t> Analysis</a:t>
            </a:r>
            <a:endParaRPr lang="en-IN" sz="4800" dirty="0">
              <a:latin typeface="Arial Black" panose="020B0A04020102020204" pitchFamily="34" charset="0"/>
            </a:endParaRPr>
          </a:p>
        </p:txBody>
      </p:sp>
      <p:sp>
        <p:nvSpPr>
          <p:cNvPr id="3" name="Subtitle 2">
            <a:extLst>
              <a:ext uri="{FF2B5EF4-FFF2-40B4-BE49-F238E27FC236}">
                <a16:creationId xmlns:a16="http://schemas.microsoft.com/office/drawing/2014/main" id="{8CE4E36C-9C86-BEE4-7BB7-0B6709EB888A}"/>
              </a:ext>
            </a:extLst>
          </p:cNvPr>
          <p:cNvSpPr>
            <a:spLocks noGrp="1"/>
          </p:cNvSpPr>
          <p:nvPr>
            <p:ph type="subTitle" idx="1"/>
          </p:nvPr>
        </p:nvSpPr>
        <p:spPr>
          <a:xfrm>
            <a:off x="1154955" y="4323522"/>
            <a:ext cx="3317653" cy="1113183"/>
          </a:xfrm>
        </p:spPr>
        <p:txBody>
          <a:bodyPr>
            <a:normAutofit/>
          </a:bodyPr>
          <a:lstStyle/>
          <a:p>
            <a:r>
              <a:rPr lang="en-US" b="1" dirty="0">
                <a:solidFill>
                  <a:schemeClr val="tx1">
                    <a:lumMod val="95000"/>
                    <a:lumOff val="5000"/>
                  </a:schemeClr>
                </a:solidFill>
              </a:rPr>
              <a:t>By hamza siddiqui</a:t>
            </a:r>
          </a:p>
          <a:p>
            <a:pPr algn="ctr"/>
            <a:r>
              <a:rPr lang="en-US" b="1" dirty="0">
                <a:solidFill>
                  <a:schemeClr val="tx1">
                    <a:lumMod val="95000"/>
                    <a:lumOff val="5000"/>
                  </a:schemeClr>
                </a:solidFill>
              </a:rPr>
              <a:t> 20/07/2025</a:t>
            </a:r>
            <a:endParaRPr lang="en-IN" b="1" dirty="0">
              <a:solidFill>
                <a:schemeClr val="tx1">
                  <a:lumMod val="95000"/>
                  <a:lumOff val="5000"/>
                </a:schemeClr>
              </a:solidFill>
            </a:endParaRPr>
          </a:p>
        </p:txBody>
      </p:sp>
      <p:pic>
        <p:nvPicPr>
          <p:cNvPr id="4" name="Picture 2">
            <a:extLst>
              <a:ext uri="{FF2B5EF4-FFF2-40B4-BE49-F238E27FC236}">
                <a16:creationId xmlns:a16="http://schemas.microsoft.com/office/drawing/2014/main" id="{C13D2E0C-F9CC-8A90-7D9B-67CCCEB88CF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982" r="10980" b="66071"/>
          <a:stretch>
            <a:fillRect/>
          </a:stretch>
        </p:blipFill>
        <p:spPr bwMode="auto">
          <a:xfrm>
            <a:off x="7040553" y="2584173"/>
            <a:ext cx="4295079" cy="321087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57516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4D424-E0DC-C35E-BC59-84D5581E95EB}"/>
              </a:ext>
            </a:extLst>
          </p:cNvPr>
          <p:cNvSpPr>
            <a:spLocks noGrp="1"/>
          </p:cNvSpPr>
          <p:nvPr>
            <p:ph type="ctrTitle"/>
          </p:nvPr>
        </p:nvSpPr>
        <p:spPr>
          <a:xfrm>
            <a:off x="361741" y="574256"/>
            <a:ext cx="6048891" cy="1797156"/>
          </a:xfrm>
        </p:spPr>
        <p:txBody>
          <a:bodyPr>
            <a:noAutofit/>
          </a:bodyPr>
          <a:lstStyle/>
          <a:p>
            <a:r>
              <a:rPr lang="en-US" sz="4800" b="1" dirty="0">
                <a:solidFill>
                  <a:srgbClr val="C00000"/>
                </a:solidFill>
                <a:latin typeface="Arial" panose="020B0604020202020204" pitchFamily="34" charset="0"/>
                <a:ea typeface="Aparajita"/>
                <a:cs typeface="Arial" panose="020B0604020202020204" pitchFamily="34" charset="0"/>
                <a:sym typeface="Aparajita"/>
              </a:rPr>
              <a:t>What do is </a:t>
            </a:r>
            <a:r>
              <a:rPr lang="en-US" sz="4800" b="1" dirty="0" err="1">
                <a:solidFill>
                  <a:srgbClr val="C00000"/>
                </a:solidFill>
                <a:latin typeface="Arial" panose="020B0604020202020204" pitchFamily="34" charset="0"/>
                <a:ea typeface="Aparajita"/>
                <a:cs typeface="Arial" panose="020B0604020202020204" pitchFamily="34" charset="0"/>
                <a:sym typeface="Aparajita"/>
              </a:rPr>
              <a:t>astrosage</a:t>
            </a:r>
            <a:r>
              <a:rPr lang="en-US" sz="4800" b="1" dirty="0">
                <a:solidFill>
                  <a:srgbClr val="C00000"/>
                </a:solidFill>
                <a:latin typeface="Arial" panose="020B0604020202020204" pitchFamily="34" charset="0"/>
                <a:ea typeface="Aparajita"/>
                <a:cs typeface="Arial" panose="020B0604020202020204" pitchFamily="34" charset="0"/>
                <a:sym typeface="Aparajita"/>
              </a:rPr>
              <a:t>?</a:t>
            </a:r>
            <a:br>
              <a:rPr lang="en-US" sz="4800" dirty="0">
                <a:latin typeface="Arial" panose="020B0604020202020204" pitchFamily="34" charset="0"/>
                <a:cs typeface="Arial" panose="020B0604020202020204" pitchFamily="34" charset="0"/>
              </a:rPr>
            </a:br>
            <a:endParaRPr lang="en-IN" sz="4800" dirty="0"/>
          </a:p>
        </p:txBody>
      </p:sp>
      <p:sp>
        <p:nvSpPr>
          <p:cNvPr id="3" name="Subtitle 2">
            <a:extLst>
              <a:ext uri="{FF2B5EF4-FFF2-40B4-BE49-F238E27FC236}">
                <a16:creationId xmlns:a16="http://schemas.microsoft.com/office/drawing/2014/main" id="{465EF3E3-8C22-2D96-5A80-44BF83834C01}"/>
              </a:ext>
            </a:extLst>
          </p:cNvPr>
          <p:cNvSpPr>
            <a:spLocks noGrp="1"/>
          </p:cNvSpPr>
          <p:nvPr>
            <p:ph type="subTitle" idx="1"/>
          </p:nvPr>
        </p:nvSpPr>
        <p:spPr>
          <a:xfrm>
            <a:off x="1070917" y="2039815"/>
            <a:ext cx="5698129" cy="4096420"/>
          </a:xfrm>
        </p:spPr>
        <p:txBody>
          <a:bodyPr>
            <a:normAutofit/>
          </a:bodyPr>
          <a:lstStyle/>
          <a:p>
            <a:pPr algn="l"/>
            <a:r>
              <a:rPr lang="en-US" cap="none" dirty="0" err="1">
                <a:solidFill>
                  <a:schemeClr val="tx1"/>
                </a:solidFill>
              </a:rPr>
              <a:t>Astrosage</a:t>
            </a:r>
            <a:r>
              <a:rPr lang="en-US" cap="none" dirty="0">
                <a:solidFill>
                  <a:schemeClr val="tx1"/>
                </a:solidFill>
              </a:rPr>
              <a:t> is recognized as one of the most reliable astrology platforms, catering not only to individuals seeking astrological guidance but also to advanced research and development in the field of astrology. it serves as a comprehensive source, addressing everything from everyday life queries to highly specialized astrological concerns. our mission is to assist individuals in overcoming challenges and contribute to the betterment of humanity through the divine science of astrology</a:t>
            </a:r>
            <a:r>
              <a:rPr lang="en-US" b="1" cap="none" dirty="0">
                <a:solidFill>
                  <a:schemeClr val="tx1"/>
                </a:solidFill>
              </a:rPr>
              <a:t>.</a:t>
            </a:r>
            <a:endParaRPr lang="en-US" cap="none" dirty="0">
              <a:solidFill>
                <a:schemeClr val="tx1"/>
              </a:solidFill>
            </a:endParaRPr>
          </a:p>
          <a:p>
            <a:endParaRPr lang="en-US" dirty="0"/>
          </a:p>
          <a:p>
            <a:endParaRPr lang="en-IN" dirty="0"/>
          </a:p>
        </p:txBody>
      </p:sp>
      <p:pic>
        <p:nvPicPr>
          <p:cNvPr id="2050" name="Picture 2">
            <a:extLst>
              <a:ext uri="{FF2B5EF4-FFF2-40B4-BE49-F238E27FC236}">
                <a16:creationId xmlns:a16="http://schemas.microsoft.com/office/drawing/2014/main" id="{DC59EB35-6F77-1A39-16EF-8861FC37BB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27463" y="574255"/>
            <a:ext cx="4464767" cy="297917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a:extLst>
              <a:ext uri="{FF2B5EF4-FFF2-40B4-BE49-F238E27FC236}">
                <a16:creationId xmlns:a16="http://schemas.microsoft.com/office/drawing/2014/main" id="{F2C56C39-FF68-8F46-A0D2-BAF82A627E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27462" y="3754985"/>
            <a:ext cx="4602421" cy="238125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5794835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910A7-CB83-08CA-9EC3-1C2835C62592}"/>
              </a:ext>
            </a:extLst>
          </p:cNvPr>
          <p:cNvSpPr>
            <a:spLocks noGrp="1"/>
          </p:cNvSpPr>
          <p:nvPr>
            <p:ph type="ctrTitle"/>
          </p:nvPr>
        </p:nvSpPr>
        <p:spPr>
          <a:xfrm>
            <a:off x="1582994" y="737420"/>
            <a:ext cx="8397619" cy="1219200"/>
          </a:xfrm>
        </p:spPr>
        <p:txBody>
          <a:bodyPr>
            <a:normAutofit/>
          </a:bodyPr>
          <a:lstStyle/>
          <a:p>
            <a:r>
              <a:rPr lang="en-US" sz="4800" b="1" dirty="0"/>
              <a:t>Problem statement</a:t>
            </a:r>
            <a:endParaRPr lang="en-IN" sz="4800" b="1" dirty="0"/>
          </a:p>
        </p:txBody>
      </p:sp>
      <p:sp>
        <p:nvSpPr>
          <p:cNvPr id="3" name="Subtitle 2">
            <a:extLst>
              <a:ext uri="{FF2B5EF4-FFF2-40B4-BE49-F238E27FC236}">
                <a16:creationId xmlns:a16="http://schemas.microsoft.com/office/drawing/2014/main" id="{0A78D7B9-55A8-E46D-4E4F-57F15321D42D}"/>
              </a:ext>
            </a:extLst>
          </p:cNvPr>
          <p:cNvSpPr>
            <a:spLocks noGrp="1"/>
          </p:cNvSpPr>
          <p:nvPr>
            <p:ph type="subTitle" idx="1"/>
          </p:nvPr>
        </p:nvSpPr>
        <p:spPr>
          <a:xfrm>
            <a:off x="1154955" y="2074607"/>
            <a:ext cx="10300166" cy="3564194"/>
          </a:xfrm>
        </p:spPr>
        <p:txBody>
          <a:bodyPr>
            <a:normAutofit/>
          </a:bodyPr>
          <a:lstStyle/>
          <a:p>
            <a:pPr marL="285750" indent="-285750" algn="l">
              <a:buFont typeface="Wingdings" panose="05000000000000000000" pitchFamily="2" charset="2"/>
              <a:buChar char="§"/>
            </a:pPr>
            <a:r>
              <a:rPr lang="en-IN" dirty="0">
                <a:solidFill>
                  <a:schemeClr val="tx1">
                    <a:lumMod val="95000"/>
                    <a:lumOff val="5000"/>
                  </a:schemeClr>
                </a:solidFill>
                <a:latin typeface="Arial" panose="020B0604020202020204" pitchFamily="34" charset="0"/>
                <a:cs typeface="Arial" panose="020B0604020202020204" pitchFamily="34" charset="0"/>
              </a:rPr>
              <a:t>To optimize call </a:t>
            </a:r>
            <a:r>
              <a:rPr lang="en-IN" dirty="0" err="1">
                <a:solidFill>
                  <a:schemeClr val="tx1">
                    <a:lumMod val="95000"/>
                    <a:lumOff val="5000"/>
                  </a:schemeClr>
                </a:solidFill>
                <a:latin typeface="Arial" panose="020B0604020202020204" pitchFamily="34" charset="0"/>
                <a:cs typeface="Arial" panose="020B0604020202020204" pitchFamily="34" charset="0"/>
              </a:rPr>
              <a:t>center</a:t>
            </a:r>
            <a:r>
              <a:rPr lang="en-IN" dirty="0">
                <a:solidFill>
                  <a:schemeClr val="tx1">
                    <a:lumMod val="95000"/>
                    <a:lumOff val="5000"/>
                  </a:schemeClr>
                </a:solidFill>
                <a:latin typeface="Arial" panose="020B0604020202020204" pitchFamily="34" charset="0"/>
                <a:cs typeface="Arial" panose="020B0604020202020204" pitchFamily="34" charset="0"/>
              </a:rPr>
              <a:t> operations for </a:t>
            </a:r>
            <a:r>
              <a:rPr lang="en-IN" dirty="0" err="1">
                <a:solidFill>
                  <a:schemeClr val="tx1">
                    <a:lumMod val="95000"/>
                    <a:lumOff val="5000"/>
                  </a:schemeClr>
                </a:solidFill>
                <a:latin typeface="Arial" panose="020B0604020202020204" pitchFamily="34" charset="0"/>
                <a:cs typeface="Arial" panose="020B0604020202020204" pitchFamily="34" charset="0"/>
              </a:rPr>
              <a:t>AstroSage</a:t>
            </a:r>
            <a:r>
              <a:rPr lang="en-IN" dirty="0">
                <a:solidFill>
                  <a:schemeClr val="tx1">
                    <a:lumMod val="95000"/>
                    <a:lumOff val="5000"/>
                  </a:schemeClr>
                </a:solidFill>
                <a:latin typeface="Arial" panose="020B0604020202020204" pitchFamily="34" charset="0"/>
                <a:cs typeface="Arial" panose="020B0604020202020204" pitchFamily="34" charset="0"/>
              </a:rPr>
              <a:t> with a 1 crore investment.</a:t>
            </a:r>
          </a:p>
          <a:p>
            <a:pPr marL="285750" indent="-285750" algn="l">
              <a:buFont typeface="Wingdings" panose="05000000000000000000" pitchFamily="2" charset="2"/>
              <a:buChar char="§"/>
            </a:pPr>
            <a:endParaRPr lang="en-IN" dirty="0">
              <a:solidFill>
                <a:schemeClr val="tx1">
                  <a:lumMod val="95000"/>
                  <a:lumOff val="5000"/>
                </a:schemeClr>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
            </a:pPr>
            <a:r>
              <a:rPr lang="en-IN" dirty="0">
                <a:solidFill>
                  <a:schemeClr val="tx1">
                    <a:lumMod val="95000"/>
                    <a:lumOff val="5000"/>
                  </a:schemeClr>
                </a:solidFill>
                <a:latin typeface="Arial" panose="020B0604020202020204" pitchFamily="34" charset="0"/>
                <a:cs typeface="Arial" panose="020B0604020202020204" pitchFamily="34" charset="0"/>
              </a:rPr>
              <a:t>The goal is to determine how to allocate this investment to maximize operational efficiency, customer satisfaction, and profitability.</a:t>
            </a:r>
          </a:p>
          <a:p>
            <a:pPr marL="285750" indent="-285750" algn="l">
              <a:buFont typeface="Wingdings" panose="05000000000000000000" pitchFamily="2" charset="2"/>
              <a:buChar char="§"/>
            </a:pPr>
            <a:endParaRPr lang="en-IN" dirty="0">
              <a:solidFill>
                <a:schemeClr val="tx1">
                  <a:lumMod val="95000"/>
                  <a:lumOff val="5000"/>
                </a:schemeClr>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
            </a:pPr>
            <a:r>
              <a:rPr lang="en-IN" dirty="0">
                <a:solidFill>
                  <a:schemeClr val="tx1">
                    <a:lumMod val="95000"/>
                    <a:lumOff val="5000"/>
                  </a:schemeClr>
                </a:solidFill>
                <a:latin typeface="Arial" panose="020B0604020202020204" pitchFamily="34" charset="0"/>
                <a:cs typeface="Arial" panose="020B0604020202020204" pitchFamily="34" charset="0"/>
              </a:rPr>
              <a:t>This project will involve </a:t>
            </a:r>
            <a:r>
              <a:rPr lang="en-IN" dirty="0" err="1">
                <a:solidFill>
                  <a:schemeClr val="tx1">
                    <a:lumMod val="95000"/>
                    <a:lumOff val="5000"/>
                  </a:schemeClr>
                </a:solidFill>
                <a:latin typeface="Arial" panose="020B0604020202020204" pitchFamily="34" charset="0"/>
                <a:cs typeface="Arial" panose="020B0604020202020204" pitchFamily="34" charset="0"/>
              </a:rPr>
              <a:t>analyzing</a:t>
            </a:r>
            <a:r>
              <a:rPr lang="en-IN" dirty="0">
                <a:solidFill>
                  <a:schemeClr val="tx1">
                    <a:lumMod val="95000"/>
                    <a:lumOff val="5000"/>
                  </a:schemeClr>
                </a:solidFill>
                <a:latin typeface="Arial" panose="020B0604020202020204" pitchFamily="34" charset="0"/>
                <a:cs typeface="Arial" panose="020B0604020202020204" pitchFamily="34" charset="0"/>
              </a:rPr>
              <a:t> historical call data, performance metrics, and market trends to make informed decisions.</a:t>
            </a:r>
          </a:p>
          <a:p>
            <a:endParaRPr lang="en-IN" dirty="0"/>
          </a:p>
        </p:txBody>
      </p:sp>
    </p:spTree>
    <p:extLst>
      <p:ext uri="{BB962C8B-B14F-4D97-AF65-F5344CB8AC3E}">
        <p14:creationId xmlns:p14="http://schemas.microsoft.com/office/powerpoint/2010/main" val="19805405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ubtitle 11">
            <a:extLst>
              <a:ext uri="{FF2B5EF4-FFF2-40B4-BE49-F238E27FC236}">
                <a16:creationId xmlns:a16="http://schemas.microsoft.com/office/drawing/2014/main" id="{595BF4D4-9625-EB89-6315-577BF89095C0}"/>
              </a:ext>
            </a:extLst>
          </p:cNvPr>
          <p:cNvSpPr>
            <a:spLocks noGrp="1"/>
          </p:cNvSpPr>
          <p:nvPr>
            <p:ph type="subTitle" idx="1"/>
          </p:nvPr>
        </p:nvSpPr>
        <p:spPr>
          <a:xfrm>
            <a:off x="682906" y="311499"/>
            <a:ext cx="8461094" cy="947245"/>
          </a:xfrm>
        </p:spPr>
        <p:txBody>
          <a:bodyPr>
            <a:normAutofit fontScale="85000" lnSpcReduction="20000"/>
          </a:bodyPr>
          <a:lstStyle/>
          <a:p>
            <a:pPr algn="ctr"/>
            <a:r>
              <a:rPr lang="en-US" sz="5600" b="1" dirty="0"/>
              <a:t>Data overview</a:t>
            </a:r>
          </a:p>
          <a:p>
            <a:r>
              <a:rPr lang="en-IN" sz="2000" dirty="0"/>
              <a:t>Top 10 Guru on Call  , Earning and Rating</a:t>
            </a:r>
          </a:p>
          <a:p>
            <a:endParaRPr lang="en-IN" sz="1050" dirty="0"/>
          </a:p>
        </p:txBody>
      </p:sp>
      <p:graphicFrame>
        <p:nvGraphicFramePr>
          <p:cNvPr id="4" name="Table 3">
            <a:extLst>
              <a:ext uri="{FF2B5EF4-FFF2-40B4-BE49-F238E27FC236}">
                <a16:creationId xmlns:a16="http://schemas.microsoft.com/office/drawing/2014/main" id="{71723A4F-C091-7837-E362-D43C1BB6FFA8}"/>
              </a:ext>
            </a:extLst>
          </p:cNvPr>
          <p:cNvGraphicFramePr>
            <a:graphicFrameLocks noGrp="1"/>
          </p:cNvGraphicFramePr>
          <p:nvPr>
            <p:extLst>
              <p:ext uri="{D42A27DB-BD31-4B8C-83A1-F6EECF244321}">
                <p14:modId xmlns:p14="http://schemas.microsoft.com/office/powerpoint/2010/main" val="3414953144"/>
              </p:ext>
            </p:extLst>
          </p:nvPr>
        </p:nvGraphicFramePr>
        <p:xfrm>
          <a:off x="682906" y="1365813"/>
          <a:ext cx="5775768" cy="4919238"/>
        </p:xfrm>
        <a:graphic>
          <a:graphicData uri="http://schemas.openxmlformats.org/drawingml/2006/table">
            <a:tbl>
              <a:tblPr firstRow="1" bandRow="1">
                <a:tableStyleId>{00A15C55-8517-42AA-B614-E9B94910E393}</a:tableStyleId>
              </a:tblPr>
              <a:tblGrid>
                <a:gridCol w="1925256">
                  <a:extLst>
                    <a:ext uri="{9D8B030D-6E8A-4147-A177-3AD203B41FA5}">
                      <a16:colId xmlns:a16="http://schemas.microsoft.com/office/drawing/2014/main" val="2425167897"/>
                    </a:ext>
                  </a:extLst>
                </a:gridCol>
                <a:gridCol w="1925256">
                  <a:extLst>
                    <a:ext uri="{9D8B030D-6E8A-4147-A177-3AD203B41FA5}">
                      <a16:colId xmlns:a16="http://schemas.microsoft.com/office/drawing/2014/main" val="2531427667"/>
                    </a:ext>
                  </a:extLst>
                </a:gridCol>
                <a:gridCol w="1925256">
                  <a:extLst>
                    <a:ext uri="{9D8B030D-6E8A-4147-A177-3AD203B41FA5}">
                      <a16:colId xmlns:a16="http://schemas.microsoft.com/office/drawing/2014/main" val="3496258666"/>
                    </a:ext>
                  </a:extLst>
                </a:gridCol>
              </a:tblGrid>
              <a:tr h="444398">
                <a:tc>
                  <a:txBody>
                    <a:bodyPr/>
                    <a:lstStyle/>
                    <a:p>
                      <a:pPr algn="ctr" fontAlgn="b"/>
                      <a:r>
                        <a:rPr lang="en-IN" sz="1400" b="1" u="none" strike="noStrike" dirty="0">
                          <a:solidFill>
                            <a:schemeClr val="tx1"/>
                          </a:solidFill>
                          <a:effectLst/>
                        </a:rPr>
                        <a:t>Guru Name</a:t>
                      </a:r>
                      <a:endParaRPr lang="en-IN" sz="1400" b="1" i="0" u="none" strike="noStrike" dirty="0">
                        <a:solidFill>
                          <a:schemeClr val="tx1"/>
                        </a:solidFill>
                        <a:effectLst/>
                        <a:latin typeface="Rockwell" panose="02060603020205020403" pitchFamily="18" charset="0"/>
                      </a:endParaRPr>
                    </a:p>
                  </a:txBody>
                  <a:tcPr marL="9525" marR="9525" marT="9525" marB="0" anchor="b"/>
                </a:tc>
                <a:tc>
                  <a:txBody>
                    <a:bodyPr/>
                    <a:lstStyle/>
                    <a:p>
                      <a:pPr algn="ctr" fontAlgn="b"/>
                      <a:r>
                        <a:rPr lang="en-IN" sz="1400" b="1" u="none" strike="noStrike" dirty="0">
                          <a:solidFill>
                            <a:schemeClr val="tx1"/>
                          </a:solidFill>
                          <a:effectLst/>
                        </a:rPr>
                        <a:t>Sum of Call time Duration ( Minute )</a:t>
                      </a:r>
                      <a:endParaRPr lang="en-IN" sz="1400" b="1" i="0" u="none" strike="noStrike" dirty="0">
                        <a:solidFill>
                          <a:schemeClr val="tx1"/>
                        </a:solidFill>
                        <a:effectLst/>
                        <a:latin typeface="Rockwell" panose="02060603020205020403" pitchFamily="18" charset="0"/>
                      </a:endParaRPr>
                    </a:p>
                  </a:txBody>
                  <a:tcPr marL="9525" marR="9525" marT="9525" marB="0" anchor="b"/>
                </a:tc>
                <a:tc>
                  <a:txBody>
                    <a:bodyPr/>
                    <a:lstStyle/>
                    <a:p>
                      <a:pPr algn="ctr" fontAlgn="b"/>
                      <a:r>
                        <a:rPr lang="en-IN" sz="1400" b="1" u="none" strike="noStrike" dirty="0">
                          <a:solidFill>
                            <a:schemeClr val="tx1"/>
                          </a:solidFill>
                          <a:effectLst/>
                        </a:rPr>
                        <a:t>Sum of Astrologers Earnings</a:t>
                      </a:r>
                      <a:endParaRPr lang="en-IN" sz="1400" b="1" i="0" u="none" strike="noStrike" dirty="0">
                        <a:solidFill>
                          <a:schemeClr val="tx1"/>
                        </a:solidFill>
                        <a:effectLst/>
                        <a:latin typeface="Rockwell" panose="02060603020205020403" pitchFamily="18" charset="0"/>
                      </a:endParaRPr>
                    </a:p>
                  </a:txBody>
                  <a:tcPr marL="9525" marR="9525" marT="9525" marB="0" anchor="b"/>
                </a:tc>
                <a:extLst>
                  <a:ext uri="{0D108BD9-81ED-4DB2-BD59-A6C34878D82A}">
                    <a16:rowId xmlns:a16="http://schemas.microsoft.com/office/drawing/2014/main" val="3081845454"/>
                  </a:ext>
                </a:extLst>
              </a:tr>
              <a:tr h="444398">
                <a:tc>
                  <a:txBody>
                    <a:bodyPr/>
                    <a:lstStyle/>
                    <a:p>
                      <a:pPr algn="ctr" fontAlgn="b"/>
                      <a:r>
                        <a:rPr lang="en-IN" sz="1400" b="1" u="none" strike="noStrike" dirty="0">
                          <a:solidFill>
                            <a:schemeClr val="tx1"/>
                          </a:solidFill>
                          <a:effectLst/>
                        </a:rPr>
                        <a:t>Astro </a:t>
                      </a:r>
                      <a:r>
                        <a:rPr lang="en-IN" sz="1400" b="1" u="none" strike="noStrike" dirty="0" err="1">
                          <a:solidFill>
                            <a:schemeClr val="tx1"/>
                          </a:solidFill>
                          <a:effectLst/>
                        </a:rPr>
                        <a:t>Divya</a:t>
                      </a:r>
                      <a:endParaRPr lang="en-IN" sz="1400" b="1" i="0" u="none" strike="noStrike" dirty="0">
                        <a:solidFill>
                          <a:schemeClr val="tx1"/>
                        </a:solidFill>
                        <a:effectLst/>
                        <a:latin typeface="Rockwell" panose="02060603020205020403" pitchFamily="18" charset="0"/>
                      </a:endParaRPr>
                    </a:p>
                  </a:txBody>
                  <a:tcPr marL="9525" marR="9525" marT="9525" marB="0" anchor="b"/>
                </a:tc>
                <a:tc>
                  <a:txBody>
                    <a:bodyPr/>
                    <a:lstStyle/>
                    <a:p>
                      <a:pPr algn="ctr" fontAlgn="b"/>
                      <a:r>
                        <a:rPr lang="en-IN" sz="1400" b="1" u="none" strike="noStrike" dirty="0">
                          <a:solidFill>
                            <a:schemeClr val="tx1"/>
                          </a:solidFill>
                          <a:effectLst/>
                        </a:rPr>
                        <a:t>2358.846</a:t>
                      </a:r>
                      <a:endParaRPr lang="en-IN" sz="1400" b="1" i="0" u="none" strike="noStrike" dirty="0">
                        <a:solidFill>
                          <a:schemeClr val="tx1"/>
                        </a:solidFill>
                        <a:effectLst/>
                        <a:latin typeface="Rockwell" panose="02060603020205020403" pitchFamily="18" charset="0"/>
                      </a:endParaRPr>
                    </a:p>
                  </a:txBody>
                  <a:tcPr marL="9525" marR="9525" marT="9525" marB="0" anchor="b"/>
                </a:tc>
                <a:tc>
                  <a:txBody>
                    <a:bodyPr/>
                    <a:lstStyle/>
                    <a:p>
                      <a:pPr algn="ctr" fontAlgn="b"/>
                      <a:r>
                        <a:rPr lang="en-IN" sz="1400" b="1" u="none" strike="noStrike" dirty="0">
                          <a:solidFill>
                            <a:schemeClr val="tx1"/>
                          </a:solidFill>
                          <a:effectLst/>
                        </a:rPr>
                        <a:t>3696.9853</a:t>
                      </a:r>
                      <a:endParaRPr lang="en-IN" sz="1400" b="1" i="0" u="none" strike="noStrike" dirty="0">
                        <a:solidFill>
                          <a:schemeClr val="tx1"/>
                        </a:solidFill>
                        <a:effectLst/>
                        <a:latin typeface="Rockwell" panose="02060603020205020403" pitchFamily="18" charset="0"/>
                      </a:endParaRPr>
                    </a:p>
                  </a:txBody>
                  <a:tcPr marL="9525" marR="9525" marT="9525" marB="0" anchor="b"/>
                </a:tc>
                <a:extLst>
                  <a:ext uri="{0D108BD9-81ED-4DB2-BD59-A6C34878D82A}">
                    <a16:rowId xmlns:a16="http://schemas.microsoft.com/office/drawing/2014/main" val="3522042881"/>
                  </a:ext>
                </a:extLst>
              </a:tr>
              <a:tr h="444398">
                <a:tc>
                  <a:txBody>
                    <a:bodyPr/>
                    <a:lstStyle/>
                    <a:p>
                      <a:pPr algn="ctr" fontAlgn="b"/>
                      <a:r>
                        <a:rPr lang="en-IN" sz="1400" b="1" u="none" strike="noStrike" dirty="0">
                          <a:solidFill>
                            <a:schemeClr val="tx1"/>
                          </a:solidFill>
                          <a:effectLst/>
                        </a:rPr>
                        <a:t>Astro Ruchi</a:t>
                      </a:r>
                      <a:endParaRPr lang="en-IN" sz="1400" b="1" i="0" u="none" strike="noStrike" dirty="0">
                        <a:solidFill>
                          <a:schemeClr val="tx1"/>
                        </a:solidFill>
                        <a:effectLst/>
                        <a:latin typeface="Rockwell" panose="02060603020205020403" pitchFamily="18" charset="0"/>
                      </a:endParaRPr>
                    </a:p>
                  </a:txBody>
                  <a:tcPr marL="9525" marR="9525" marT="9525" marB="0" anchor="b"/>
                </a:tc>
                <a:tc>
                  <a:txBody>
                    <a:bodyPr/>
                    <a:lstStyle/>
                    <a:p>
                      <a:pPr algn="ctr" fontAlgn="b"/>
                      <a:r>
                        <a:rPr lang="en-IN" sz="1400" b="1" u="none" strike="noStrike" dirty="0">
                          <a:solidFill>
                            <a:schemeClr val="tx1"/>
                          </a:solidFill>
                          <a:effectLst/>
                        </a:rPr>
                        <a:t>2252.6342</a:t>
                      </a:r>
                      <a:endParaRPr lang="en-IN" sz="1400" b="1" i="0" u="none" strike="noStrike" dirty="0">
                        <a:solidFill>
                          <a:schemeClr val="tx1"/>
                        </a:solidFill>
                        <a:effectLst/>
                        <a:latin typeface="Rockwell" panose="02060603020205020403" pitchFamily="18" charset="0"/>
                      </a:endParaRPr>
                    </a:p>
                  </a:txBody>
                  <a:tcPr marL="9525" marR="9525" marT="9525" marB="0" anchor="b"/>
                </a:tc>
                <a:tc>
                  <a:txBody>
                    <a:bodyPr/>
                    <a:lstStyle/>
                    <a:p>
                      <a:pPr algn="ctr" fontAlgn="b"/>
                      <a:r>
                        <a:rPr lang="en-IN" sz="1400" b="1" u="none" strike="noStrike" dirty="0">
                          <a:solidFill>
                            <a:schemeClr val="tx1"/>
                          </a:solidFill>
                          <a:effectLst/>
                        </a:rPr>
                        <a:t>10274.658</a:t>
                      </a:r>
                      <a:endParaRPr lang="en-IN" sz="1400" b="1" i="0" u="none" strike="noStrike" dirty="0">
                        <a:solidFill>
                          <a:schemeClr val="tx1"/>
                        </a:solidFill>
                        <a:effectLst/>
                        <a:latin typeface="Rockwell" panose="02060603020205020403" pitchFamily="18" charset="0"/>
                      </a:endParaRPr>
                    </a:p>
                  </a:txBody>
                  <a:tcPr marL="9525" marR="9525" marT="9525" marB="0" anchor="b"/>
                </a:tc>
                <a:extLst>
                  <a:ext uri="{0D108BD9-81ED-4DB2-BD59-A6C34878D82A}">
                    <a16:rowId xmlns:a16="http://schemas.microsoft.com/office/drawing/2014/main" val="1762345045"/>
                  </a:ext>
                </a:extLst>
              </a:tr>
              <a:tr h="444398">
                <a:tc>
                  <a:txBody>
                    <a:bodyPr/>
                    <a:lstStyle/>
                    <a:p>
                      <a:pPr algn="ctr" fontAlgn="b"/>
                      <a:r>
                        <a:rPr lang="en-IN" sz="1400" b="1" u="none" strike="noStrike" dirty="0">
                          <a:solidFill>
                            <a:schemeClr val="tx1"/>
                          </a:solidFill>
                          <a:effectLst/>
                        </a:rPr>
                        <a:t>Astro Seema</a:t>
                      </a:r>
                      <a:endParaRPr lang="en-IN" sz="1400" b="1" i="0" u="none" strike="noStrike" dirty="0">
                        <a:solidFill>
                          <a:schemeClr val="tx1"/>
                        </a:solidFill>
                        <a:effectLst/>
                        <a:latin typeface="Rockwell" panose="02060603020205020403" pitchFamily="18" charset="0"/>
                      </a:endParaRPr>
                    </a:p>
                  </a:txBody>
                  <a:tcPr marL="9525" marR="9525" marT="9525" marB="0" anchor="b"/>
                </a:tc>
                <a:tc>
                  <a:txBody>
                    <a:bodyPr/>
                    <a:lstStyle/>
                    <a:p>
                      <a:pPr algn="ctr" fontAlgn="b"/>
                      <a:r>
                        <a:rPr lang="en-IN" sz="1400" b="1" u="none" strike="noStrike" dirty="0">
                          <a:solidFill>
                            <a:schemeClr val="tx1"/>
                          </a:solidFill>
                          <a:effectLst/>
                        </a:rPr>
                        <a:t>1531.569</a:t>
                      </a:r>
                      <a:endParaRPr lang="en-IN" sz="1400" b="1" i="0" u="none" strike="noStrike" dirty="0">
                        <a:solidFill>
                          <a:schemeClr val="tx1"/>
                        </a:solidFill>
                        <a:effectLst/>
                        <a:latin typeface="Rockwell" panose="02060603020205020403" pitchFamily="18" charset="0"/>
                      </a:endParaRPr>
                    </a:p>
                  </a:txBody>
                  <a:tcPr marL="9525" marR="9525" marT="9525" marB="0" anchor="b"/>
                </a:tc>
                <a:tc>
                  <a:txBody>
                    <a:bodyPr/>
                    <a:lstStyle/>
                    <a:p>
                      <a:pPr algn="ctr" fontAlgn="b"/>
                      <a:r>
                        <a:rPr lang="en-IN" sz="1400" b="1" u="none" strike="noStrike" dirty="0">
                          <a:solidFill>
                            <a:schemeClr val="tx1"/>
                          </a:solidFill>
                          <a:effectLst/>
                        </a:rPr>
                        <a:t>2690.8173</a:t>
                      </a:r>
                      <a:endParaRPr lang="en-IN" sz="1400" b="1" i="0" u="none" strike="noStrike" dirty="0">
                        <a:solidFill>
                          <a:schemeClr val="tx1"/>
                        </a:solidFill>
                        <a:effectLst/>
                        <a:latin typeface="Rockwell" panose="02060603020205020403" pitchFamily="18" charset="0"/>
                      </a:endParaRPr>
                    </a:p>
                  </a:txBody>
                  <a:tcPr marL="9525" marR="9525" marT="9525" marB="0" anchor="b"/>
                </a:tc>
                <a:extLst>
                  <a:ext uri="{0D108BD9-81ED-4DB2-BD59-A6C34878D82A}">
                    <a16:rowId xmlns:a16="http://schemas.microsoft.com/office/drawing/2014/main" val="830696087"/>
                  </a:ext>
                </a:extLst>
              </a:tr>
              <a:tr h="444398">
                <a:tc>
                  <a:txBody>
                    <a:bodyPr/>
                    <a:lstStyle/>
                    <a:p>
                      <a:pPr algn="ctr" fontAlgn="b"/>
                      <a:r>
                        <a:rPr lang="en-IN" sz="1400" b="1" u="none" strike="noStrike" dirty="0">
                          <a:solidFill>
                            <a:schemeClr val="tx1"/>
                          </a:solidFill>
                          <a:effectLst/>
                        </a:rPr>
                        <a:t>Astro Shalini</a:t>
                      </a:r>
                      <a:endParaRPr lang="en-IN" sz="1400" b="1" i="0" u="none" strike="noStrike" dirty="0">
                        <a:solidFill>
                          <a:schemeClr val="tx1"/>
                        </a:solidFill>
                        <a:effectLst/>
                        <a:latin typeface="Rockwell" panose="02060603020205020403" pitchFamily="18" charset="0"/>
                      </a:endParaRPr>
                    </a:p>
                  </a:txBody>
                  <a:tcPr marL="9525" marR="9525" marT="9525" marB="0" anchor="b"/>
                </a:tc>
                <a:tc>
                  <a:txBody>
                    <a:bodyPr/>
                    <a:lstStyle/>
                    <a:p>
                      <a:pPr algn="ctr" fontAlgn="b"/>
                      <a:r>
                        <a:rPr lang="en-IN" sz="1400" b="1" u="none" strike="noStrike" dirty="0">
                          <a:solidFill>
                            <a:schemeClr val="tx1"/>
                          </a:solidFill>
                          <a:effectLst/>
                        </a:rPr>
                        <a:t>2948.3075</a:t>
                      </a:r>
                      <a:endParaRPr lang="en-IN" sz="1400" b="1" i="0" u="none" strike="noStrike" dirty="0">
                        <a:solidFill>
                          <a:schemeClr val="tx1"/>
                        </a:solidFill>
                        <a:effectLst/>
                        <a:latin typeface="Rockwell" panose="02060603020205020403" pitchFamily="18" charset="0"/>
                      </a:endParaRPr>
                    </a:p>
                  </a:txBody>
                  <a:tcPr marL="9525" marR="9525" marT="9525" marB="0" anchor="b"/>
                </a:tc>
                <a:tc>
                  <a:txBody>
                    <a:bodyPr/>
                    <a:lstStyle/>
                    <a:p>
                      <a:pPr algn="ctr" fontAlgn="b"/>
                      <a:r>
                        <a:rPr lang="en-IN" sz="1400" b="1" u="none" strike="noStrike" dirty="0">
                          <a:solidFill>
                            <a:schemeClr val="tx1"/>
                          </a:solidFill>
                          <a:effectLst/>
                        </a:rPr>
                        <a:t>6807.6067</a:t>
                      </a:r>
                      <a:endParaRPr lang="en-IN" sz="1400" b="1" i="0" u="none" strike="noStrike" dirty="0">
                        <a:solidFill>
                          <a:schemeClr val="tx1"/>
                        </a:solidFill>
                        <a:effectLst/>
                        <a:latin typeface="Rockwell" panose="02060603020205020403" pitchFamily="18" charset="0"/>
                      </a:endParaRPr>
                    </a:p>
                  </a:txBody>
                  <a:tcPr marL="9525" marR="9525" marT="9525" marB="0" anchor="b"/>
                </a:tc>
                <a:extLst>
                  <a:ext uri="{0D108BD9-81ED-4DB2-BD59-A6C34878D82A}">
                    <a16:rowId xmlns:a16="http://schemas.microsoft.com/office/drawing/2014/main" val="1309827926"/>
                  </a:ext>
                </a:extLst>
              </a:tr>
              <a:tr h="444398">
                <a:tc>
                  <a:txBody>
                    <a:bodyPr/>
                    <a:lstStyle/>
                    <a:p>
                      <a:pPr algn="ctr" fontAlgn="b"/>
                      <a:r>
                        <a:rPr lang="en-IN" sz="1400" b="1" u="none" strike="noStrike" dirty="0">
                          <a:solidFill>
                            <a:schemeClr val="tx1"/>
                          </a:solidFill>
                          <a:effectLst/>
                        </a:rPr>
                        <a:t>Astro Sonam S</a:t>
                      </a:r>
                      <a:endParaRPr lang="en-IN" sz="1400" b="1" i="0" u="none" strike="noStrike" dirty="0">
                        <a:solidFill>
                          <a:schemeClr val="tx1"/>
                        </a:solidFill>
                        <a:effectLst/>
                        <a:latin typeface="Rockwell" panose="02060603020205020403" pitchFamily="18" charset="0"/>
                      </a:endParaRPr>
                    </a:p>
                  </a:txBody>
                  <a:tcPr marL="9525" marR="9525" marT="9525" marB="0" anchor="b"/>
                </a:tc>
                <a:tc>
                  <a:txBody>
                    <a:bodyPr/>
                    <a:lstStyle/>
                    <a:p>
                      <a:pPr algn="ctr" fontAlgn="b"/>
                      <a:r>
                        <a:rPr lang="en-IN" sz="1400" b="1" u="none" strike="noStrike" dirty="0">
                          <a:solidFill>
                            <a:schemeClr val="tx1"/>
                          </a:solidFill>
                          <a:effectLst/>
                        </a:rPr>
                        <a:t>1978.9112</a:t>
                      </a:r>
                      <a:endParaRPr lang="en-IN" sz="1400" b="1" i="0" u="none" strike="noStrike" dirty="0">
                        <a:solidFill>
                          <a:schemeClr val="tx1"/>
                        </a:solidFill>
                        <a:effectLst/>
                        <a:latin typeface="Rockwell" panose="02060603020205020403" pitchFamily="18" charset="0"/>
                      </a:endParaRPr>
                    </a:p>
                  </a:txBody>
                  <a:tcPr marL="9525" marR="9525" marT="9525" marB="0" anchor="b"/>
                </a:tc>
                <a:tc>
                  <a:txBody>
                    <a:bodyPr/>
                    <a:lstStyle/>
                    <a:p>
                      <a:pPr algn="ctr" fontAlgn="b"/>
                      <a:r>
                        <a:rPr lang="en-IN" sz="1400" b="1" u="none" strike="noStrike" dirty="0">
                          <a:solidFill>
                            <a:schemeClr val="tx1"/>
                          </a:solidFill>
                          <a:effectLst/>
                        </a:rPr>
                        <a:t>2907.4947</a:t>
                      </a:r>
                      <a:endParaRPr lang="en-IN" sz="1400" b="1" i="0" u="none" strike="noStrike" dirty="0">
                        <a:solidFill>
                          <a:schemeClr val="tx1"/>
                        </a:solidFill>
                        <a:effectLst/>
                        <a:latin typeface="Rockwell" panose="02060603020205020403" pitchFamily="18" charset="0"/>
                      </a:endParaRPr>
                    </a:p>
                  </a:txBody>
                  <a:tcPr marL="9525" marR="9525" marT="9525" marB="0" anchor="b"/>
                </a:tc>
                <a:extLst>
                  <a:ext uri="{0D108BD9-81ED-4DB2-BD59-A6C34878D82A}">
                    <a16:rowId xmlns:a16="http://schemas.microsoft.com/office/drawing/2014/main" val="1247908388"/>
                  </a:ext>
                </a:extLst>
              </a:tr>
              <a:tr h="450570">
                <a:tc>
                  <a:txBody>
                    <a:bodyPr/>
                    <a:lstStyle/>
                    <a:p>
                      <a:pPr algn="ctr" fontAlgn="b"/>
                      <a:r>
                        <a:rPr lang="en-IN" sz="1400" b="1" u="none" strike="noStrike" dirty="0">
                          <a:solidFill>
                            <a:schemeClr val="tx1"/>
                          </a:solidFill>
                          <a:effectLst/>
                        </a:rPr>
                        <a:t>Dr </a:t>
                      </a:r>
                      <a:r>
                        <a:rPr lang="en-IN" sz="1400" b="1" u="none" strike="noStrike" dirty="0" err="1">
                          <a:solidFill>
                            <a:schemeClr val="tx1"/>
                          </a:solidFill>
                          <a:effectLst/>
                        </a:rPr>
                        <a:t>Balkrisna</a:t>
                      </a:r>
                      <a:endParaRPr lang="en-IN" sz="1400" b="1" i="0" u="none" strike="noStrike" dirty="0">
                        <a:solidFill>
                          <a:schemeClr val="tx1"/>
                        </a:solidFill>
                        <a:effectLst/>
                        <a:latin typeface="Rockwell" panose="02060603020205020403" pitchFamily="18" charset="0"/>
                      </a:endParaRPr>
                    </a:p>
                  </a:txBody>
                  <a:tcPr marL="9525" marR="9525" marT="9525" marB="0" anchor="b"/>
                </a:tc>
                <a:tc>
                  <a:txBody>
                    <a:bodyPr/>
                    <a:lstStyle/>
                    <a:p>
                      <a:pPr algn="ctr" fontAlgn="b"/>
                      <a:r>
                        <a:rPr lang="en-IN" sz="1400" b="1" u="none" strike="noStrike" dirty="0">
                          <a:solidFill>
                            <a:schemeClr val="tx1"/>
                          </a:solidFill>
                          <a:effectLst/>
                        </a:rPr>
                        <a:t>1323.6726</a:t>
                      </a:r>
                      <a:endParaRPr lang="en-IN" sz="1400" b="1" i="0" u="none" strike="noStrike" dirty="0">
                        <a:solidFill>
                          <a:schemeClr val="tx1"/>
                        </a:solidFill>
                        <a:effectLst/>
                        <a:latin typeface="Rockwell" panose="02060603020205020403" pitchFamily="18" charset="0"/>
                      </a:endParaRPr>
                    </a:p>
                  </a:txBody>
                  <a:tcPr marL="9525" marR="9525" marT="9525" marB="0" anchor="b"/>
                </a:tc>
                <a:tc>
                  <a:txBody>
                    <a:bodyPr/>
                    <a:lstStyle/>
                    <a:p>
                      <a:pPr algn="ctr" fontAlgn="b"/>
                      <a:r>
                        <a:rPr lang="en-IN" sz="1400" b="1" u="none" strike="noStrike" dirty="0">
                          <a:solidFill>
                            <a:schemeClr val="tx1"/>
                          </a:solidFill>
                          <a:effectLst/>
                        </a:rPr>
                        <a:t>15910.208</a:t>
                      </a:r>
                      <a:endParaRPr lang="en-IN" sz="1400" b="1" i="0" u="none" strike="noStrike" dirty="0">
                        <a:solidFill>
                          <a:schemeClr val="tx1"/>
                        </a:solidFill>
                        <a:effectLst/>
                        <a:latin typeface="Rockwell" panose="02060603020205020403" pitchFamily="18" charset="0"/>
                      </a:endParaRPr>
                    </a:p>
                  </a:txBody>
                  <a:tcPr marL="9525" marR="9525" marT="9525" marB="0" anchor="b"/>
                </a:tc>
                <a:extLst>
                  <a:ext uri="{0D108BD9-81ED-4DB2-BD59-A6C34878D82A}">
                    <a16:rowId xmlns:a16="http://schemas.microsoft.com/office/drawing/2014/main" val="985213085"/>
                  </a:ext>
                </a:extLst>
              </a:tr>
              <a:tr h="450570">
                <a:tc>
                  <a:txBody>
                    <a:bodyPr/>
                    <a:lstStyle/>
                    <a:p>
                      <a:pPr algn="ctr" fontAlgn="b"/>
                      <a:r>
                        <a:rPr lang="en-IN" sz="1400" b="1" u="none" strike="noStrike" dirty="0">
                          <a:solidFill>
                            <a:schemeClr val="tx1"/>
                          </a:solidFill>
                          <a:effectLst/>
                        </a:rPr>
                        <a:t>Tarot Ari</a:t>
                      </a:r>
                      <a:endParaRPr lang="en-IN" sz="1400" b="1" i="0" u="none" strike="noStrike" dirty="0">
                        <a:solidFill>
                          <a:schemeClr val="tx1"/>
                        </a:solidFill>
                        <a:effectLst/>
                        <a:latin typeface="Rockwell" panose="02060603020205020403" pitchFamily="18" charset="0"/>
                      </a:endParaRPr>
                    </a:p>
                  </a:txBody>
                  <a:tcPr marL="9525" marR="9525" marT="9525" marB="0" anchor="b"/>
                </a:tc>
                <a:tc>
                  <a:txBody>
                    <a:bodyPr/>
                    <a:lstStyle/>
                    <a:p>
                      <a:pPr algn="ctr" fontAlgn="b"/>
                      <a:r>
                        <a:rPr lang="en-IN" sz="1400" b="1" u="none" strike="noStrike" dirty="0">
                          <a:solidFill>
                            <a:schemeClr val="tx1"/>
                          </a:solidFill>
                          <a:effectLst/>
                        </a:rPr>
                        <a:t>1085.7309</a:t>
                      </a:r>
                      <a:endParaRPr lang="en-IN" sz="1400" b="1" i="0" u="none" strike="noStrike" dirty="0">
                        <a:solidFill>
                          <a:schemeClr val="tx1"/>
                        </a:solidFill>
                        <a:effectLst/>
                        <a:latin typeface="Rockwell" panose="02060603020205020403" pitchFamily="18" charset="0"/>
                      </a:endParaRPr>
                    </a:p>
                  </a:txBody>
                  <a:tcPr marL="9525" marR="9525" marT="9525" marB="0" anchor="b"/>
                </a:tc>
                <a:tc>
                  <a:txBody>
                    <a:bodyPr/>
                    <a:lstStyle/>
                    <a:p>
                      <a:pPr algn="ctr" fontAlgn="b"/>
                      <a:r>
                        <a:rPr lang="en-IN" sz="1400" b="1" u="none" strike="noStrike" dirty="0">
                          <a:solidFill>
                            <a:schemeClr val="tx1"/>
                          </a:solidFill>
                          <a:effectLst/>
                        </a:rPr>
                        <a:t>2222.5587</a:t>
                      </a:r>
                      <a:endParaRPr lang="en-IN" sz="1400" b="1" i="0" u="none" strike="noStrike" dirty="0">
                        <a:solidFill>
                          <a:schemeClr val="tx1"/>
                        </a:solidFill>
                        <a:effectLst/>
                        <a:latin typeface="Rockwell" panose="02060603020205020403" pitchFamily="18" charset="0"/>
                      </a:endParaRPr>
                    </a:p>
                  </a:txBody>
                  <a:tcPr marL="9525" marR="9525" marT="9525" marB="0" anchor="b"/>
                </a:tc>
                <a:extLst>
                  <a:ext uri="{0D108BD9-81ED-4DB2-BD59-A6C34878D82A}">
                    <a16:rowId xmlns:a16="http://schemas.microsoft.com/office/drawing/2014/main" val="972551144"/>
                  </a:ext>
                </a:extLst>
              </a:tr>
              <a:tr h="450570">
                <a:tc>
                  <a:txBody>
                    <a:bodyPr/>
                    <a:lstStyle/>
                    <a:p>
                      <a:pPr algn="ctr" fontAlgn="b"/>
                      <a:r>
                        <a:rPr lang="en-IN" sz="1400" b="1" u="none" strike="noStrike" dirty="0">
                          <a:solidFill>
                            <a:schemeClr val="tx1"/>
                          </a:solidFill>
                          <a:effectLst/>
                        </a:rPr>
                        <a:t>Tarot Bee Riya</a:t>
                      </a:r>
                      <a:endParaRPr lang="en-IN" sz="1400" b="1" i="0" u="none" strike="noStrike" dirty="0">
                        <a:solidFill>
                          <a:schemeClr val="tx1"/>
                        </a:solidFill>
                        <a:effectLst/>
                        <a:latin typeface="Rockwell" panose="02060603020205020403" pitchFamily="18" charset="0"/>
                      </a:endParaRPr>
                    </a:p>
                  </a:txBody>
                  <a:tcPr marL="9525" marR="9525" marT="9525" marB="0" anchor="b"/>
                </a:tc>
                <a:tc>
                  <a:txBody>
                    <a:bodyPr/>
                    <a:lstStyle/>
                    <a:p>
                      <a:pPr algn="ctr" fontAlgn="b"/>
                      <a:r>
                        <a:rPr lang="en-IN" sz="1400" b="1" u="none" strike="noStrike" dirty="0">
                          <a:solidFill>
                            <a:schemeClr val="tx1"/>
                          </a:solidFill>
                          <a:effectLst/>
                        </a:rPr>
                        <a:t>359.5957</a:t>
                      </a:r>
                      <a:endParaRPr lang="en-IN" sz="1400" b="1" i="0" u="none" strike="noStrike" dirty="0">
                        <a:solidFill>
                          <a:schemeClr val="tx1"/>
                        </a:solidFill>
                        <a:effectLst/>
                        <a:latin typeface="Rockwell" panose="02060603020205020403" pitchFamily="18" charset="0"/>
                      </a:endParaRPr>
                    </a:p>
                  </a:txBody>
                  <a:tcPr marL="9525" marR="9525" marT="9525" marB="0" anchor="b"/>
                </a:tc>
                <a:tc>
                  <a:txBody>
                    <a:bodyPr/>
                    <a:lstStyle/>
                    <a:p>
                      <a:pPr algn="ctr" fontAlgn="b"/>
                      <a:r>
                        <a:rPr lang="en-IN" sz="1400" b="1" u="none" strike="noStrike" dirty="0">
                          <a:solidFill>
                            <a:schemeClr val="tx1"/>
                          </a:solidFill>
                          <a:effectLst/>
                        </a:rPr>
                        <a:t>2178.7125</a:t>
                      </a:r>
                      <a:endParaRPr lang="en-IN" sz="1400" b="1" i="0" u="none" strike="noStrike" dirty="0">
                        <a:solidFill>
                          <a:schemeClr val="tx1"/>
                        </a:solidFill>
                        <a:effectLst/>
                        <a:latin typeface="Rockwell" panose="02060603020205020403" pitchFamily="18" charset="0"/>
                      </a:endParaRPr>
                    </a:p>
                  </a:txBody>
                  <a:tcPr marL="9525" marR="9525" marT="9525" marB="0" anchor="b"/>
                </a:tc>
                <a:extLst>
                  <a:ext uri="{0D108BD9-81ED-4DB2-BD59-A6C34878D82A}">
                    <a16:rowId xmlns:a16="http://schemas.microsoft.com/office/drawing/2014/main" val="2573917355"/>
                  </a:ext>
                </a:extLst>
              </a:tr>
              <a:tr h="450570">
                <a:tc>
                  <a:txBody>
                    <a:bodyPr/>
                    <a:lstStyle/>
                    <a:p>
                      <a:pPr algn="ctr" fontAlgn="b"/>
                      <a:r>
                        <a:rPr lang="en-IN" sz="1400" b="1" u="none" strike="noStrike" dirty="0">
                          <a:solidFill>
                            <a:schemeClr val="tx1"/>
                          </a:solidFill>
                          <a:effectLst/>
                        </a:rPr>
                        <a:t>Tarot Rupika</a:t>
                      </a:r>
                      <a:endParaRPr lang="en-IN" sz="1400" b="1" i="0" u="none" strike="noStrike" dirty="0">
                        <a:solidFill>
                          <a:schemeClr val="tx1"/>
                        </a:solidFill>
                        <a:effectLst/>
                        <a:latin typeface="Rockwell" panose="02060603020205020403" pitchFamily="18" charset="0"/>
                      </a:endParaRPr>
                    </a:p>
                  </a:txBody>
                  <a:tcPr marL="9525" marR="9525" marT="9525" marB="0" anchor="b"/>
                </a:tc>
                <a:tc>
                  <a:txBody>
                    <a:bodyPr/>
                    <a:lstStyle/>
                    <a:p>
                      <a:pPr algn="ctr" fontAlgn="b"/>
                      <a:r>
                        <a:rPr lang="en-IN" sz="1400" b="1" u="none" strike="noStrike" dirty="0">
                          <a:solidFill>
                            <a:schemeClr val="tx1"/>
                          </a:solidFill>
                          <a:effectLst/>
                        </a:rPr>
                        <a:t>936.616</a:t>
                      </a:r>
                      <a:endParaRPr lang="en-IN" sz="1400" b="1" i="0" u="none" strike="noStrike" dirty="0">
                        <a:solidFill>
                          <a:schemeClr val="tx1"/>
                        </a:solidFill>
                        <a:effectLst/>
                        <a:latin typeface="Rockwell" panose="02060603020205020403" pitchFamily="18" charset="0"/>
                      </a:endParaRPr>
                    </a:p>
                  </a:txBody>
                  <a:tcPr marL="9525" marR="9525" marT="9525" marB="0" anchor="b"/>
                </a:tc>
                <a:tc>
                  <a:txBody>
                    <a:bodyPr/>
                    <a:lstStyle/>
                    <a:p>
                      <a:pPr algn="ctr" fontAlgn="b"/>
                      <a:r>
                        <a:rPr lang="en-IN" sz="1400" b="1" u="none" strike="noStrike" dirty="0">
                          <a:solidFill>
                            <a:schemeClr val="tx1"/>
                          </a:solidFill>
                          <a:effectLst/>
                        </a:rPr>
                        <a:t>2198.75</a:t>
                      </a:r>
                      <a:endParaRPr lang="en-IN" sz="1400" b="1" i="0" u="none" strike="noStrike" dirty="0">
                        <a:solidFill>
                          <a:schemeClr val="tx1"/>
                        </a:solidFill>
                        <a:effectLst/>
                        <a:latin typeface="Rockwell" panose="02060603020205020403" pitchFamily="18" charset="0"/>
                      </a:endParaRPr>
                    </a:p>
                  </a:txBody>
                  <a:tcPr marL="9525" marR="9525" marT="9525" marB="0" anchor="b"/>
                </a:tc>
                <a:extLst>
                  <a:ext uri="{0D108BD9-81ED-4DB2-BD59-A6C34878D82A}">
                    <a16:rowId xmlns:a16="http://schemas.microsoft.com/office/drawing/2014/main" val="2634804371"/>
                  </a:ext>
                </a:extLst>
              </a:tr>
              <a:tr h="450570">
                <a:tc>
                  <a:txBody>
                    <a:bodyPr/>
                    <a:lstStyle/>
                    <a:p>
                      <a:pPr algn="ctr" fontAlgn="b"/>
                      <a:r>
                        <a:rPr lang="en-IN" sz="1400" b="1" u="none" strike="noStrike" dirty="0">
                          <a:solidFill>
                            <a:schemeClr val="tx1"/>
                          </a:solidFill>
                          <a:effectLst/>
                        </a:rPr>
                        <a:t>Usha </a:t>
                      </a:r>
                      <a:r>
                        <a:rPr lang="en-IN" sz="1400" b="1" u="none" strike="noStrike" dirty="0" err="1">
                          <a:solidFill>
                            <a:schemeClr val="tx1"/>
                          </a:solidFill>
                          <a:effectLst/>
                        </a:rPr>
                        <a:t>Siingh</a:t>
                      </a:r>
                      <a:endParaRPr lang="en-IN" sz="1400" b="1" i="0" u="none" strike="noStrike" dirty="0">
                        <a:solidFill>
                          <a:schemeClr val="tx1"/>
                        </a:solidFill>
                        <a:effectLst/>
                        <a:latin typeface="Rockwell" panose="02060603020205020403" pitchFamily="18" charset="0"/>
                      </a:endParaRPr>
                    </a:p>
                  </a:txBody>
                  <a:tcPr marL="9525" marR="9525" marT="9525" marB="0" anchor="b"/>
                </a:tc>
                <a:tc>
                  <a:txBody>
                    <a:bodyPr/>
                    <a:lstStyle/>
                    <a:p>
                      <a:pPr algn="ctr" fontAlgn="b"/>
                      <a:r>
                        <a:rPr lang="en-IN" sz="1400" b="1" u="none" strike="noStrike" dirty="0">
                          <a:solidFill>
                            <a:schemeClr val="tx1"/>
                          </a:solidFill>
                          <a:effectLst/>
                        </a:rPr>
                        <a:t>186.8486</a:t>
                      </a:r>
                      <a:endParaRPr lang="en-IN" sz="1400" b="1" i="0" u="none" strike="noStrike" dirty="0">
                        <a:solidFill>
                          <a:schemeClr val="tx1"/>
                        </a:solidFill>
                        <a:effectLst/>
                        <a:latin typeface="Rockwell" panose="02060603020205020403" pitchFamily="18" charset="0"/>
                      </a:endParaRPr>
                    </a:p>
                  </a:txBody>
                  <a:tcPr marL="9525" marR="9525" marT="9525" marB="0" anchor="b"/>
                </a:tc>
                <a:tc>
                  <a:txBody>
                    <a:bodyPr/>
                    <a:lstStyle/>
                    <a:p>
                      <a:pPr algn="ctr" fontAlgn="b"/>
                      <a:r>
                        <a:rPr lang="en-IN" sz="1400" b="1" u="none" strike="noStrike" dirty="0">
                          <a:solidFill>
                            <a:schemeClr val="tx1"/>
                          </a:solidFill>
                          <a:effectLst/>
                        </a:rPr>
                        <a:t>2870.2667</a:t>
                      </a:r>
                      <a:endParaRPr lang="en-IN" sz="1400" b="1" i="0" u="none" strike="noStrike" dirty="0">
                        <a:solidFill>
                          <a:schemeClr val="tx1"/>
                        </a:solidFill>
                        <a:effectLst/>
                        <a:latin typeface="Rockwell" panose="02060603020205020403" pitchFamily="18" charset="0"/>
                      </a:endParaRPr>
                    </a:p>
                  </a:txBody>
                  <a:tcPr marL="9525" marR="9525" marT="9525" marB="0" anchor="b"/>
                </a:tc>
                <a:extLst>
                  <a:ext uri="{0D108BD9-81ED-4DB2-BD59-A6C34878D82A}">
                    <a16:rowId xmlns:a16="http://schemas.microsoft.com/office/drawing/2014/main" val="1756314750"/>
                  </a:ext>
                </a:extLst>
              </a:tr>
            </a:tbl>
          </a:graphicData>
        </a:graphic>
      </p:graphicFrame>
      <p:graphicFrame>
        <p:nvGraphicFramePr>
          <p:cNvPr id="5" name="Table 4">
            <a:extLst>
              <a:ext uri="{FF2B5EF4-FFF2-40B4-BE49-F238E27FC236}">
                <a16:creationId xmlns:a16="http://schemas.microsoft.com/office/drawing/2014/main" id="{43CC954B-9675-257D-5EC5-E0717F59B7C3}"/>
              </a:ext>
            </a:extLst>
          </p:cNvPr>
          <p:cNvGraphicFramePr>
            <a:graphicFrameLocks noGrp="1"/>
          </p:cNvGraphicFramePr>
          <p:nvPr>
            <p:extLst>
              <p:ext uri="{D42A27DB-BD31-4B8C-83A1-F6EECF244321}">
                <p14:modId xmlns:p14="http://schemas.microsoft.com/office/powerpoint/2010/main" val="3193855557"/>
              </p:ext>
            </p:extLst>
          </p:nvPr>
        </p:nvGraphicFramePr>
        <p:xfrm>
          <a:off x="6470249" y="1365810"/>
          <a:ext cx="1956121" cy="4919233"/>
        </p:xfrm>
        <a:graphic>
          <a:graphicData uri="http://schemas.openxmlformats.org/drawingml/2006/table">
            <a:tbl>
              <a:tblPr firstRow="1" bandRow="1">
                <a:tableStyleId>{00A15C55-8517-42AA-B614-E9B94910E393}</a:tableStyleId>
              </a:tblPr>
              <a:tblGrid>
                <a:gridCol w="1956121">
                  <a:extLst>
                    <a:ext uri="{9D8B030D-6E8A-4147-A177-3AD203B41FA5}">
                      <a16:colId xmlns:a16="http://schemas.microsoft.com/office/drawing/2014/main" val="341727425"/>
                    </a:ext>
                  </a:extLst>
                </a:gridCol>
              </a:tblGrid>
              <a:tr h="447203">
                <a:tc>
                  <a:txBody>
                    <a:bodyPr/>
                    <a:lstStyle/>
                    <a:p>
                      <a:pPr algn="ctr" fontAlgn="b"/>
                      <a:r>
                        <a:rPr lang="en-IN" sz="1400" b="1" u="none" strike="noStrike" dirty="0">
                          <a:solidFill>
                            <a:schemeClr val="tx1"/>
                          </a:solidFill>
                          <a:effectLst/>
                        </a:rPr>
                        <a:t>Average of rating</a:t>
                      </a:r>
                      <a:endParaRPr lang="en-IN" sz="1400" b="1" i="0" u="none" strike="noStrike" dirty="0">
                        <a:solidFill>
                          <a:schemeClr val="tx1"/>
                        </a:solidFill>
                        <a:effectLst/>
                        <a:latin typeface="Rockwell" panose="02060603020205020403" pitchFamily="18" charset="0"/>
                      </a:endParaRPr>
                    </a:p>
                  </a:txBody>
                  <a:tcPr marL="9525" marR="9525" marT="9525" marB="0" anchor="b"/>
                </a:tc>
                <a:extLst>
                  <a:ext uri="{0D108BD9-81ED-4DB2-BD59-A6C34878D82A}">
                    <a16:rowId xmlns:a16="http://schemas.microsoft.com/office/drawing/2014/main" val="3220762214"/>
                  </a:ext>
                </a:extLst>
              </a:tr>
              <a:tr h="447203">
                <a:tc>
                  <a:txBody>
                    <a:bodyPr/>
                    <a:lstStyle/>
                    <a:p>
                      <a:pPr algn="ctr" fontAlgn="b"/>
                      <a:r>
                        <a:rPr lang="en-IN" sz="1400" b="1" u="none" strike="noStrike" dirty="0">
                          <a:solidFill>
                            <a:schemeClr val="tx1"/>
                          </a:solidFill>
                          <a:effectLst/>
                        </a:rPr>
                        <a:t>3.479166667</a:t>
                      </a:r>
                      <a:endParaRPr lang="en-IN" sz="1400" b="1" i="0" u="none" strike="noStrike" dirty="0">
                        <a:solidFill>
                          <a:schemeClr val="tx1"/>
                        </a:solidFill>
                        <a:effectLst/>
                        <a:latin typeface="Rockwell" panose="02060603020205020403" pitchFamily="18" charset="0"/>
                      </a:endParaRPr>
                    </a:p>
                  </a:txBody>
                  <a:tcPr marL="9525" marR="9525" marT="9525" marB="0" anchor="b"/>
                </a:tc>
                <a:extLst>
                  <a:ext uri="{0D108BD9-81ED-4DB2-BD59-A6C34878D82A}">
                    <a16:rowId xmlns:a16="http://schemas.microsoft.com/office/drawing/2014/main" val="2151450871"/>
                  </a:ext>
                </a:extLst>
              </a:tr>
              <a:tr h="447203">
                <a:tc>
                  <a:txBody>
                    <a:bodyPr/>
                    <a:lstStyle/>
                    <a:p>
                      <a:pPr algn="ctr" fontAlgn="b"/>
                      <a:r>
                        <a:rPr lang="en-IN" sz="1400" b="1" u="none" strike="noStrike" dirty="0">
                          <a:solidFill>
                            <a:schemeClr val="tx1"/>
                          </a:solidFill>
                          <a:effectLst/>
                        </a:rPr>
                        <a:t>4.442728443</a:t>
                      </a:r>
                      <a:endParaRPr lang="en-IN" sz="1400" b="1" i="0" u="none" strike="noStrike" dirty="0">
                        <a:solidFill>
                          <a:schemeClr val="tx1"/>
                        </a:solidFill>
                        <a:effectLst/>
                        <a:latin typeface="Rockwell" panose="02060603020205020403" pitchFamily="18" charset="0"/>
                      </a:endParaRPr>
                    </a:p>
                  </a:txBody>
                  <a:tcPr marL="9525" marR="9525" marT="9525" marB="0" anchor="b"/>
                </a:tc>
                <a:extLst>
                  <a:ext uri="{0D108BD9-81ED-4DB2-BD59-A6C34878D82A}">
                    <a16:rowId xmlns:a16="http://schemas.microsoft.com/office/drawing/2014/main" val="1676643743"/>
                  </a:ext>
                </a:extLst>
              </a:tr>
              <a:tr h="447203">
                <a:tc>
                  <a:txBody>
                    <a:bodyPr/>
                    <a:lstStyle/>
                    <a:p>
                      <a:pPr algn="ctr" fontAlgn="b"/>
                      <a:r>
                        <a:rPr lang="en-IN" sz="1400" b="1" u="none" strike="noStrike" dirty="0">
                          <a:solidFill>
                            <a:schemeClr val="tx1"/>
                          </a:solidFill>
                          <a:effectLst/>
                        </a:rPr>
                        <a:t>3.398347107</a:t>
                      </a:r>
                      <a:endParaRPr lang="en-IN" sz="1400" b="1" i="0" u="none" strike="noStrike" dirty="0">
                        <a:solidFill>
                          <a:schemeClr val="tx1"/>
                        </a:solidFill>
                        <a:effectLst/>
                        <a:latin typeface="Rockwell" panose="02060603020205020403" pitchFamily="18" charset="0"/>
                      </a:endParaRPr>
                    </a:p>
                  </a:txBody>
                  <a:tcPr marL="9525" marR="9525" marT="9525" marB="0" anchor="b"/>
                </a:tc>
                <a:extLst>
                  <a:ext uri="{0D108BD9-81ED-4DB2-BD59-A6C34878D82A}">
                    <a16:rowId xmlns:a16="http://schemas.microsoft.com/office/drawing/2014/main" val="1400829827"/>
                  </a:ext>
                </a:extLst>
              </a:tr>
              <a:tr h="447203">
                <a:tc>
                  <a:txBody>
                    <a:bodyPr/>
                    <a:lstStyle/>
                    <a:p>
                      <a:pPr algn="ctr" fontAlgn="b"/>
                      <a:r>
                        <a:rPr lang="en-IN" sz="1400" b="1" u="none" strike="noStrike" dirty="0">
                          <a:solidFill>
                            <a:schemeClr val="tx1"/>
                          </a:solidFill>
                          <a:effectLst/>
                        </a:rPr>
                        <a:t>3.417108251</a:t>
                      </a:r>
                      <a:endParaRPr lang="en-IN" sz="1400" b="1" i="0" u="none" strike="noStrike" dirty="0">
                        <a:solidFill>
                          <a:schemeClr val="tx1"/>
                        </a:solidFill>
                        <a:effectLst/>
                        <a:latin typeface="Rockwell" panose="02060603020205020403" pitchFamily="18" charset="0"/>
                      </a:endParaRPr>
                    </a:p>
                  </a:txBody>
                  <a:tcPr marL="9525" marR="9525" marT="9525" marB="0" anchor="b"/>
                </a:tc>
                <a:extLst>
                  <a:ext uri="{0D108BD9-81ED-4DB2-BD59-A6C34878D82A}">
                    <a16:rowId xmlns:a16="http://schemas.microsoft.com/office/drawing/2014/main" val="1674287376"/>
                  </a:ext>
                </a:extLst>
              </a:tr>
              <a:tr h="447203">
                <a:tc>
                  <a:txBody>
                    <a:bodyPr/>
                    <a:lstStyle/>
                    <a:p>
                      <a:pPr algn="ctr" fontAlgn="b"/>
                      <a:r>
                        <a:rPr lang="en-IN" sz="1400" b="1" u="none" strike="noStrike" dirty="0">
                          <a:solidFill>
                            <a:schemeClr val="tx1"/>
                          </a:solidFill>
                          <a:effectLst/>
                        </a:rPr>
                        <a:t>3.719414894</a:t>
                      </a:r>
                      <a:endParaRPr lang="en-IN" sz="1400" b="1" i="0" u="none" strike="noStrike" dirty="0">
                        <a:solidFill>
                          <a:schemeClr val="tx1"/>
                        </a:solidFill>
                        <a:effectLst/>
                        <a:latin typeface="Rockwell" panose="02060603020205020403" pitchFamily="18" charset="0"/>
                      </a:endParaRPr>
                    </a:p>
                  </a:txBody>
                  <a:tcPr marL="9525" marR="9525" marT="9525" marB="0" anchor="b"/>
                </a:tc>
                <a:extLst>
                  <a:ext uri="{0D108BD9-81ED-4DB2-BD59-A6C34878D82A}">
                    <a16:rowId xmlns:a16="http://schemas.microsoft.com/office/drawing/2014/main" val="1350877798"/>
                  </a:ext>
                </a:extLst>
              </a:tr>
              <a:tr h="447203">
                <a:tc>
                  <a:txBody>
                    <a:bodyPr/>
                    <a:lstStyle/>
                    <a:p>
                      <a:pPr algn="ctr" fontAlgn="b"/>
                      <a:r>
                        <a:rPr lang="en-IN" sz="1400" b="1" u="none" strike="noStrike" dirty="0">
                          <a:solidFill>
                            <a:schemeClr val="tx1"/>
                          </a:solidFill>
                          <a:effectLst/>
                        </a:rPr>
                        <a:t>2.593886463</a:t>
                      </a:r>
                      <a:endParaRPr lang="en-IN" sz="1400" b="1" i="0" u="none" strike="noStrike" dirty="0">
                        <a:solidFill>
                          <a:schemeClr val="tx1"/>
                        </a:solidFill>
                        <a:effectLst/>
                        <a:latin typeface="Rockwell" panose="02060603020205020403" pitchFamily="18" charset="0"/>
                      </a:endParaRPr>
                    </a:p>
                  </a:txBody>
                  <a:tcPr marL="9525" marR="9525" marT="9525" marB="0" anchor="b"/>
                </a:tc>
                <a:extLst>
                  <a:ext uri="{0D108BD9-81ED-4DB2-BD59-A6C34878D82A}">
                    <a16:rowId xmlns:a16="http://schemas.microsoft.com/office/drawing/2014/main" val="2845292574"/>
                  </a:ext>
                </a:extLst>
              </a:tr>
              <a:tr h="447203">
                <a:tc>
                  <a:txBody>
                    <a:bodyPr/>
                    <a:lstStyle/>
                    <a:p>
                      <a:pPr algn="ctr" fontAlgn="b"/>
                      <a:r>
                        <a:rPr lang="en-IN" sz="1400" b="1" u="none" strike="noStrike" dirty="0">
                          <a:solidFill>
                            <a:schemeClr val="tx1"/>
                          </a:solidFill>
                          <a:effectLst/>
                        </a:rPr>
                        <a:t>3.854166667</a:t>
                      </a:r>
                      <a:endParaRPr lang="en-IN" sz="1400" b="1" i="0" u="none" strike="noStrike" dirty="0">
                        <a:solidFill>
                          <a:schemeClr val="tx1"/>
                        </a:solidFill>
                        <a:effectLst/>
                        <a:latin typeface="Rockwell" panose="02060603020205020403" pitchFamily="18" charset="0"/>
                      </a:endParaRPr>
                    </a:p>
                  </a:txBody>
                  <a:tcPr marL="9525" marR="9525" marT="9525" marB="0" anchor="b"/>
                </a:tc>
                <a:extLst>
                  <a:ext uri="{0D108BD9-81ED-4DB2-BD59-A6C34878D82A}">
                    <a16:rowId xmlns:a16="http://schemas.microsoft.com/office/drawing/2014/main" val="2153533862"/>
                  </a:ext>
                </a:extLst>
              </a:tr>
              <a:tr h="447203">
                <a:tc>
                  <a:txBody>
                    <a:bodyPr/>
                    <a:lstStyle/>
                    <a:p>
                      <a:pPr algn="ctr" fontAlgn="b"/>
                      <a:r>
                        <a:rPr lang="en-IN" sz="1400" b="1" u="none" strike="noStrike" dirty="0">
                          <a:solidFill>
                            <a:schemeClr val="tx1"/>
                          </a:solidFill>
                          <a:effectLst/>
                        </a:rPr>
                        <a:t>2.36204576</a:t>
                      </a:r>
                      <a:endParaRPr lang="en-IN" sz="1400" b="1" i="0" u="none" strike="noStrike" dirty="0">
                        <a:solidFill>
                          <a:schemeClr val="tx1"/>
                        </a:solidFill>
                        <a:effectLst/>
                        <a:latin typeface="Rockwell" panose="02060603020205020403" pitchFamily="18" charset="0"/>
                      </a:endParaRPr>
                    </a:p>
                  </a:txBody>
                  <a:tcPr marL="9525" marR="9525" marT="9525" marB="0" anchor="b"/>
                </a:tc>
                <a:extLst>
                  <a:ext uri="{0D108BD9-81ED-4DB2-BD59-A6C34878D82A}">
                    <a16:rowId xmlns:a16="http://schemas.microsoft.com/office/drawing/2014/main" val="2812937470"/>
                  </a:ext>
                </a:extLst>
              </a:tr>
              <a:tr h="447203">
                <a:tc>
                  <a:txBody>
                    <a:bodyPr/>
                    <a:lstStyle/>
                    <a:p>
                      <a:pPr algn="ctr" fontAlgn="b"/>
                      <a:r>
                        <a:rPr lang="en-IN" sz="1400" b="1" u="none" strike="noStrike" dirty="0">
                          <a:solidFill>
                            <a:schemeClr val="tx1"/>
                          </a:solidFill>
                          <a:effectLst/>
                        </a:rPr>
                        <a:t>2.846560847</a:t>
                      </a:r>
                      <a:endParaRPr lang="en-IN" sz="1400" b="1" i="0" u="none" strike="noStrike" dirty="0">
                        <a:solidFill>
                          <a:schemeClr val="tx1"/>
                        </a:solidFill>
                        <a:effectLst/>
                        <a:latin typeface="Rockwell" panose="02060603020205020403" pitchFamily="18" charset="0"/>
                      </a:endParaRPr>
                    </a:p>
                  </a:txBody>
                  <a:tcPr marL="9525" marR="9525" marT="9525" marB="0" anchor="b"/>
                </a:tc>
                <a:extLst>
                  <a:ext uri="{0D108BD9-81ED-4DB2-BD59-A6C34878D82A}">
                    <a16:rowId xmlns:a16="http://schemas.microsoft.com/office/drawing/2014/main" val="1127149281"/>
                  </a:ext>
                </a:extLst>
              </a:tr>
              <a:tr h="447203">
                <a:tc>
                  <a:txBody>
                    <a:bodyPr/>
                    <a:lstStyle/>
                    <a:p>
                      <a:pPr algn="ctr" fontAlgn="b"/>
                      <a:r>
                        <a:rPr lang="en-IN" sz="1400" b="1" u="none" strike="noStrike" dirty="0">
                          <a:solidFill>
                            <a:schemeClr val="tx1"/>
                          </a:solidFill>
                          <a:effectLst/>
                        </a:rPr>
                        <a:t>2.15</a:t>
                      </a:r>
                      <a:endParaRPr lang="en-IN" sz="1400" b="1" i="0" u="none" strike="noStrike" dirty="0">
                        <a:solidFill>
                          <a:schemeClr val="tx1"/>
                        </a:solidFill>
                        <a:effectLst/>
                        <a:latin typeface="Rockwell" panose="02060603020205020403" pitchFamily="18" charset="0"/>
                      </a:endParaRPr>
                    </a:p>
                  </a:txBody>
                  <a:tcPr marL="9525" marR="9525" marT="9525" marB="0" anchor="b"/>
                </a:tc>
                <a:extLst>
                  <a:ext uri="{0D108BD9-81ED-4DB2-BD59-A6C34878D82A}">
                    <a16:rowId xmlns:a16="http://schemas.microsoft.com/office/drawing/2014/main" val="3701793696"/>
                  </a:ext>
                </a:extLst>
              </a:tr>
            </a:tbl>
          </a:graphicData>
        </a:graphic>
      </p:graphicFrame>
      <p:graphicFrame>
        <p:nvGraphicFramePr>
          <p:cNvPr id="7" name="Table 6">
            <a:extLst>
              <a:ext uri="{FF2B5EF4-FFF2-40B4-BE49-F238E27FC236}">
                <a16:creationId xmlns:a16="http://schemas.microsoft.com/office/drawing/2014/main" id="{AA48ECC5-7A4E-EFCF-83BB-8B7430222008}"/>
              </a:ext>
            </a:extLst>
          </p:cNvPr>
          <p:cNvGraphicFramePr>
            <a:graphicFrameLocks noGrp="1"/>
          </p:cNvGraphicFramePr>
          <p:nvPr>
            <p:extLst>
              <p:ext uri="{D42A27DB-BD31-4B8C-83A1-F6EECF244321}">
                <p14:modId xmlns:p14="http://schemas.microsoft.com/office/powerpoint/2010/main" val="728381448"/>
              </p:ext>
            </p:extLst>
          </p:nvPr>
        </p:nvGraphicFramePr>
        <p:xfrm>
          <a:off x="8591341" y="1430378"/>
          <a:ext cx="3053467" cy="703050"/>
        </p:xfrm>
        <a:graphic>
          <a:graphicData uri="http://schemas.openxmlformats.org/drawingml/2006/table">
            <a:tbl>
              <a:tblPr firstRow="1" bandRow="1">
                <a:tableStyleId>{5C22544A-7EE6-4342-B048-85BDC9FD1C3A}</a:tableStyleId>
              </a:tblPr>
              <a:tblGrid>
                <a:gridCol w="1477107">
                  <a:extLst>
                    <a:ext uri="{9D8B030D-6E8A-4147-A177-3AD203B41FA5}">
                      <a16:colId xmlns:a16="http://schemas.microsoft.com/office/drawing/2014/main" val="657084943"/>
                    </a:ext>
                  </a:extLst>
                </a:gridCol>
                <a:gridCol w="1576360">
                  <a:extLst>
                    <a:ext uri="{9D8B030D-6E8A-4147-A177-3AD203B41FA5}">
                      <a16:colId xmlns:a16="http://schemas.microsoft.com/office/drawing/2014/main" val="3117386400"/>
                    </a:ext>
                  </a:extLst>
                </a:gridCol>
              </a:tblGrid>
              <a:tr h="227773">
                <a:tc>
                  <a:txBody>
                    <a:bodyPr/>
                    <a:lstStyle/>
                    <a:p>
                      <a:pPr algn="ctr" fontAlgn="b"/>
                      <a:r>
                        <a:rPr lang="en-IN" sz="1400" b="1" u="none" strike="noStrike" dirty="0">
                          <a:solidFill>
                            <a:schemeClr val="bg1"/>
                          </a:solidFill>
                          <a:effectLst/>
                        </a:rPr>
                        <a:t>Total Consultation</a:t>
                      </a:r>
                      <a:endParaRPr lang="en-IN" sz="1400" b="1" i="0" u="none" strike="noStrike" dirty="0">
                        <a:solidFill>
                          <a:schemeClr val="bg1"/>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fontAlgn="b"/>
                      <a:r>
                        <a:rPr lang="en-IN" sz="1400" b="1" u="none" strike="noStrike" dirty="0">
                          <a:solidFill>
                            <a:schemeClr val="bg1"/>
                          </a:solidFill>
                          <a:effectLst/>
                        </a:rPr>
                        <a:t>28027</a:t>
                      </a:r>
                      <a:endParaRPr lang="en-IN" sz="1400" b="1" i="0" u="none" strike="noStrike" dirty="0">
                        <a:solidFill>
                          <a:schemeClr val="bg1"/>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301236444"/>
                  </a:ext>
                </a:extLst>
              </a:tr>
              <a:tr h="252392">
                <a:tc>
                  <a:txBody>
                    <a:bodyPr/>
                    <a:lstStyle/>
                    <a:p>
                      <a:pPr algn="ctr" fontAlgn="b"/>
                      <a:r>
                        <a:rPr lang="en-IN" sz="1400" b="1" u="none" strike="noStrike" dirty="0">
                          <a:solidFill>
                            <a:schemeClr val="tx1"/>
                          </a:solidFill>
                          <a:effectLst/>
                        </a:rPr>
                        <a:t> </a:t>
                      </a:r>
                      <a:endParaRPr lang="en-IN" sz="14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fontAlgn="b"/>
                      <a:r>
                        <a:rPr lang="en-IN" sz="1400" b="1" u="none" strike="noStrike" dirty="0">
                          <a:solidFill>
                            <a:schemeClr val="tx1"/>
                          </a:solidFill>
                          <a:effectLst/>
                        </a:rPr>
                        <a:t> </a:t>
                      </a:r>
                      <a:endParaRPr lang="en-IN" sz="14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903971284"/>
                  </a:ext>
                </a:extLst>
              </a:tr>
              <a:tr h="205631">
                <a:tc>
                  <a:txBody>
                    <a:bodyPr/>
                    <a:lstStyle/>
                    <a:p>
                      <a:pPr algn="ctr" fontAlgn="b"/>
                      <a:r>
                        <a:rPr lang="en-IN" sz="1400" b="1" u="none" strike="noStrike" dirty="0">
                          <a:solidFill>
                            <a:schemeClr val="tx1"/>
                          </a:solidFill>
                          <a:effectLst/>
                        </a:rPr>
                        <a:t>Net Amount</a:t>
                      </a:r>
                      <a:endParaRPr lang="en-IN" sz="14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fontAlgn="b"/>
                      <a:r>
                        <a:rPr lang="en-IN" sz="1400" b="1" u="none" strike="noStrike" dirty="0">
                          <a:solidFill>
                            <a:schemeClr val="tx1"/>
                          </a:solidFill>
                          <a:effectLst/>
                        </a:rPr>
                        <a:t>213987.3153</a:t>
                      </a:r>
                      <a:endParaRPr lang="en-IN" sz="14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796781107"/>
                  </a:ext>
                </a:extLst>
              </a:tr>
            </a:tbl>
          </a:graphicData>
        </a:graphic>
      </p:graphicFrame>
      <p:graphicFrame>
        <p:nvGraphicFramePr>
          <p:cNvPr id="8" name="Table 7">
            <a:extLst>
              <a:ext uri="{FF2B5EF4-FFF2-40B4-BE49-F238E27FC236}">
                <a16:creationId xmlns:a16="http://schemas.microsoft.com/office/drawing/2014/main" id="{47B7942F-8312-522D-95A3-D90D4F9042BB}"/>
              </a:ext>
            </a:extLst>
          </p:cNvPr>
          <p:cNvGraphicFramePr>
            <a:graphicFrameLocks noGrp="1"/>
          </p:cNvGraphicFramePr>
          <p:nvPr>
            <p:extLst>
              <p:ext uri="{D42A27DB-BD31-4B8C-83A1-F6EECF244321}">
                <p14:modId xmlns:p14="http://schemas.microsoft.com/office/powerpoint/2010/main" val="800765013"/>
              </p:ext>
            </p:extLst>
          </p:nvPr>
        </p:nvGraphicFramePr>
        <p:xfrm>
          <a:off x="8569120" y="2391508"/>
          <a:ext cx="3075686" cy="668655"/>
        </p:xfrm>
        <a:graphic>
          <a:graphicData uri="http://schemas.openxmlformats.org/drawingml/2006/table">
            <a:tbl>
              <a:tblPr firstRow="1" bandRow="1">
                <a:tableStyleId>{5C22544A-7EE6-4342-B048-85BDC9FD1C3A}</a:tableStyleId>
              </a:tblPr>
              <a:tblGrid>
                <a:gridCol w="1569667">
                  <a:extLst>
                    <a:ext uri="{9D8B030D-6E8A-4147-A177-3AD203B41FA5}">
                      <a16:colId xmlns:a16="http://schemas.microsoft.com/office/drawing/2014/main" val="3087479792"/>
                    </a:ext>
                  </a:extLst>
                </a:gridCol>
                <a:gridCol w="1506019">
                  <a:extLst>
                    <a:ext uri="{9D8B030D-6E8A-4147-A177-3AD203B41FA5}">
                      <a16:colId xmlns:a16="http://schemas.microsoft.com/office/drawing/2014/main" val="3430741734"/>
                    </a:ext>
                  </a:extLst>
                </a:gridCol>
              </a:tblGrid>
              <a:tr h="220905">
                <a:tc>
                  <a:txBody>
                    <a:bodyPr/>
                    <a:lstStyle/>
                    <a:p>
                      <a:pPr algn="ctr" fontAlgn="b"/>
                      <a:r>
                        <a:rPr lang="en-IN" sz="1400" b="1" u="none" strike="noStrike" dirty="0">
                          <a:solidFill>
                            <a:schemeClr val="bg1"/>
                          </a:solidFill>
                          <a:effectLst/>
                          <a:latin typeface="Arial" panose="020B0604020202020204" pitchFamily="34" charset="0"/>
                          <a:cs typeface="Arial" panose="020B0604020202020204" pitchFamily="34" charset="0"/>
                        </a:rPr>
                        <a:t>Total Calls</a:t>
                      </a:r>
                      <a:endParaRPr lang="en-IN" sz="1400" b="1" i="0" u="none" strike="noStrike" dirty="0">
                        <a:solidFill>
                          <a:schemeClr val="bg1"/>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fontAlgn="b"/>
                      <a:r>
                        <a:rPr lang="en-IN" sz="1400" b="1" u="none" strike="noStrike" dirty="0">
                          <a:solidFill>
                            <a:schemeClr val="bg1"/>
                          </a:solidFill>
                          <a:effectLst/>
                          <a:latin typeface="Arial" panose="020B0604020202020204" pitchFamily="34" charset="0"/>
                          <a:cs typeface="Arial" panose="020B0604020202020204" pitchFamily="34" charset="0"/>
                        </a:rPr>
                        <a:t>8511</a:t>
                      </a:r>
                      <a:endParaRPr lang="en-IN" sz="1400" b="1" i="0" u="none" strike="noStrike" dirty="0">
                        <a:solidFill>
                          <a:schemeClr val="bg1"/>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229177235"/>
                  </a:ext>
                </a:extLst>
              </a:tr>
              <a:tr h="220905">
                <a:tc>
                  <a:txBody>
                    <a:bodyPr/>
                    <a:lstStyle/>
                    <a:p>
                      <a:pPr algn="ctr" fontAlgn="b"/>
                      <a:r>
                        <a:rPr lang="en-IN" sz="1400" b="1" u="none" strike="noStrike" dirty="0">
                          <a:solidFill>
                            <a:schemeClr val="tx1"/>
                          </a:solidFill>
                          <a:effectLst/>
                          <a:latin typeface="Arial" panose="020B0604020202020204" pitchFamily="34" charset="0"/>
                          <a:cs typeface="Arial" panose="020B0604020202020204" pitchFamily="34" charset="0"/>
                        </a:rPr>
                        <a:t> </a:t>
                      </a:r>
                      <a:endParaRPr lang="en-IN" sz="14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fontAlgn="b"/>
                      <a:r>
                        <a:rPr lang="en-IN" sz="1400" b="1" u="none" strike="noStrike" dirty="0">
                          <a:solidFill>
                            <a:schemeClr val="tx1"/>
                          </a:solidFill>
                          <a:effectLst/>
                          <a:latin typeface="Arial" panose="020B0604020202020204" pitchFamily="34" charset="0"/>
                          <a:cs typeface="Arial" panose="020B0604020202020204" pitchFamily="34" charset="0"/>
                        </a:rPr>
                        <a:t> </a:t>
                      </a:r>
                      <a:endParaRPr lang="en-IN" sz="14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058315431"/>
                  </a:ext>
                </a:extLst>
              </a:tr>
              <a:tr h="220905">
                <a:tc>
                  <a:txBody>
                    <a:bodyPr/>
                    <a:lstStyle/>
                    <a:p>
                      <a:pPr algn="ctr" fontAlgn="b"/>
                      <a:r>
                        <a:rPr lang="en-IN" sz="1400" b="1" u="none" strike="noStrike" dirty="0">
                          <a:solidFill>
                            <a:schemeClr val="tx1"/>
                          </a:solidFill>
                          <a:effectLst/>
                          <a:latin typeface="Arial" panose="020B0604020202020204" pitchFamily="34" charset="0"/>
                          <a:cs typeface="Arial" panose="020B0604020202020204" pitchFamily="34" charset="0"/>
                        </a:rPr>
                        <a:t>Net Amount (Call)</a:t>
                      </a:r>
                      <a:endParaRPr lang="en-IN" sz="14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fontAlgn="b"/>
                      <a:r>
                        <a:rPr lang="en-IN" sz="1400" b="1" u="none" strike="noStrike" dirty="0">
                          <a:solidFill>
                            <a:schemeClr val="tx1"/>
                          </a:solidFill>
                          <a:effectLst/>
                          <a:latin typeface="Arial" panose="020B0604020202020204" pitchFamily="34" charset="0"/>
                          <a:cs typeface="Arial" panose="020B0604020202020204" pitchFamily="34" charset="0"/>
                        </a:rPr>
                        <a:t>168442.035</a:t>
                      </a:r>
                      <a:endParaRPr lang="en-IN" sz="14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034897764"/>
                  </a:ext>
                </a:extLst>
              </a:tr>
            </a:tbl>
          </a:graphicData>
        </a:graphic>
      </p:graphicFrame>
      <p:graphicFrame>
        <p:nvGraphicFramePr>
          <p:cNvPr id="13" name="Table 12">
            <a:extLst>
              <a:ext uri="{FF2B5EF4-FFF2-40B4-BE49-F238E27FC236}">
                <a16:creationId xmlns:a16="http://schemas.microsoft.com/office/drawing/2014/main" id="{E1B35FD5-B442-1B21-B151-265BCEF354CC}"/>
              </a:ext>
            </a:extLst>
          </p:cNvPr>
          <p:cNvGraphicFramePr>
            <a:graphicFrameLocks noGrp="1"/>
          </p:cNvGraphicFramePr>
          <p:nvPr>
            <p:extLst>
              <p:ext uri="{D42A27DB-BD31-4B8C-83A1-F6EECF244321}">
                <p14:modId xmlns:p14="http://schemas.microsoft.com/office/powerpoint/2010/main" val="3486790886"/>
              </p:ext>
            </p:extLst>
          </p:nvPr>
        </p:nvGraphicFramePr>
        <p:xfrm>
          <a:off x="8599990" y="3429000"/>
          <a:ext cx="3075686" cy="763927"/>
        </p:xfrm>
        <a:graphic>
          <a:graphicData uri="http://schemas.openxmlformats.org/drawingml/2006/table">
            <a:tbl>
              <a:tblPr firstRow="1" bandRow="1">
                <a:tableStyleId>{5C22544A-7EE6-4342-B048-85BDC9FD1C3A}</a:tableStyleId>
              </a:tblPr>
              <a:tblGrid>
                <a:gridCol w="1629861">
                  <a:extLst>
                    <a:ext uri="{9D8B030D-6E8A-4147-A177-3AD203B41FA5}">
                      <a16:colId xmlns:a16="http://schemas.microsoft.com/office/drawing/2014/main" val="2266288048"/>
                    </a:ext>
                  </a:extLst>
                </a:gridCol>
                <a:gridCol w="1445825">
                  <a:extLst>
                    <a:ext uri="{9D8B030D-6E8A-4147-A177-3AD203B41FA5}">
                      <a16:colId xmlns:a16="http://schemas.microsoft.com/office/drawing/2014/main" val="3715229634"/>
                    </a:ext>
                  </a:extLst>
                </a:gridCol>
              </a:tblGrid>
              <a:tr h="314404">
                <a:tc>
                  <a:txBody>
                    <a:bodyPr/>
                    <a:lstStyle/>
                    <a:p>
                      <a:r>
                        <a:rPr lang="en-US" sz="1400" b="1" baseline="0" dirty="0">
                          <a:solidFill>
                            <a:schemeClr val="bg1"/>
                          </a:solidFill>
                        </a:rPr>
                        <a:t>Total</a:t>
                      </a:r>
                      <a:r>
                        <a:rPr lang="en-US" sz="1400" b="1" dirty="0">
                          <a:solidFill>
                            <a:schemeClr val="bg1"/>
                          </a:solidFill>
                        </a:rPr>
                        <a:t> </a:t>
                      </a:r>
                      <a:r>
                        <a:rPr lang="en-US" sz="1400" b="1" baseline="0" dirty="0">
                          <a:solidFill>
                            <a:schemeClr val="bg1"/>
                          </a:solidFill>
                        </a:rPr>
                        <a:t>chats</a:t>
                      </a:r>
                    </a:p>
                  </a:txBody>
                  <a:tcPr/>
                </a:tc>
                <a:tc>
                  <a:txBody>
                    <a:bodyPr/>
                    <a:lstStyle/>
                    <a:p>
                      <a:pPr algn="ctr"/>
                      <a:r>
                        <a:rPr lang="en-US" sz="1400" b="1" dirty="0">
                          <a:solidFill>
                            <a:schemeClr val="bg1"/>
                          </a:solidFill>
                        </a:rPr>
                        <a:t>19514</a:t>
                      </a:r>
                      <a:endParaRPr lang="en-IN" sz="1400" b="1" dirty="0">
                        <a:solidFill>
                          <a:schemeClr val="bg1"/>
                        </a:solidFill>
                      </a:endParaRPr>
                    </a:p>
                  </a:txBody>
                  <a:tcPr/>
                </a:tc>
                <a:extLst>
                  <a:ext uri="{0D108BD9-81ED-4DB2-BD59-A6C34878D82A}">
                    <a16:rowId xmlns:a16="http://schemas.microsoft.com/office/drawing/2014/main" val="2975776716"/>
                  </a:ext>
                </a:extLst>
              </a:tr>
              <a:tr h="449523">
                <a:tc>
                  <a:txBody>
                    <a:bodyPr/>
                    <a:lstStyle/>
                    <a:p>
                      <a:r>
                        <a:rPr lang="en-US" sz="1400" b="1" dirty="0">
                          <a:solidFill>
                            <a:schemeClr val="tx1"/>
                          </a:solidFill>
                        </a:rPr>
                        <a:t>Net amount(chat)</a:t>
                      </a:r>
                      <a:endParaRPr lang="en-IN" sz="1400" b="1" dirty="0">
                        <a:solidFill>
                          <a:schemeClr val="tx1"/>
                        </a:solidFill>
                      </a:endParaRPr>
                    </a:p>
                  </a:txBody>
                  <a:tcPr/>
                </a:tc>
                <a:tc>
                  <a:txBody>
                    <a:bodyPr/>
                    <a:lstStyle/>
                    <a:p>
                      <a:pPr algn="ctr"/>
                      <a:r>
                        <a:rPr lang="en-US" sz="1400" b="1" dirty="0">
                          <a:solidFill>
                            <a:schemeClr val="tx1"/>
                          </a:solidFill>
                        </a:rPr>
                        <a:t>45494.68</a:t>
                      </a:r>
                      <a:endParaRPr lang="en-IN" sz="1400" b="1" dirty="0">
                        <a:solidFill>
                          <a:schemeClr val="tx1"/>
                        </a:solidFill>
                      </a:endParaRPr>
                    </a:p>
                  </a:txBody>
                  <a:tcPr/>
                </a:tc>
                <a:extLst>
                  <a:ext uri="{0D108BD9-81ED-4DB2-BD59-A6C34878D82A}">
                    <a16:rowId xmlns:a16="http://schemas.microsoft.com/office/drawing/2014/main" val="624763859"/>
                  </a:ext>
                </a:extLst>
              </a:tr>
            </a:tbl>
          </a:graphicData>
        </a:graphic>
      </p:graphicFrame>
      <p:pic>
        <p:nvPicPr>
          <p:cNvPr id="2" name="Picture 1">
            <a:extLst>
              <a:ext uri="{FF2B5EF4-FFF2-40B4-BE49-F238E27FC236}">
                <a16:creationId xmlns:a16="http://schemas.microsoft.com/office/drawing/2014/main" id="{A91453B3-025B-2705-B35B-C8DB1AF76977}"/>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9251150" y="4561764"/>
            <a:ext cx="2122350" cy="200385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881524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4B68C-F40A-E5E2-E170-80AFBE98F259}"/>
              </a:ext>
            </a:extLst>
          </p:cNvPr>
          <p:cNvSpPr>
            <a:spLocks noGrp="1"/>
          </p:cNvSpPr>
          <p:nvPr>
            <p:ph type="ctrTitle"/>
          </p:nvPr>
        </p:nvSpPr>
        <p:spPr>
          <a:xfrm>
            <a:off x="1524000" y="313714"/>
            <a:ext cx="9144000" cy="932281"/>
          </a:xfrm>
        </p:spPr>
        <p:txBody>
          <a:bodyPr>
            <a:normAutofit/>
          </a:bodyPr>
          <a:lstStyle/>
          <a:p>
            <a:r>
              <a:rPr lang="en-US" sz="4800" b="1" dirty="0">
                <a:latin typeface="+mn-lt"/>
                <a:cs typeface="Times New Roman" panose="02020603050405020304" pitchFamily="18" charset="0"/>
              </a:rPr>
              <a:t>Methodology</a:t>
            </a:r>
            <a:endParaRPr lang="en-IN" sz="4800" dirty="0">
              <a:latin typeface="+mn-lt"/>
            </a:endParaRPr>
          </a:p>
        </p:txBody>
      </p:sp>
      <p:sp>
        <p:nvSpPr>
          <p:cNvPr id="3" name="Subtitle 2">
            <a:extLst>
              <a:ext uri="{FF2B5EF4-FFF2-40B4-BE49-F238E27FC236}">
                <a16:creationId xmlns:a16="http://schemas.microsoft.com/office/drawing/2014/main" id="{053AAB07-0571-185E-5676-4F1899CD9BBF}"/>
              </a:ext>
            </a:extLst>
          </p:cNvPr>
          <p:cNvSpPr>
            <a:spLocks noGrp="1"/>
          </p:cNvSpPr>
          <p:nvPr>
            <p:ph type="subTitle" idx="1"/>
          </p:nvPr>
        </p:nvSpPr>
        <p:spPr>
          <a:xfrm>
            <a:off x="693337" y="1376623"/>
            <a:ext cx="10490478" cy="4983983"/>
          </a:xfrm>
        </p:spPr>
        <p:txBody>
          <a:bodyPr>
            <a:normAutofit lnSpcReduction="10000"/>
          </a:bodyPr>
          <a:lstStyle/>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Cleaned the dataset by removing irrelevant columns and finalizing required fields.  </a:t>
            </a:r>
          </a:p>
          <a:p>
            <a:pPr marL="342900" indent="-34290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Created pivot tables for analyzing agent performance, call patterns, and revenue trends.  </a:t>
            </a:r>
          </a:p>
          <a:p>
            <a:pPr marL="342900" indent="-34290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Designed a multi-page dashboard in Excel using slicers and navigation buttons.  </a:t>
            </a:r>
          </a:p>
          <a:p>
            <a:pPr marL="342900" indent="-34290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Implemented interactivity by linking charts with filters (month, website, consultation type).  </a:t>
            </a:r>
          </a:p>
          <a:p>
            <a:pPr marL="342900" indent="-34290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Visualized key metrics using bar, line, donut, and stacked column charts.</a:t>
            </a:r>
          </a:p>
          <a:p>
            <a:pPr algn="l"/>
            <a:endParaRPr lang="en-IN" dirty="0"/>
          </a:p>
        </p:txBody>
      </p:sp>
    </p:spTree>
    <p:extLst>
      <p:ext uri="{BB962C8B-B14F-4D97-AF65-F5344CB8AC3E}">
        <p14:creationId xmlns:p14="http://schemas.microsoft.com/office/powerpoint/2010/main" val="36302844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7BCFA-2BD5-0D17-4F37-A3982DFDE3A1}"/>
              </a:ext>
            </a:extLst>
          </p:cNvPr>
          <p:cNvSpPr>
            <a:spLocks noGrp="1"/>
          </p:cNvSpPr>
          <p:nvPr>
            <p:ph type="ctrTitle"/>
          </p:nvPr>
        </p:nvSpPr>
        <p:spPr>
          <a:xfrm>
            <a:off x="1154955" y="884904"/>
            <a:ext cx="8825658" cy="861420"/>
          </a:xfrm>
        </p:spPr>
        <p:txBody>
          <a:bodyPr>
            <a:normAutofit/>
          </a:bodyPr>
          <a:lstStyle/>
          <a:p>
            <a:pPr algn="ctr"/>
            <a:r>
              <a:rPr lang="en-IN" sz="4800" b="1" dirty="0">
                <a:latin typeface="Arial" panose="020B0604020202020204" pitchFamily="34" charset="0"/>
                <a:cs typeface="Arial" panose="020B0604020202020204" pitchFamily="34" charset="0"/>
              </a:rPr>
              <a:t>Traffic website</a:t>
            </a:r>
            <a:endParaRPr lang="en-IN" sz="4800" b="1" dirty="0"/>
          </a:p>
        </p:txBody>
      </p:sp>
      <p:sp>
        <p:nvSpPr>
          <p:cNvPr id="3" name="Subtitle 2">
            <a:extLst>
              <a:ext uri="{FF2B5EF4-FFF2-40B4-BE49-F238E27FC236}">
                <a16:creationId xmlns:a16="http://schemas.microsoft.com/office/drawing/2014/main" id="{B93B9BC7-99A0-0221-005E-77E90854E049}"/>
              </a:ext>
            </a:extLst>
          </p:cNvPr>
          <p:cNvSpPr>
            <a:spLocks noGrp="1"/>
          </p:cNvSpPr>
          <p:nvPr>
            <p:ph type="subTitle" idx="1"/>
          </p:nvPr>
        </p:nvSpPr>
        <p:spPr>
          <a:xfrm>
            <a:off x="844062" y="2153264"/>
            <a:ext cx="4381080" cy="4488696"/>
          </a:xfrm>
        </p:spPr>
        <p:txBody>
          <a:bodyPr>
            <a:normAutofit fontScale="25000" lnSpcReduction="20000"/>
          </a:bodyPr>
          <a:lstStyle/>
          <a:p>
            <a:pPr algn="l"/>
            <a:r>
              <a:rPr lang="en-US" sz="9600" dirty="0"/>
              <a:t>The chart shows the distribution of website usage:</a:t>
            </a:r>
          </a:p>
          <a:p>
            <a:pPr marL="342900" indent="-342900" algn="l">
              <a:buFont typeface="Wingdings" panose="05000000000000000000" pitchFamily="2" charset="2"/>
              <a:buChar char="Ø"/>
            </a:pPr>
            <a:r>
              <a:rPr lang="en-US" sz="9600" dirty="0" err="1"/>
              <a:t>Gurucool</a:t>
            </a:r>
            <a:r>
              <a:rPr lang="en-US" sz="9600" dirty="0"/>
              <a:t> accounts for the majority with 72% (20,225 users).</a:t>
            </a:r>
          </a:p>
          <a:p>
            <a:pPr marL="342900" indent="-342900" algn="l">
              <a:buFont typeface="Wingdings" panose="05000000000000000000" pitchFamily="2" charset="2"/>
              <a:buChar char="Ø"/>
            </a:pPr>
            <a:r>
              <a:rPr lang="en-US" sz="9600" dirty="0"/>
              <a:t>App usage contributes 28% (7,800 users).</a:t>
            </a:r>
          </a:p>
          <a:p>
            <a:pPr marL="342900" indent="-342900" algn="l">
              <a:buFont typeface="Wingdings" panose="05000000000000000000" pitchFamily="2" charset="2"/>
              <a:buChar char="Ø"/>
            </a:pPr>
            <a:r>
              <a:rPr lang="en-US" sz="9600" dirty="0"/>
              <a:t>Dashboard usage is negligible at 0% (2 users).</a:t>
            </a:r>
          </a:p>
          <a:p>
            <a:pPr marL="342900" indent="-342900" algn="l">
              <a:buFont typeface="Wingdings" panose="05000000000000000000" pitchFamily="2" charset="2"/>
              <a:buChar char="Ø"/>
            </a:pPr>
            <a:r>
              <a:rPr lang="en-US" sz="9600" dirty="0"/>
              <a:t>This indicates that most traffic comes from the </a:t>
            </a:r>
            <a:r>
              <a:rPr lang="en-US" sz="9600" dirty="0" err="1"/>
              <a:t>Gurucool</a:t>
            </a:r>
            <a:r>
              <a:rPr lang="en-US" sz="9600" dirty="0"/>
              <a:t> platform, while the dashboard is rarely used.</a:t>
            </a:r>
          </a:p>
          <a:p>
            <a:endParaRPr lang="en-US" sz="3200" dirty="0"/>
          </a:p>
          <a:p>
            <a:endParaRPr lang="en-IN" sz="3200" dirty="0"/>
          </a:p>
          <a:p>
            <a:endParaRPr lang="en-IN" sz="3200" dirty="0"/>
          </a:p>
          <a:p>
            <a:endParaRPr lang="en-IN" sz="3200" dirty="0"/>
          </a:p>
          <a:p>
            <a:r>
              <a:rPr lang="en-IN" dirty="0"/>
              <a:t>                                  </a:t>
            </a:r>
          </a:p>
        </p:txBody>
      </p:sp>
      <p:graphicFrame>
        <p:nvGraphicFramePr>
          <p:cNvPr id="8" name="Chart 7">
            <a:extLst>
              <a:ext uri="{FF2B5EF4-FFF2-40B4-BE49-F238E27FC236}">
                <a16:creationId xmlns:a16="http://schemas.microsoft.com/office/drawing/2014/main" id="{53E8B928-27BB-085C-3782-E9960A0BC241}"/>
              </a:ext>
            </a:extLst>
          </p:cNvPr>
          <p:cNvGraphicFramePr>
            <a:graphicFrameLocks/>
          </p:cNvGraphicFramePr>
          <p:nvPr>
            <p:extLst>
              <p:ext uri="{D42A27DB-BD31-4B8C-83A1-F6EECF244321}">
                <p14:modId xmlns:p14="http://schemas.microsoft.com/office/powerpoint/2010/main" val="668197565"/>
              </p:ext>
            </p:extLst>
          </p:nvPr>
        </p:nvGraphicFramePr>
        <p:xfrm>
          <a:off x="5299587" y="1746324"/>
          <a:ext cx="5187075" cy="434196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29696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C5F80-C714-964B-43F8-10132D0DBBA0}"/>
              </a:ext>
            </a:extLst>
          </p:cNvPr>
          <p:cNvSpPr>
            <a:spLocks noGrp="1"/>
          </p:cNvSpPr>
          <p:nvPr>
            <p:ph type="ctrTitle"/>
          </p:nvPr>
        </p:nvSpPr>
        <p:spPr>
          <a:xfrm>
            <a:off x="1154955" y="698091"/>
            <a:ext cx="8825658" cy="521109"/>
          </a:xfrm>
        </p:spPr>
        <p:txBody>
          <a:bodyPr>
            <a:noAutofit/>
          </a:bodyPr>
          <a:lstStyle/>
          <a:p>
            <a:pPr algn="ctr"/>
            <a:r>
              <a:rPr lang="en-IN" sz="4800" b="1" dirty="0">
                <a:latin typeface="Arial" panose="020B0604020202020204" pitchFamily="34" charset="0"/>
                <a:cs typeface="Arial" panose="020B0604020202020204" pitchFamily="34" charset="0"/>
              </a:rPr>
              <a:t>User chat status</a:t>
            </a:r>
            <a:endParaRPr lang="en-IN" sz="4800" b="1" dirty="0"/>
          </a:p>
        </p:txBody>
      </p:sp>
      <p:sp>
        <p:nvSpPr>
          <p:cNvPr id="3" name="Subtitle 2">
            <a:extLst>
              <a:ext uri="{FF2B5EF4-FFF2-40B4-BE49-F238E27FC236}">
                <a16:creationId xmlns:a16="http://schemas.microsoft.com/office/drawing/2014/main" id="{F821CA39-6C79-0B31-100A-9D36C10B6CAE}"/>
              </a:ext>
            </a:extLst>
          </p:cNvPr>
          <p:cNvSpPr>
            <a:spLocks noGrp="1"/>
          </p:cNvSpPr>
          <p:nvPr>
            <p:ph type="subTitle" idx="1"/>
          </p:nvPr>
        </p:nvSpPr>
        <p:spPr>
          <a:xfrm>
            <a:off x="612949" y="1421335"/>
            <a:ext cx="3889667" cy="4217466"/>
          </a:xfrm>
        </p:spPr>
        <p:txBody>
          <a:bodyPr>
            <a:normAutofit/>
          </a:bodyPr>
          <a:lstStyle/>
          <a:p>
            <a:pPr algn="l"/>
            <a:r>
              <a:rPr lang="en-IN" dirty="0">
                <a:solidFill>
                  <a:schemeClr val="tx1">
                    <a:lumMod val="95000"/>
                    <a:lumOff val="5000"/>
                  </a:schemeClr>
                </a:solidFill>
                <a:latin typeface="Arial" panose="020B0604020202020204" pitchFamily="34" charset="0"/>
                <a:cs typeface="Arial" panose="020B0604020202020204" pitchFamily="34" charset="0"/>
              </a:rPr>
              <a:t>According to given data</a:t>
            </a:r>
            <a:br>
              <a:rPr lang="en-IN" dirty="0">
                <a:solidFill>
                  <a:schemeClr val="tx1">
                    <a:lumMod val="95000"/>
                    <a:lumOff val="5000"/>
                  </a:schemeClr>
                </a:solidFill>
                <a:latin typeface="Arial" panose="020B0604020202020204" pitchFamily="34" charset="0"/>
                <a:cs typeface="Arial" panose="020B0604020202020204" pitchFamily="34" charset="0"/>
              </a:rPr>
            </a:br>
            <a:br>
              <a:rPr lang="en-IN" dirty="0">
                <a:solidFill>
                  <a:schemeClr val="tx1">
                    <a:lumMod val="95000"/>
                    <a:lumOff val="5000"/>
                  </a:schemeClr>
                </a:solidFill>
                <a:latin typeface="Arial" panose="020B0604020202020204" pitchFamily="34" charset="0"/>
                <a:cs typeface="Arial" panose="020B0604020202020204" pitchFamily="34" charset="0"/>
              </a:rPr>
            </a:br>
            <a:r>
              <a:rPr lang="en-IN" dirty="0">
                <a:solidFill>
                  <a:schemeClr val="tx1">
                    <a:lumMod val="95000"/>
                    <a:lumOff val="5000"/>
                  </a:schemeClr>
                </a:solidFill>
                <a:latin typeface="Arial" panose="020B0604020202020204" pitchFamily="34" charset="0"/>
                <a:cs typeface="Arial" panose="020B0604020202020204" pitchFamily="34" charset="0"/>
              </a:rPr>
              <a:t>Only 20% chat are completed which is very low. Need to improve chat completing percentage by providing automate AI Chat support for initial engage and improve AI Chat Bot</a:t>
            </a:r>
            <a:br>
              <a:rPr lang="en-IN" dirty="0">
                <a:solidFill>
                  <a:schemeClr val="tx1">
                    <a:lumMod val="95000"/>
                    <a:lumOff val="5000"/>
                  </a:schemeClr>
                </a:solidFill>
                <a:latin typeface="Arial" panose="020B0604020202020204" pitchFamily="34" charset="0"/>
                <a:cs typeface="Arial" panose="020B0604020202020204" pitchFamily="34" charset="0"/>
              </a:rPr>
            </a:br>
            <a:r>
              <a:rPr lang="en-IN" dirty="0">
                <a:solidFill>
                  <a:schemeClr val="tx1">
                    <a:lumMod val="95000"/>
                    <a:lumOff val="5000"/>
                  </a:schemeClr>
                </a:solidFill>
                <a:latin typeface="Arial" panose="020B0604020202020204" pitchFamily="34" charset="0"/>
                <a:cs typeface="Arial" panose="020B0604020202020204" pitchFamily="34" charset="0"/>
              </a:rPr>
              <a:t>increase chat completing.</a:t>
            </a:r>
          </a:p>
          <a:p>
            <a:endParaRPr lang="en-IN" sz="3000" dirty="0">
              <a:latin typeface="Arial" panose="020B0604020202020204" pitchFamily="34" charset="0"/>
              <a:cs typeface="Arial" panose="020B0604020202020204" pitchFamily="34" charset="0"/>
            </a:endParaRPr>
          </a:p>
          <a:p>
            <a:endParaRPr lang="en-IN" dirty="0"/>
          </a:p>
        </p:txBody>
      </p:sp>
      <p:graphicFrame>
        <p:nvGraphicFramePr>
          <p:cNvPr id="4" name="Chart 3">
            <a:extLst>
              <a:ext uri="{FF2B5EF4-FFF2-40B4-BE49-F238E27FC236}">
                <a16:creationId xmlns:a16="http://schemas.microsoft.com/office/drawing/2014/main" id="{4DB654A7-7688-4252-BF99-23218B527B57}"/>
              </a:ext>
            </a:extLst>
          </p:cNvPr>
          <p:cNvGraphicFramePr>
            <a:graphicFrameLocks/>
          </p:cNvGraphicFramePr>
          <p:nvPr>
            <p:extLst>
              <p:ext uri="{D42A27DB-BD31-4B8C-83A1-F6EECF244321}">
                <p14:modId xmlns:p14="http://schemas.microsoft.com/office/powerpoint/2010/main" val="1020915014"/>
              </p:ext>
            </p:extLst>
          </p:nvPr>
        </p:nvGraphicFramePr>
        <p:xfrm>
          <a:off x="6493133" y="1559511"/>
          <a:ext cx="4951614" cy="3709778"/>
        </p:xfrm>
        <a:graphic>
          <a:graphicData uri="http://schemas.openxmlformats.org/drawingml/2006/chart">
            <c:chart xmlns:c="http://schemas.openxmlformats.org/drawingml/2006/chart" xmlns:r="http://schemas.openxmlformats.org/officeDocument/2006/relationships" r:id="rId2"/>
          </a:graphicData>
        </a:graphic>
      </p:graphicFrame>
      <p:sp>
        <p:nvSpPr>
          <p:cNvPr id="5" name="Arrow: Pentagon 4">
            <a:extLst>
              <a:ext uri="{FF2B5EF4-FFF2-40B4-BE49-F238E27FC236}">
                <a16:creationId xmlns:a16="http://schemas.microsoft.com/office/drawing/2014/main" id="{C6BA64B9-3A4A-17CA-714F-2EC651015653}"/>
              </a:ext>
            </a:extLst>
          </p:cNvPr>
          <p:cNvSpPr/>
          <p:nvPr/>
        </p:nvSpPr>
        <p:spPr>
          <a:xfrm>
            <a:off x="4591664" y="1421334"/>
            <a:ext cx="1789471" cy="861420"/>
          </a:xfrm>
          <a:prstGeom prst="homePlat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completed</a:t>
            </a:r>
            <a:endParaRPr lang="en-IN" dirty="0"/>
          </a:p>
        </p:txBody>
      </p:sp>
      <p:sp>
        <p:nvSpPr>
          <p:cNvPr id="6" name="Arrow: Pentagon 5">
            <a:extLst>
              <a:ext uri="{FF2B5EF4-FFF2-40B4-BE49-F238E27FC236}">
                <a16:creationId xmlns:a16="http://schemas.microsoft.com/office/drawing/2014/main" id="{200C5B9D-A312-BC89-AE6A-B189BACDB181}"/>
              </a:ext>
            </a:extLst>
          </p:cNvPr>
          <p:cNvSpPr/>
          <p:nvPr/>
        </p:nvSpPr>
        <p:spPr>
          <a:xfrm>
            <a:off x="4614613" y="2431587"/>
            <a:ext cx="1878520" cy="861420"/>
          </a:xfrm>
          <a:prstGeom prst="homePlat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err="1"/>
              <a:t>incompleted</a:t>
            </a:r>
            <a:endParaRPr lang="en-IN" dirty="0"/>
          </a:p>
        </p:txBody>
      </p:sp>
      <p:sp>
        <p:nvSpPr>
          <p:cNvPr id="7" name="Arrow: Pentagon 6">
            <a:extLst>
              <a:ext uri="{FF2B5EF4-FFF2-40B4-BE49-F238E27FC236}">
                <a16:creationId xmlns:a16="http://schemas.microsoft.com/office/drawing/2014/main" id="{4D4A405D-EE11-DD27-8214-25F9921020B6}"/>
              </a:ext>
            </a:extLst>
          </p:cNvPr>
          <p:cNvSpPr/>
          <p:nvPr/>
        </p:nvSpPr>
        <p:spPr>
          <a:xfrm>
            <a:off x="4619809" y="3425070"/>
            <a:ext cx="1789471" cy="861420"/>
          </a:xfrm>
          <a:prstGeom prst="homePlat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Not available</a:t>
            </a:r>
            <a:endParaRPr lang="en-IN" dirty="0"/>
          </a:p>
        </p:txBody>
      </p:sp>
      <p:sp>
        <p:nvSpPr>
          <p:cNvPr id="8" name="Arrow: Pentagon 7">
            <a:extLst>
              <a:ext uri="{FF2B5EF4-FFF2-40B4-BE49-F238E27FC236}">
                <a16:creationId xmlns:a16="http://schemas.microsoft.com/office/drawing/2014/main" id="{8CA66324-F22B-8D29-A14B-F02100D5B448}"/>
              </a:ext>
            </a:extLst>
          </p:cNvPr>
          <p:cNvSpPr/>
          <p:nvPr/>
        </p:nvSpPr>
        <p:spPr>
          <a:xfrm>
            <a:off x="4614613" y="4418551"/>
            <a:ext cx="1789471" cy="861420"/>
          </a:xfrm>
          <a:prstGeom prst="homePlat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failed</a:t>
            </a:r>
            <a:endParaRPr lang="en-IN" dirty="0"/>
          </a:p>
        </p:txBody>
      </p:sp>
    </p:spTree>
    <p:extLst>
      <p:ext uri="{BB962C8B-B14F-4D97-AF65-F5344CB8AC3E}">
        <p14:creationId xmlns:p14="http://schemas.microsoft.com/office/powerpoint/2010/main" val="6810118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948A9-65CE-AA4F-3257-D374D19ED424}"/>
              </a:ext>
            </a:extLst>
          </p:cNvPr>
          <p:cNvSpPr>
            <a:spLocks noGrp="1"/>
          </p:cNvSpPr>
          <p:nvPr>
            <p:ph type="ctrTitle"/>
          </p:nvPr>
        </p:nvSpPr>
        <p:spPr>
          <a:xfrm>
            <a:off x="1154955" y="668595"/>
            <a:ext cx="8825658" cy="550606"/>
          </a:xfrm>
        </p:spPr>
        <p:txBody>
          <a:bodyPr>
            <a:noAutofit/>
          </a:bodyPr>
          <a:lstStyle/>
          <a:p>
            <a:pPr algn="ctr"/>
            <a:r>
              <a:rPr lang="en-IN" sz="4800" b="1" dirty="0">
                <a:latin typeface="Arial" panose="020B0604020202020204" pitchFamily="34" charset="0"/>
                <a:cs typeface="Arial" panose="020B0604020202020204" pitchFamily="34" charset="0"/>
              </a:rPr>
              <a:t>User call status</a:t>
            </a:r>
            <a:endParaRPr lang="en-IN" sz="4800" b="1" dirty="0"/>
          </a:p>
        </p:txBody>
      </p:sp>
      <p:sp>
        <p:nvSpPr>
          <p:cNvPr id="3" name="Subtitle 2">
            <a:extLst>
              <a:ext uri="{FF2B5EF4-FFF2-40B4-BE49-F238E27FC236}">
                <a16:creationId xmlns:a16="http://schemas.microsoft.com/office/drawing/2014/main" id="{12C589AD-E5A8-4C20-B580-560EBB886A59}"/>
              </a:ext>
            </a:extLst>
          </p:cNvPr>
          <p:cNvSpPr>
            <a:spLocks noGrp="1"/>
          </p:cNvSpPr>
          <p:nvPr>
            <p:ph type="subTitle" idx="1"/>
          </p:nvPr>
        </p:nvSpPr>
        <p:spPr>
          <a:xfrm>
            <a:off x="985989" y="1386348"/>
            <a:ext cx="5575585" cy="4085303"/>
          </a:xfrm>
        </p:spPr>
        <p:txBody>
          <a:bodyPr>
            <a:normAutofit/>
          </a:bodyPr>
          <a:lstStyle/>
          <a:p>
            <a:pPr marL="342900" indent="-342900" algn="l">
              <a:buFont typeface="Arial" panose="020B0604020202020204" pitchFamily="34" charset="0"/>
              <a:buChar char="•"/>
            </a:pPr>
            <a:r>
              <a:rPr lang="en-US" dirty="0">
                <a:solidFill>
                  <a:schemeClr val="tx1"/>
                </a:solidFill>
              </a:rPr>
              <a:t>Most calls are successfully completed, but a significant portion (around </a:t>
            </a:r>
            <a:r>
              <a:rPr lang="en-US" dirty="0"/>
              <a:t>59</a:t>
            </a:r>
            <a:r>
              <a:rPr lang="en-US" dirty="0">
                <a:solidFill>
                  <a:schemeClr val="tx1"/>
                </a:solidFill>
              </a:rPr>
              <a:t>%) are either unanswered, busy, failed, or incomplete — indicating scope for improving connectivity and call handling.</a:t>
            </a:r>
          </a:p>
          <a:p>
            <a:pPr marL="342900" indent="-342900" algn="l">
              <a:buFont typeface="Arial" panose="020B0604020202020204" pitchFamily="34" charset="0"/>
              <a:buChar char="•"/>
            </a:pPr>
            <a:r>
              <a:rPr lang="en-IN" dirty="0">
                <a:solidFill>
                  <a:schemeClr val="tx1"/>
                </a:solidFill>
                <a:latin typeface="Arial" panose="020B0604020202020204" pitchFamily="34" charset="0"/>
                <a:cs typeface="Arial" panose="020B0604020202020204" pitchFamily="34" charset="0"/>
              </a:rPr>
              <a:t>Need to improve call completing</a:t>
            </a:r>
            <a:r>
              <a:rPr lang="en-IN" dirty="0">
                <a:latin typeface="Arial" panose="020B0604020202020204" pitchFamily="34" charset="0"/>
                <a:cs typeface="Arial" panose="020B0604020202020204" pitchFamily="34" charset="0"/>
              </a:rPr>
              <a:t> </a:t>
            </a:r>
            <a:r>
              <a:rPr lang="en-IN" dirty="0">
                <a:solidFill>
                  <a:schemeClr val="tx1"/>
                </a:solidFill>
                <a:latin typeface="Arial" panose="020B0604020202020204" pitchFamily="34" charset="0"/>
                <a:cs typeface="Arial" panose="020B0604020202020204" pitchFamily="34" charset="0"/>
              </a:rPr>
              <a:t>percentage by providing automate IVR call for initial engage and hire more agent to increase call completing</a:t>
            </a:r>
            <a:endParaRPr lang="en-US" dirty="0">
              <a:solidFill>
                <a:schemeClr val="tx1"/>
              </a:solidFill>
            </a:endParaRPr>
          </a:p>
          <a:p>
            <a:endParaRPr lang="en-IN" dirty="0"/>
          </a:p>
        </p:txBody>
      </p:sp>
      <p:pic>
        <p:nvPicPr>
          <p:cNvPr id="5" name="Picture 4">
            <a:extLst>
              <a:ext uri="{FF2B5EF4-FFF2-40B4-BE49-F238E27FC236}">
                <a16:creationId xmlns:a16="http://schemas.microsoft.com/office/drawing/2014/main" id="{E99698F4-2957-C4AC-41F3-A89AD1023F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22123" y="1219201"/>
            <a:ext cx="4074289" cy="4278094"/>
          </a:xfrm>
          <a:prstGeom prst="rect">
            <a:avLst/>
          </a:prstGeom>
        </p:spPr>
      </p:pic>
    </p:spTree>
    <p:extLst>
      <p:ext uri="{BB962C8B-B14F-4D97-AF65-F5344CB8AC3E}">
        <p14:creationId xmlns:p14="http://schemas.microsoft.com/office/powerpoint/2010/main" val="9137524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49839-7F20-DF9F-D197-3B48739A9605}"/>
              </a:ext>
            </a:extLst>
          </p:cNvPr>
          <p:cNvSpPr>
            <a:spLocks noGrp="1"/>
          </p:cNvSpPr>
          <p:nvPr>
            <p:ph type="ctrTitle"/>
          </p:nvPr>
        </p:nvSpPr>
        <p:spPr>
          <a:xfrm>
            <a:off x="1154954" y="590309"/>
            <a:ext cx="10270021" cy="861420"/>
          </a:xfrm>
        </p:spPr>
        <p:txBody>
          <a:bodyPr>
            <a:noAutofit/>
          </a:bodyPr>
          <a:lstStyle/>
          <a:p>
            <a:r>
              <a:rPr lang="en-IN" sz="4800" b="1" dirty="0">
                <a:solidFill>
                  <a:schemeClr val="tx1"/>
                </a:solidFill>
                <a:latin typeface="Arial" panose="020B0604020202020204" pitchFamily="34" charset="0"/>
                <a:cs typeface="Arial" panose="020B0604020202020204" pitchFamily="34" charset="0"/>
              </a:rPr>
              <a:t>Identifying performance gaps</a:t>
            </a:r>
            <a:endParaRPr lang="en-IN" sz="4800" b="1" dirty="0">
              <a:solidFill>
                <a:schemeClr val="tx1"/>
              </a:solidFill>
            </a:endParaRPr>
          </a:p>
        </p:txBody>
      </p:sp>
      <p:graphicFrame>
        <p:nvGraphicFramePr>
          <p:cNvPr id="5" name="Diagram 4">
            <a:extLst>
              <a:ext uri="{FF2B5EF4-FFF2-40B4-BE49-F238E27FC236}">
                <a16:creationId xmlns:a16="http://schemas.microsoft.com/office/drawing/2014/main" id="{914DCC08-B866-7A63-4956-94AD243966BD}"/>
              </a:ext>
            </a:extLst>
          </p:cNvPr>
          <p:cNvGraphicFramePr/>
          <p:nvPr>
            <p:extLst>
              <p:ext uri="{D42A27DB-BD31-4B8C-83A1-F6EECF244321}">
                <p14:modId xmlns:p14="http://schemas.microsoft.com/office/powerpoint/2010/main" val="3207479923"/>
              </p:ext>
            </p:extLst>
          </p:nvPr>
        </p:nvGraphicFramePr>
        <p:xfrm>
          <a:off x="1154954" y="1662745"/>
          <a:ext cx="9395815" cy="40414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049310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13BE9-D0E1-82F3-6829-A1071B9E8F12}"/>
              </a:ext>
            </a:extLst>
          </p:cNvPr>
          <p:cNvSpPr>
            <a:spLocks noGrp="1"/>
          </p:cNvSpPr>
          <p:nvPr>
            <p:ph type="ctrTitle"/>
          </p:nvPr>
        </p:nvSpPr>
        <p:spPr>
          <a:xfrm>
            <a:off x="1154955" y="190919"/>
            <a:ext cx="9968570" cy="1028281"/>
          </a:xfrm>
        </p:spPr>
        <p:txBody>
          <a:bodyPr>
            <a:normAutofit/>
          </a:bodyPr>
          <a:lstStyle/>
          <a:p>
            <a:pPr algn="ctr"/>
            <a:r>
              <a:rPr lang="en-US" sz="4800" b="1" dirty="0"/>
              <a:t>Revenue generated by consultation type</a:t>
            </a:r>
            <a:endParaRPr lang="en-IN" sz="4800" b="1" dirty="0"/>
          </a:p>
        </p:txBody>
      </p:sp>
      <p:sp>
        <p:nvSpPr>
          <p:cNvPr id="3" name="Subtitle 2">
            <a:extLst>
              <a:ext uri="{FF2B5EF4-FFF2-40B4-BE49-F238E27FC236}">
                <a16:creationId xmlns:a16="http://schemas.microsoft.com/office/drawing/2014/main" id="{3253BBBC-B417-A7F9-7AF2-9F839CC299D4}"/>
              </a:ext>
            </a:extLst>
          </p:cNvPr>
          <p:cNvSpPr>
            <a:spLocks noGrp="1"/>
          </p:cNvSpPr>
          <p:nvPr>
            <p:ph type="subTitle" idx="1"/>
          </p:nvPr>
        </p:nvSpPr>
        <p:spPr>
          <a:xfrm>
            <a:off x="1154955" y="1754791"/>
            <a:ext cx="4667111" cy="3884009"/>
          </a:xfrm>
        </p:spPr>
        <p:txBody>
          <a:bodyPr/>
          <a:lstStyle/>
          <a:p>
            <a:pPr algn="l"/>
            <a:r>
              <a:rPr lang="en-US" dirty="0">
                <a:solidFill>
                  <a:schemeClr val="tx1">
                    <a:lumMod val="95000"/>
                    <a:lumOff val="5000"/>
                  </a:schemeClr>
                </a:solidFill>
              </a:rPr>
              <a:t>Based on the data in the chart:</a:t>
            </a:r>
          </a:p>
          <a:p>
            <a:pPr marL="285750" indent="-285750" algn="l">
              <a:buFont typeface="Courier New" panose="02070309020205020404" pitchFamily="49" charset="0"/>
              <a:buChar char="o"/>
            </a:pPr>
            <a:r>
              <a:rPr lang="en-US" dirty="0">
                <a:solidFill>
                  <a:schemeClr val="tx1">
                    <a:lumMod val="95000"/>
                    <a:lumOff val="5000"/>
                  </a:schemeClr>
                </a:solidFill>
              </a:rPr>
              <a:t>Calls generated ₹168,520.62, accounting for 79% of the total revenue.</a:t>
            </a:r>
          </a:p>
          <a:p>
            <a:pPr marL="285750" indent="-285750" algn="l">
              <a:buFont typeface="Courier New" panose="02070309020205020404" pitchFamily="49" charset="0"/>
              <a:buChar char="o"/>
            </a:pPr>
            <a:r>
              <a:rPr lang="en-US" dirty="0">
                <a:solidFill>
                  <a:schemeClr val="tx1">
                    <a:lumMod val="95000"/>
                    <a:lumOff val="5000"/>
                  </a:schemeClr>
                </a:solidFill>
              </a:rPr>
              <a:t>Chats generated ₹45,494.68, making up 21%, while Complementary (₹50.60) and Public Live Calls (₹0) had negligible revenue impact.</a:t>
            </a:r>
          </a:p>
          <a:p>
            <a:endParaRPr lang="en-IN" dirty="0"/>
          </a:p>
        </p:txBody>
      </p:sp>
      <p:graphicFrame>
        <p:nvGraphicFramePr>
          <p:cNvPr id="4" name="Chart 3">
            <a:extLst>
              <a:ext uri="{FF2B5EF4-FFF2-40B4-BE49-F238E27FC236}">
                <a16:creationId xmlns:a16="http://schemas.microsoft.com/office/drawing/2014/main" id="{7DAA23AA-DD90-E47B-EEAB-669AD45F8376}"/>
              </a:ext>
            </a:extLst>
          </p:cNvPr>
          <p:cNvGraphicFramePr>
            <a:graphicFrameLocks/>
          </p:cNvGraphicFramePr>
          <p:nvPr>
            <p:extLst>
              <p:ext uri="{D42A27DB-BD31-4B8C-83A1-F6EECF244321}">
                <p14:modId xmlns:p14="http://schemas.microsoft.com/office/powerpoint/2010/main" val="366228615"/>
              </p:ext>
            </p:extLst>
          </p:nvPr>
        </p:nvGraphicFramePr>
        <p:xfrm>
          <a:off x="6194673" y="1615643"/>
          <a:ext cx="4599353" cy="380105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5448130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84B63-C546-186E-EA83-C607FADFB142}"/>
              </a:ext>
            </a:extLst>
          </p:cNvPr>
          <p:cNvSpPr>
            <a:spLocks noGrp="1"/>
          </p:cNvSpPr>
          <p:nvPr>
            <p:ph type="ctrTitle"/>
          </p:nvPr>
        </p:nvSpPr>
        <p:spPr>
          <a:xfrm>
            <a:off x="1154955" y="636608"/>
            <a:ext cx="8825658" cy="937549"/>
          </a:xfrm>
        </p:spPr>
        <p:txBody>
          <a:bodyPr>
            <a:normAutofit/>
          </a:bodyPr>
          <a:lstStyle/>
          <a:p>
            <a:r>
              <a:rPr lang="en-US" sz="4800" b="1" dirty="0"/>
              <a:t>Rating wise guru distribution</a:t>
            </a:r>
            <a:endParaRPr lang="en-IN" sz="4800" b="1" dirty="0"/>
          </a:p>
        </p:txBody>
      </p:sp>
      <p:sp>
        <p:nvSpPr>
          <p:cNvPr id="3" name="Subtitle 2">
            <a:extLst>
              <a:ext uri="{FF2B5EF4-FFF2-40B4-BE49-F238E27FC236}">
                <a16:creationId xmlns:a16="http://schemas.microsoft.com/office/drawing/2014/main" id="{05EBDC65-1C73-6D3F-97EB-68CE87D848CB}"/>
              </a:ext>
            </a:extLst>
          </p:cNvPr>
          <p:cNvSpPr>
            <a:spLocks noGrp="1"/>
          </p:cNvSpPr>
          <p:nvPr>
            <p:ph type="subTitle" idx="1"/>
          </p:nvPr>
        </p:nvSpPr>
        <p:spPr>
          <a:xfrm>
            <a:off x="450284" y="1944547"/>
            <a:ext cx="5267610" cy="4416060"/>
          </a:xfrm>
        </p:spPr>
        <p:txBody>
          <a:bodyPr>
            <a:normAutofit/>
          </a:bodyPr>
          <a:lstStyle/>
          <a:p>
            <a:pPr algn="l"/>
            <a:r>
              <a:rPr lang="en-US" dirty="0"/>
              <a:t>T</a:t>
            </a:r>
            <a:r>
              <a:rPr lang="en-US" cap="none" dirty="0"/>
              <a:t>he majority of gurus, around 7,256, have a rating of 0, which suggests they are either new or haven't been rated yet. a large number also fall within the low rating range (1 to 3), indicating there may be quality issues or a need for performance improvement. very few gurus have high ratings (6 to 8), showing that top-rated gurus are limited, and this could be an opportunity for focused training or mentoring.</a:t>
            </a:r>
          </a:p>
          <a:p>
            <a:endParaRPr lang="en-IN" dirty="0"/>
          </a:p>
        </p:txBody>
      </p:sp>
      <p:graphicFrame>
        <p:nvGraphicFramePr>
          <p:cNvPr id="5" name="Chart 4">
            <a:extLst>
              <a:ext uri="{FF2B5EF4-FFF2-40B4-BE49-F238E27FC236}">
                <a16:creationId xmlns:a16="http://schemas.microsoft.com/office/drawing/2014/main" id="{61B5A5CB-03D8-407B-86BF-8DC81B7960FA}"/>
              </a:ext>
            </a:extLst>
          </p:cNvPr>
          <p:cNvGraphicFramePr>
            <a:graphicFrameLocks/>
          </p:cNvGraphicFramePr>
          <p:nvPr>
            <p:extLst>
              <p:ext uri="{D42A27DB-BD31-4B8C-83A1-F6EECF244321}">
                <p14:modId xmlns:p14="http://schemas.microsoft.com/office/powerpoint/2010/main" val="2586211092"/>
              </p:ext>
            </p:extLst>
          </p:nvPr>
        </p:nvGraphicFramePr>
        <p:xfrm>
          <a:off x="5959832" y="1818862"/>
          <a:ext cx="5267611" cy="323021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0119559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3A8D4-EBC3-8798-FE87-C1A530EE6E92}"/>
              </a:ext>
            </a:extLst>
          </p:cNvPr>
          <p:cNvSpPr>
            <a:spLocks noGrp="1"/>
          </p:cNvSpPr>
          <p:nvPr>
            <p:ph type="ctrTitle"/>
          </p:nvPr>
        </p:nvSpPr>
        <p:spPr>
          <a:xfrm>
            <a:off x="1154955" y="567159"/>
            <a:ext cx="9546540" cy="652041"/>
          </a:xfrm>
        </p:spPr>
        <p:txBody>
          <a:bodyPr>
            <a:noAutofit/>
          </a:bodyPr>
          <a:lstStyle/>
          <a:p>
            <a:r>
              <a:rPr lang="en-US" sz="4800" b="1" dirty="0"/>
              <a:t>Total call distribution by hour</a:t>
            </a:r>
            <a:endParaRPr lang="en-IN" sz="4800" b="1" dirty="0"/>
          </a:p>
        </p:txBody>
      </p:sp>
      <p:sp>
        <p:nvSpPr>
          <p:cNvPr id="3" name="Subtitle 2">
            <a:extLst>
              <a:ext uri="{FF2B5EF4-FFF2-40B4-BE49-F238E27FC236}">
                <a16:creationId xmlns:a16="http://schemas.microsoft.com/office/drawing/2014/main" id="{49B7826D-E622-11CB-CC45-CE60A405A126}"/>
              </a:ext>
            </a:extLst>
          </p:cNvPr>
          <p:cNvSpPr>
            <a:spLocks noGrp="1"/>
          </p:cNvSpPr>
          <p:nvPr>
            <p:ph type="subTitle" idx="1"/>
          </p:nvPr>
        </p:nvSpPr>
        <p:spPr>
          <a:xfrm>
            <a:off x="1154956" y="1758462"/>
            <a:ext cx="3316560" cy="3880339"/>
          </a:xfrm>
        </p:spPr>
        <p:txBody>
          <a:bodyPr/>
          <a:lstStyle/>
          <a:p>
            <a:pPr marL="342900" indent="-342900" algn="l">
              <a:buFont typeface="Arial" panose="020B0604020202020204" pitchFamily="34" charset="0"/>
              <a:buChar char="•"/>
            </a:pPr>
            <a:r>
              <a:rPr lang="en-IN" cap="none" dirty="0">
                <a:solidFill>
                  <a:schemeClr val="tx1">
                    <a:lumMod val="95000"/>
                    <a:lumOff val="5000"/>
                  </a:schemeClr>
                </a:solidFill>
                <a:latin typeface="Arial" panose="020B0604020202020204" pitchFamily="34" charset="0"/>
                <a:cs typeface="Arial" panose="020B0604020202020204" pitchFamily="34" charset="0"/>
              </a:rPr>
              <a:t>Call peak hour must be focus on Peak hour to engage more user and generate Maximum revenue.</a:t>
            </a:r>
          </a:p>
          <a:p>
            <a:endParaRPr lang="en-IN" dirty="0"/>
          </a:p>
        </p:txBody>
      </p:sp>
      <p:graphicFrame>
        <p:nvGraphicFramePr>
          <p:cNvPr id="5" name="Chart 4">
            <a:extLst>
              <a:ext uri="{FF2B5EF4-FFF2-40B4-BE49-F238E27FC236}">
                <a16:creationId xmlns:a16="http://schemas.microsoft.com/office/drawing/2014/main" id="{25B799F5-FB4B-4D94-B0E8-9D6EB9C3C228}"/>
              </a:ext>
            </a:extLst>
          </p:cNvPr>
          <p:cNvGraphicFramePr>
            <a:graphicFrameLocks/>
          </p:cNvGraphicFramePr>
          <p:nvPr>
            <p:extLst>
              <p:ext uri="{D42A27DB-BD31-4B8C-83A1-F6EECF244321}">
                <p14:modId xmlns:p14="http://schemas.microsoft.com/office/powerpoint/2010/main" val="111428762"/>
              </p:ext>
            </p:extLst>
          </p:nvPr>
        </p:nvGraphicFramePr>
        <p:xfrm>
          <a:off x="4757196" y="1423686"/>
          <a:ext cx="6018834" cy="42151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4754376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961DA-6C24-31E3-F988-9B92D2A5D989}"/>
              </a:ext>
            </a:extLst>
          </p:cNvPr>
          <p:cNvSpPr>
            <a:spLocks noGrp="1"/>
          </p:cNvSpPr>
          <p:nvPr>
            <p:ph type="ctrTitle"/>
          </p:nvPr>
        </p:nvSpPr>
        <p:spPr>
          <a:xfrm>
            <a:off x="1154955" y="578735"/>
            <a:ext cx="8825658" cy="325617"/>
          </a:xfrm>
        </p:spPr>
        <p:txBody>
          <a:bodyPr>
            <a:noAutofit/>
          </a:bodyPr>
          <a:lstStyle/>
          <a:p>
            <a:pPr algn="ctr"/>
            <a:r>
              <a:rPr lang="en-IN" sz="4800" b="1" dirty="0"/>
              <a:t>User engagement based on ratings</a:t>
            </a:r>
          </a:p>
        </p:txBody>
      </p:sp>
      <p:sp>
        <p:nvSpPr>
          <p:cNvPr id="3" name="Subtitle 2">
            <a:extLst>
              <a:ext uri="{FF2B5EF4-FFF2-40B4-BE49-F238E27FC236}">
                <a16:creationId xmlns:a16="http://schemas.microsoft.com/office/drawing/2014/main" id="{FBAF6A5F-D9F0-F19B-358D-2C09748F944C}"/>
              </a:ext>
            </a:extLst>
          </p:cNvPr>
          <p:cNvSpPr>
            <a:spLocks noGrp="1"/>
          </p:cNvSpPr>
          <p:nvPr>
            <p:ph type="subTitle" idx="1"/>
          </p:nvPr>
        </p:nvSpPr>
        <p:spPr>
          <a:xfrm>
            <a:off x="844950" y="1507253"/>
            <a:ext cx="4583575" cy="4143122"/>
          </a:xfrm>
        </p:spPr>
        <p:txBody>
          <a:bodyPr>
            <a:normAutofit lnSpcReduction="10000"/>
          </a:bodyPr>
          <a:lstStyle/>
          <a:p>
            <a:pPr algn="l"/>
            <a:r>
              <a:rPr lang="en-US" dirty="0">
                <a:solidFill>
                  <a:schemeClr val="tx1">
                    <a:lumMod val="95000"/>
                    <a:lumOff val="5000"/>
                  </a:schemeClr>
                </a:solidFill>
              </a:rPr>
              <a:t>ACCORDING TO DATA</a:t>
            </a:r>
          </a:p>
          <a:p>
            <a:pPr marL="285750" indent="-285750" algn="l">
              <a:buFont typeface="Courier New" panose="02070309020205020404" pitchFamily="49" charset="0"/>
              <a:buChar char="o"/>
            </a:pPr>
            <a:r>
              <a:rPr lang="en-US" dirty="0">
                <a:solidFill>
                  <a:schemeClr val="tx1">
                    <a:lumMod val="95000"/>
                    <a:lumOff val="5000"/>
                  </a:schemeClr>
                </a:solidFill>
              </a:rPr>
              <a:t>Majority of users (7256) gave a rating of 0, showing strong dissatisfaction or non-engagement.</a:t>
            </a:r>
          </a:p>
          <a:p>
            <a:pPr marL="285750" indent="-285750" algn="l">
              <a:buFont typeface="Courier New" panose="02070309020205020404" pitchFamily="49" charset="0"/>
              <a:buChar char="o"/>
            </a:pPr>
            <a:r>
              <a:rPr lang="en-US" dirty="0">
                <a:solidFill>
                  <a:schemeClr val="tx1">
                    <a:lumMod val="95000"/>
                    <a:lumOff val="5000"/>
                  </a:schemeClr>
                </a:solidFill>
              </a:rPr>
              <a:t>Ratings between 2 and 3 are moderately high, while ratings 4 to 8 remain consistently lower and evenly distributed.</a:t>
            </a:r>
          </a:p>
          <a:p>
            <a:pPr marL="285750" indent="-285750" algn="l">
              <a:buFont typeface="Courier New" panose="02070309020205020404" pitchFamily="49" charset="0"/>
              <a:buChar char="o"/>
            </a:pPr>
            <a:r>
              <a:rPr lang="en-IN" dirty="0">
                <a:solidFill>
                  <a:schemeClr val="tx1">
                    <a:lumMod val="95000"/>
                    <a:lumOff val="5000"/>
                  </a:schemeClr>
                </a:solidFill>
                <a:latin typeface="Arial" panose="020B0604020202020204" pitchFamily="34" charset="0"/>
                <a:cs typeface="Arial" panose="020B0604020202020204" pitchFamily="34" charset="0"/>
              </a:rPr>
              <a:t>IT Need to improve customer satisfaction by providing Free chat through AI Chat Bot .</a:t>
            </a:r>
          </a:p>
          <a:p>
            <a:pPr marL="285750" indent="-285750">
              <a:buFont typeface="Courier New" panose="02070309020205020404" pitchFamily="49" charset="0"/>
              <a:buChar char="o"/>
            </a:pPr>
            <a:endParaRPr lang="en-IN" dirty="0"/>
          </a:p>
        </p:txBody>
      </p:sp>
      <p:graphicFrame>
        <p:nvGraphicFramePr>
          <p:cNvPr id="4" name="Chart 3">
            <a:extLst>
              <a:ext uri="{FF2B5EF4-FFF2-40B4-BE49-F238E27FC236}">
                <a16:creationId xmlns:a16="http://schemas.microsoft.com/office/drawing/2014/main" id="{A2BFE98F-4867-77AB-8F36-E0760BDCEEEE}"/>
              </a:ext>
            </a:extLst>
          </p:cNvPr>
          <p:cNvGraphicFramePr>
            <a:graphicFrameLocks/>
          </p:cNvGraphicFramePr>
          <p:nvPr>
            <p:extLst>
              <p:ext uri="{D42A27DB-BD31-4B8C-83A1-F6EECF244321}">
                <p14:modId xmlns:p14="http://schemas.microsoft.com/office/powerpoint/2010/main" val="1240596884"/>
              </p:ext>
            </p:extLst>
          </p:nvPr>
        </p:nvGraphicFramePr>
        <p:xfrm>
          <a:off x="5972537" y="1597306"/>
          <a:ext cx="5351361" cy="450255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8074636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6C1EB-F6F7-55E2-7A39-333E893B5320}"/>
              </a:ext>
            </a:extLst>
          </p:cNvPr>
          <p:cNvSpPr>
            <a:spLocks noGrp="1"/>
          </p:cNvSpPr>
          <p:nvPr>
            <p:ph type="ctrTitle"/>
          </p:nvPr>
        </p:nvSpPr>
        <p:spPr>
          <a:xfrm>
            <a:off x="1154955" y="393539"/>
            <a:ext cx="8825658" cy="681635"/>
          </a:xfrm>
        </p:spPr>
        <p:txBody>
          <a:bodyPr>
            <a:noAutofit/>
          </a:bodyPr>
          <a:lstStyle/>
          <a:p>
            <a:pPr algn="ctr"/>
            <a:r>
              <a:rPr lang="en-US" sz="4800" b="1" dirty="0"/>
              <a:t>Top 10 guru </a:t>
            </a:r>
            <a:endParaRPr lang="en-IN" sz="4800" b="1" dirty="0"/>
          </a:p>
        </p:txBody>
      </p:sp>
      <p:sp>
        <p:nvSpPr>
          <p:cNvPr id="3" name="Subtitle 2">
            <a:extLst>
              <a:ext uri="{FF2B5EF4-FFF2-40B4-BE49-F238E27FC236}">
                <a16:creationId xmlns:a16="http://schemas.microsoft.com/office/drawing/2014/main" id="{04E8444D-0678-06DB-9F68-44ED519BDA20}"/>
              </a:ext>
            </a:extLst>
          </p:cNvPr>
          <p:cNvSpPr>
            <a:spLocks noGrp="1"/>
          </p:cNvSpPr>
          <p:nvPr>
            <p:ph type="subTitle" idx="1"/>
          </p:nvPr>
        </p:nvSpPr>
        <p:spPr>
          <a:xfrm>
            <a:off x="684065" y="2305877"/>
            <a:ext cx="3691166" cy="3631935"/>
          </a:xfrm>
        </p:spPr>
        <p:txBody>
          <a:bodyPr/>
          <a:lstStyle/>
          <a:p>
            <a:pPr algn="l"/>
            <a:r>
              <a:rPr lang="en-IN" dirty="0">
                <a:solidFill>
                  <a:schemeClr val="tx1">
                    <a:lumMod val="95000"/>
                    <a:lumOff val="5000"/>
                  </a:schemeClr>
                </a:solidFill>
                <a:latin typeface="Arial" panose="020B0604020202020204" pitchFamily="34" charset="0"/>
                <a:cs typeface="Arial" panose="020B0604020202020204" pitchFamily="34" charset="0"/>
              </a:rPr>
              <a:t>Represents the top 10 guru on earning based on various criteria like "sum of astrologers earnings",  and "sum of call time duration".</a:t>
            </a:r>
          </a:p>
          <a:p>
            <a:endParaRPr lang="en-IN" dirty="0"/>
          </a:p>
        </p:txBody>
      </p:sp>
      <p:graphicFrame>
        <p:nvGraphicFramePr>
          <p:cNvPr id="4" name="Chart 3">
            <a:extLst>
              <a:ext uri="{FF2B5EF4-FFF2-40B4-BE49-F238E27FC236}">
                <a16:creationId xmlns:a16="http://schemas.microsoft.com/office/drawing/2014/main" id="{261F7A24-D6B6-C536-0DC2-2EC00439B052}"/>
              </a:ext>
            </a:extLst>
          </p:cNvPr>
          <p:cNvGraphicFramePr>
            <a:graphicFrameLocks/>
          </p:cNvGraphicFramePr>
          <p:nvPr>
            <p:extLst>
              <p:ext uri="{D42A27DB-BD31-4B8C-83A1-F6EECF244321}">
                <p14:modId xmlns:p14="http://schemas.microsoft.com/office/powerpoint/2010/main" val="3063410672"/>
              </p:ext>
            </p:extLst>
          </p:nvPr>
        </p:nvGraphicFramePr>
        <p:xfrm>
          <a:off x="4896092" y="1551008"/>
          <a:ext cx="6611844" cy="468774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5959851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70182-C561-9126-745E-6DE78B95F068}"/>
              </a:ext>
            </a:extLst>
          </p:cNvPr>
          <p:cNvSpPr>
            <a:spLocks noGrp="1"/>
          </p:cNvSpPr>
          <p:nvPr>
            <p:ph type="ctrTitle"/>
          </p:nvPr>
        </p:nvSpPr>
        <p:spPr>
          <a:xfrm>
            <a:off x="1154955" y="578733"/>
            <a:ext cx="8825658" cy="798653"/>
          </a:xfrm>
        </p:spPr>
        <p:txBody>
          <a:bodyPr>
            <a:noAutofit/>
          </a:bodyPr>
          <a:lstStyle/>
          <a:p>
            <a:pPr algn="ctr"/>
            <a:r>
              <a:rPr lang="en-US" sz="4800" b="1" dirty="0"/>
              <a:t>Daily net amount</a:t>
            </a:r>
            <a:endParaRPr lang="en-IN" sz="4800" b="1" dirty="0"/>
          </a:p>
        </p:txBody>
      </p:sp>
      <p:sp>
        <p:nvSpPr>
          <p:cNvPr id="3" name="Subtitle 2">
            <a:extLst>
              <a:ext uri="{FF2B5EF4-FFF2-40B4-BE49-F238E27FC236}">
                <a16:creationId xmlns:a16="http://schemas.microsoft.com/office/drawing/2014/main" id="{CA29DD36-B955-278B-534C-5C82DFA2A7AC}"/>
              </a:ext>
            </a:extLst>
          </p:cNvPr>
          <p:cNvSpPr>
            <a:spLocks noGrp="1"/>
          </p:cNvSpPr>
          <p:nvPr>
            <p:ph type="subTitle" idx="1"/>
          </p:nvPr>
        </p:nvSpPr>
        <p:spPr>
          <a:xfrm>
            <a:off x="83735" y="1511191"/>
            <a:ext cx="4268345" cy="4969996"/>
          </a:xfrm>
        </p:spPr>
        <p:txBody>
          <a:bodyPr>
            <a:normAutofit/>
          </a:bodyPr>
          <a:lstStyle/>
          <a:p>
            <a:pPr algn="l"/>
            <a:r>
              <a:rPr lang="en-US" dirty="0">
                <a:solidFill>
                  <a:schemeClr val="tx1">
                    <a:lumMod val="95000"/>
                    <a:lumOff val="5000"/>
                  </a:schemeClr>
                </a:solidFill>
              </a:rPr>
              <a:t>ACCORDING TO DATA, </a:t>
            </a:r>
          </a:p>
          <a:p>
            <a:pPr algn="l"/>
            <a:r>
              <a:rPr lang="en-IN" dirty="0">
                <a:solidFill>
                  <a:schemeClr val="tx1">
                    <a:lumMod val="95000"/>
                    <a:lumOff val="5000"/>
                  </a:schemeClr>
                </a:solidFill>
                <a:latin typeface="Arial" panose="020B0604020202020204" pitchFamily="34" charset="0"/>
                <a:cs typeface="Arial" panose="020B0604020202020204" pitchFamily="34" charset="0"/>
              </a:rPr>
              <a:t>Sum of Daily net Amount </a:t>
            </a:r>
          </a:p>
          <a:p>
            <a:pPr algn="l"/>
            <a:r>
              <a:rPr lang="en-IN" dirty="0">
                <a:solidFill>
                  <a:schemeClr val="tx1">
                    <a:lumMod val="95000"/>
                    <a:lumOff val="5000"/>
                  </a:schemeClr>
                </a:solidFill>
                <a:latin typeface="Arial" panose="020B0604020202020204" pitchFamily="34" charset="0"/>
                <a:cs typeface="Arial" panose="020B0604020202020204" pitchFamily="34" charset="0"/>
              </a:rPr>
              <a:t>( including call , chat )</a:t>
            </a:r>
          </a:p>
          <a:p>
            <a:pPr marL="285750" indent="-285750" algn="l">
              <a:buFont typeface="Wingdings" panose="05000000000000000000" pitchFamily="2" charset="2"/>
              <a:buChar char="v"/>
            </a:pPr>
            <a:r>
              <a:rPr lang="en-US" dirty="0">
                <a:solidFill>
                  <a:schemeClr val="tx1">
                    <a:lumMod val="95000"/>
                    <a:lumOff val="5000"/>
                  </a:schemeClr>
                </a:solidFill>
              </a:rPr>
              <a:t>Daily net amount shows major fluctuations, with significant peaks around mid-December.</a:t>
            </a:r>
          </a:p>
          <a:p>
            <a:pPr marL="285750" indent="-285750" algn="l">
              <a:buFont typeface="Wingdings" panose="05000000000000000000" pitchFamily="2" charset="2"/>
              <a:buChar char="v"/>
            </a:pPr>
            <a:r>
              <a:rPr lang="en-US" dirty="0">
                <a:solidFill>
                  <a:schemeClr val="tx1">
                    <a:lumMod val="95000"/>
                    <a:lumOff val="5000"/>
                  </a:schemeClr>
                </a:solidFill>
              </a:rPr>
              <a:t>Several sharp rises and drops highlight irregular cash flow patterns during the period.</a:t>
            </a:r>
            <a:endParaRPr lang="en-IN" dirty="0">
              <a:solidFill>
                <a:schemeClr val="tx1">
                  <a:lumMod val="95000"/>
                  <a:lumOff val="5000"/>
                </a:schemeClr>
              </a:solidFill>
            </a:endParaRPr>
          </a:p>
        </p:txBody>
      </p:sp>
      <p:graphicFrame>
        <p:nvGraphicFramePr>
          <p:cNvPr id="5" name="Chart 4">
            <a:extLst>
              <a:ext uri="{FF2B5EF4-FFF2-40B4-BE49-F238E27FC236}">
                <a16:creationId xmlns:a16="http://schemas.microsoft.com/office/drawing/2014/main" id="{614853DA-DCEE-5BFE-4E8B-332D984B6CC4}"/>
              </a:ext>
            </a:extLst>
          </p:cNvPr>
          <p:cNvGraphicFramePr>
            <a:graphicFrameLocks/>
          </p:cNvGraphicFramePr>
          <p:nvPr>
            <p:extLst>
              <p:ext uri="{D42A27DB-BD31-4B8C-83A1-F6EECF244321}">
                <p14:modId xmlns:p14="http://schemas.microsoft.com/office/powerpoint/2010/main" val="2297604319"/>
              </p:ext>
            </p:extLst>
          </p:nvPr>
        </p:nvGraphicFramePr>
        <p:xfrm>
          <a:off x="4352081" y="1511191"/>
          <a:ext cx="7756183" cy="368380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5987462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164635F9-8061-CFBA-E2F8-953473203A9D}"/>
              </a:ext>
            </a:extLst>
          </p:cNvPr>
          <p:cNvSpPr/>
          <p:nvPr/>
        </p:nvSpPr>
        <p:spPr>
          <a:xfrm>
            <a:off x="2997843" y="81023"/>
            <a:ext cx="5623643" cy="520861"/>
          </a:xfrm>
          <a:prstGeom prst="round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r>
              <a:rPr lang="en-US" sz="4800" b="1" dirty="0">
                <a:solidFill>
                  <a:schemeClr val="tx1"/>
                </a:solidFill>
              </a:rPr>
              <a:t>Dashboard</a:t>
            </a:r>
            <a:endParaRPr lang="en-IN" sz="4800" b="1" dirty="0">
              <a:solidFill>
                <a:schemeClr val="tx1"/>
              </a:solidFill>
            </a:endParaRPr>
          </a:p>
        </p:txBody>
      </p:sp>
      <p:pic>
        <p:nvPicPr>
          <p:cNvPr id="7" name="Picture 6">
            <a:extLst>
              <a:ext uri="{FF2B5EF4-FFF2-40B4-BE49-F238E27FC236}">
                <a16:creationId xmlns:a16="http://schemas.microsoft.com/office/drawing/2014/main" id="{87E3198F-CA6E-D115-7EED-8FB93CEFFC39}"/>
              </a:ext>
            </a:extLst>
          </p:cNvPr>
          <p:cNvPicPr>
            <a:picLocks noChangeAspect="1"/>
          </p:cNvPicPr>
          <p:nvPr/>
        </p:nvPicPr>
        <p:blipFill>
          <a:blip r:embed="rId3"/>
          <a:srcRect l="2120" t="32372" r="2256" b="8797"/>
          <a:stretch>
            <a:fillRect/>
          </a:stretch>
        </p:blipFill>
        <p:spPr>
          <a:xfrm>
            <a:off x="119268" y="685800"/>
            <a:ext cx="11966715" cy="5953539"/>
          </a:xfrm>
          <a:prstGeom prst="rect">
            <a:avLst/>
          </a:prstGeom>
        </p:spPr>
      </p:pic>
    </p:spTree>
    <p:extLst>
      <p:ext uri="{BB962C8B-B14F-4D97-AF65-F5344CB8AC3E}">
        <p14:creationId xmlns:p14="http://schemas.microsoft.com/office/powerpoint/2010/main" val="19629178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C47A4-51FB-4345-C37E-96E226507542}"/>
              </a:ext>
            </a:extLst>
          </p:cNvPr>
          <p:cNvSpPr>
            <a:spLocks noGrp="1"/>
          </p:cNvSpPr>
          <p:nvPr>
            <p:ph type="ctrTitle"/>
          </p:nvPr>
        </p:nvSpPr>
        <p:spPr>
          <a:xfrm>
            <a:off x="1154955" y="532434"/>
            <a:ext cx="8825658" cy="682907"/>
          </a:xfrm>
        </p:spPr>
        <p:txBody>
          <a:bodyPr>
            <a:noAutofit/>
          </a:bodyPr>
          <a:lstStyle/>
          <a:p>
            <a:pPr algn="ctr"/>
            <a:r>
              <a:rPr lang="en-US" sz="4800" b="1" dirty="0"/>
              <a:t>Key insight summary</a:t>
            </a:r>
            <a:endParaRPr lang="en-IN" sz="4800" b="1" dirty="0"/>
          </a:p>
        </p:txBody>
      </p:sp>
      <p:sp>
        <p:nvSpPr>
          <p:cNvPr id="3" name="Subtitle 2">
            <a:extLst>
              <a:ext uri="{FF2B5EF4-FFF2-40B4-BE49-F238E27FC236}">
                <a16:creationId xmlns:a16="http://schemas.microsoft.com/office/drawing/2014/main" id="{35B88E91-8990-9F01-DDFF-CC188C0B9803}"/>
              </a:ext>
            </a:extLst>
          </p:cNvPr>
          <p:cNvSpPr>
            <a:spLocks noGrp="1"/>
          </p:cNvSpPr>
          <p:nvPr>
            <p:ph type="subTitle" idx="1"/>
          </p:nvPr>
        </p:nvSpPr>
        <p:spPr>
          <a:xfrm>
            <a:off x="833377" y="1342662"/>
            <a:ext cx="10203668" cy="1441131"/>
          </a:xfrm>
        </p:spPr>
        <p:txBody>
          <a:bodyPr>
            <a:normAutofit fontScale="92500" lnSpcReduction="10000"/>
          </a:bodyPr>
          <a:lstStyle/>
          <a:p>
            <a:r>
              <a:rPr lang="en-US" dirty="0" err="1">
                <a:solidFill>
                  <a:schemeClr val="tx1">
                    <a:lumMod val="95000"/>
                    <a:lumOff val="5000"/>
                  </a:schemeClr>
                </a:solidFill>
                <a:latin typeface="Bahnschrift" panose="020B0502040204020203" pitchFamily="34" charset="0"/>
              </a:rPr>
              <a:t>AstroSage</a:t>
            </a:r>
            <a:r>
              <a:rPr lang="en-US" dirty="0">
                <a:solidFill>
                  <a:schemeClr val="tx1">
                    <a:lumMod val="95000"/>
                    <a:lumOff val="5000"/>
                  </a:schemeClr>
                </a:solidFill>
                <a:latin typeface="Bahnschrift" panose="020B0502040204020203" pitchFamily="34" charset="0"/>
              </a:rPr>
              <a:t> is experiencing lower average call volumes compared to </a:t>
            </a:r>
            <a:r>
              <a:rPr lang="en-US" dirty="0" err="1">
                <a:solidFill>
                  <a:schemeClr val="tx1">
                    <a:lumMod val="95000"/>
                    <a:lumOff val="5000"/>
                  </a:schemeClr>
                </a:solidFill>
                <a:latin typeface="Bahnschrift" panose="020B0502040204020203" pitchFamily="34" charset="0"/>
              </a:rPr>
              <a:t>AstroGuru</a:t>
            </a:r>
            <a:r>
              <a:rPr lang="en-US" dirty="0">
                <a:solidFill>
                  <a:schemeClr val="tx1">
                    <a:lumMod val="95000"/>
                    <a:lumOff val="5000"/>
                  </a:schemeClr>
                </a:solidFill>
                <a:latin typeface="Bahnschrift" panose="020B0502040204020203" pitchFamily="34" charset="0"/>
              </a:rPr>
              <a:t>, while customer satisfaction levels are steadily declining, indicating possible service concerns. Additionally, agent performance shows considerable variation, with certain agents performing exceptionally well and others lagging behind.</a:t>
            </a:r>
            <a:endParaRPr lang="en-IN" dirty="0">
              <a:solidFill>
                <a:schemeClr val="tx1">
                  <a:lumMod val="95000"/>
                  <a:lumOff val="5000"/>
                </a:schemeClr>
              </a:solidFill>
              <a:latin typeface="Bahnschrift" panose="020B0502040204020203" pitchFamily="34" charset="0"/>
            </a:endParaRPr>
          </a:p>
        </p:txBody>
      </p:sp>
      <p:sp>
        <p:nvSpPr>
          <p:cNvPr id="5" name="TextBox 4">
            <a:extLst>
              <a:ext uri="{FF2B5EF4-FFF2-40B4-BE49-F238E27FC236}">
                <a16:creationId xmlns:a16="http://schemas.microsoft.com/office/drawing/2014/main" id="{43EEF078-E4CA-1D4E-8760-C43338DDA124}"/>
              </a:ext>
            </a:extLst>
          </p:cNvPr>
          <p:cNvSpPr txBox="1"/>
          <p:nvPr/>
        </p:nvSpPr>
        <p:spPr>
          <a:xfrm>
            <a:off x="717631" y="2783794"/>
            <a:ext cx="10914926" cy="5320944"/>
          </a:xfrm>
          <a:prstGeom prst="rect">
            <a:avLst/>
          </a:prstGeom>
          <a:noFill/>
        </p:spPr>
        <p:txBody>
          <a:bodyPr wrap="square">
            <a:spAutoFit/>
          </a:bodyPr>
          <a:lstStyle/>
          <a:p>
            <a:pPr marL="4000500" lvl="8" indent="-342900">
              <a:buFont typeface="Wingdings" panose="05000000000000000000" pitchFamily="2" charset="2"/>
              <a:buChar char="v"/>
            </a:pPr>
            <a:r>
              <a:rPr lang="en-US" sz="2800" dirty="0">
                <a:solidFill>
                  <a:schemeClr val="tx1">
                    <a:lumMod val="95000"/>
                    <a:lumOff val="5000"/>
                  </a:schemeClr>
                </a:solidFill>
              </a:rPr>
              <a:t>Possible Key Factors</a:t>
            </a:r>
          </a:p>
          <a:p>
            <a:r>
              <a:rPr lang="en-US" sz="2000" dirty="0">
                <a:solidFill>
                  <a:schemeClr val="tx1">
                    <a:lumMod val="95000"/>
                    <a:lumOff val="5000"/>
                  </a:schemeClr>
                </a:solidFill>
              </a:rPr>
              <a:t>From the analysis of call center operations, the following attributes appear to influence customer satisfaction:</a:t>
            </a:r>
          </a:p>
          <a:p>
            <a:r>
              <a:rPr lang="en-US" sz="2000" dirty="0">
                <a:solidFill>
                  <a:schemeClr val="tx1">
                    <a:lumMod val="95000"/>
                    <a:lumOff val="5000"/>
                  </a:schemeClr>
                </a:solidFill>
              </a:rPr>
              <a:t>Call Duration: Efficient or appropriately timed calls often reflect quicker resolution of issues.</a:t>
            </a:r>
          </a:p>
          <a:p>
            <a:pPr marL="285750" indent="-285750">
              <a:buFont typeface="Wingdings" panose="05000000000000000000" pitchFamily="2" charset="2"/>
              <a:buChar char="ü"/>
            </a:pPr>
            <a:r>
              <a:rPr lang="en-US" sz="2000" dirty="0">
                <a:solidFill>
                  <a:schemeClr val="tx1">
                    <a:lumMod val="95000"/>
                    <a:lumOff val="5000"/>
                  </a:schemeClr>
                </a:solidFill>
              </a:rPr>
              <a:t>Agent Performance: Factors such as the number of calls managed, agent ratings, and specific expertise (e.g., Guru name) can affect satisfaction levels.</a:t>
            </a:r>
          </a:p>
          <a:p>
            <a:pPr marL="285750" indent="-285750">
              <a:buFont typeface="Wingdings" panose="05000000000000000000" pitchFamily="2" charset="2"/>
              <a:buChar char="ü"/>
            </a:pPr>
            <a:r>
              <a:rPr lang="en-US" sz="2000" dirty="0">
                <a:solidFill>
                  <a:schemeClr val="tx1">
                    <a:lumMod val="95000"/>
                    <a:lumOff val="5000"/>
                  </a:schemeClr>
                </a:solidFill>
              </a:rPr>
              <a:t>Call Channel and Type: Differences between free and paid services, chat versus voice interactions, or the type of consultation provided can play a role.</a:t>
            </a:r>
          </a:p>
          <a:p>
            <a:pPr marL="285750" indent="-285750">
              <a:buFont typeface="Wingdings" panose="05000000000000000000" pitchFamily="2" charset="2"/>
              <a:buChar char="ü"/>
            </a:pPr>
            <a:r>
              <a:rPr lang="en-US" sz="2000" dirty="0">
                <a:solidFill>
                  <a:schemeClr val="tx1">
                    <a:lumMod val="95000"/>
                    <a:lumOff val="5000"/>
                  </a:schemeClr>
                </a:solidFill>
              </a:rPr>
              <a:t>Call Status: Whether the issue was resolved or left unresolved, including cases requiring refunds or escalations, impacts customer perception.</a:t>
            </a:r>
          </a:p>
          <a:p>
            <a:pPr marL="285750" indent="-285750">
              <a:buFont typeface="Wingdings" panose="05000000000000000000" pitchFamily="2" charset="2"/>
              <a:buChar char="ü"/>
            </a:pPr>
            <a:r>
              <a:rPr lang="en-US" sz="2000" dirty="0">
                <a:solidFill>
                  <a:schemeClr val="tx1">
                    <a:lumMod val="95000"/>
                    <a:lumOff val="5000"/>
                  </a:schemeClr>
                </a:solidFill>
              </a:rPr>
              <a:t>Time of Call: Performance during peak and off-peak hours may influence customer experience.</a:t>
            </a:r>
          </a:p>
          <a:p>
            <a:pPr>
              <a:lnSpc>
                <a:spcPct val="115000"/>
              </a:lnSpc>
              <a:spcBef>
                <a:spcPts val="400"/>
              </a:spcBef>
              <a:spcAft>
                <a:spcPts val="0"/>
              </a:spcAft>
            </a:pPr>
            <a:endParaRPr lang="en-IN" sz="1600" b="1" dirty="0">
              <a:solidFill>
                <a:schemeClr val="tx1">
                  <a:lumMod val="95000"/>
                  <a:lumOff val="5000"/>
                </a:schemeClr>
              </a:solidFill>
              <a:latin typeface="Arial" panose="020B0604020202020204" pitchFamily="34" charset="0"/>
              <a:ea typeface="Times New Roman" panose="02020603050405020304" pitchFamily="18" charset="0"/>
              <a:cs typeface="Arial" panose="020B0604020202020204" pitchFamily="34" charset="0"/>
            </a:endParaRPr>
          </a:p>
          <a:p>
            <a:pPr marL="342900" lvl="0" indent="-342900">
              <a:lnSpc>
                <a:spcPct val="115000"/>
              </a:lnSpc>
              <a:spcAft>
                <a:spcPts val="800"/>
              </a:spcAft>
              <a:buSzPts val="1000"/>
              <a:buFont typeface="Symbol" panose="05050102010706020507" pitchFamily="18" charset="2"/>
              <a:buChar char=""/>
              <a:tabLst>
                <a:tab pos="457200" algn="l"/>
              </a:tabLst>
            </a:pPr>
            <a:endParaRPr lang="en-IN" sz="1600" b="1" dirty="0">
              <a:latin typeface="Arial" panose="020B0604020202020204" pitchFamily="34" charset="0"/>
              <a:ea typeface="Times New Roman" panose="02020603050405020304" pitchFamily="18" charset="0"/>
              <a:cs typeface="Arial" panose="020B0604020202020204" pitchFamily="34" charset="0"/>
            </a:endParaRPr>
          </a:p>
          <a:p>
            <a:pPr marL="342900" lvl="0" indent="-342900">
              <a:lnSpc>
                <a:spcPct val="115000"/>
              </a:lnSpc>
              <a:spcAft>
                <a:spcPts val="800"/>
              </a:spcAft>
              <a:buSzPts val="1000"/>
              <a:buFont typeface="Symbol" panose="05050102010706020507" pitchFamily="18" charset="2"/>
              <a:buChar char=""/>
              <a:tabLst>
                <a:tab pos="457200" algn="l"/>
              </a:tabLst>
            </a:pPr>
            <a:endParaRPr lang="en-IN" sz="1600" b="1" dirty="0">
              <a:latin typeface="Arial" panose="020B0604020202020204" pitchFamily="34" charset="0"/>
              <a:ea typeface="Times New Roman" panose="02020603050405020304" pitchFamily="18" charset="0"/>
              <a:cs typeface="Arial" panose="020B0604020202020204" pitchFamily="34" charset="0"/>
            </a:endParaRPr>
          </a:p>
          <a:p>
            <a:pPr marL="342900" lvl="0" indent="-342900">
              <a:lnSpc>
                <a:spcPct val="115000"/>
              </a:lnSpc>
              <a:spcAft>
                <a:spcPts val="800"/>
              </a:spcAft>
              <a:buSzPts val="1000"/>
              <a:buFont typeface="Symbol" panose="05050102010706020507" pitchFamily="18" charset="2"/>
              <a:buChar char=""/>
              <a:tabLst>
                <a:tab pos="457200" algn="l"/>
              </a:tabLst>
            </a:pPr>
            <a:endParaRPr lang="en-IN" sz="1600" b="1" dirty="0">
              <a:latin typeface="Arial" panose="020B0604020202020204" pitchFamily="34" charset="0"/>
              <a:ea typeface="Times New Roman" panose="02020603050405020304" pitchFamily="18" charset="0"/>
              <a:cs typeface="Arial" panose="020B0604020202020204" pitchFamily="34" charset="0"/>
            </a:endParaRPr>
          </a:p>
          <a:p>
            <a:pPr marL="342900" lvl="0" indent="-342900">
              <a:lnSpc>
                <a:spcPct val="115000"/>
              </a:lnSpc>
              <a:spcAft>
                <a:spcPts val="800"/>
              </a:spcAft>
              <a:buSzPts val="1000"/>
              <a:buFont typeface="Symbol" panose="05050102010706020507" pitchFamily="18" charset="2"/>
              <a:buChar char=""/>
              <a:tabLst>
                <a:tab pos="457200" algn="l"/>
              </a:tabLst>
            </a:pPr>
            <a:endParaRPr lang="en-IN" sz="1600" dirty="0">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15910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19AA1-F4F7-E99E-0404-1AB01BF2EDAF}"/>
              </a:ext>
            </a:extLst>
          </p:cNvPr>
          <p:cNvSpPr>
            <a:spLocks noGrp="1"/>
          </p:cNvSpPr>
          <p:nvPr>
            <p:ph type="ctrTitle"/>
          </p:nvPr>
        </p:nvSpPr>
        <p:spPr>
          <a:xfrm>
            <a:off x="1154955" y="140677"/>
            <a:ext cx="8825658" cy="744787"/>
          </a:xfrm>
        </p:spPr>
        <p:txBody>
          <a:bodyPr>
            <a:noAutofit/>
          </a:bodyPr>
          <a:lstStyle/>
          <a:p>
            <a:pPr algn="ctr"/>
            <a:r>
              <a:rPr lang="en-US" sz="4800" b="1" dirty="0"/>
              <a:t>Suggestion</a:t>
            </a:r>
            <a:endParaRPr lang="en-IN" sz="4800" b="1" dirty="0"/>
          </a:p>
        </p:txBody>
      </p:sp>
      <p:sp>
        <p:nvSpPr>
          <p:cNvPr id="3" name="Subtitle 2">
            <a:extLst>
              <a:ext uri="{FF2B5EF4-FFF2-40B4-BE49-F238E27FC236}">
                <a16:creationId xmlns:a16="http://schemas.microsoft.com/office/drawing/2014/main" id="{1911A1F8-42B7-F526-1709-1A54F8D58E08}"/>
              </a:ext>
            </a:extLst>
          </p:cNvPr>
          <p:cNvSpPr>
            <a:spLocks noGrp="1"/>
          </p:cNvSpPr>
          <p:nvPr>
            <p:ph type="subTitle" idx="1"/>
          </p:nvPr>
        </p:nvSpPr>
        <p:spPr>
          <a:xfrm>
            <a:off x="1154955" y="1024933"/>
            <a:ext cx="8825658" cy="4947604"/>
          </a:xfrm>
        </p:spPr>
        <p:txBody>
          <a:bodyPr>
            <a:normAutofit lnSpcReduction="10000"/>
          </a:bodyPr>
          <a:lstStyle/>
          <a:p>
            <a:pPr algn="l"/>
            <a:r>
              <a:rPr lang="en-US" dirty="0">
                <a:solidFill>
                  <a:schemeClr val="tx1">
                    <a:lumMod val="95000"/>
                    <a:lumOff val="5000"/>
                  </a:schemeClr>
                </a:solidFill>
              </a:rPr>
              <a:t>Suggestions for Improvement Based on Findings</a:t>
            </a:r>
          </a:p>
          <a:p>
            <a:pPr marL="285750" indent="-285750" algn="l">
              <a:buFont typeface="Wingdings" panose="05000000000000000000" pitchFamily="2" charset="2"/>
              <a:buChar char="Ø"/>
            </a:pPr>
            <a:r>
              <a:rPr lang="en-US" dirty="0">
                <a:solidFill>
                  <a:schemeClr val="tx1">
                    <a:lumMod val="95000"/>
                    <a:lumOff val="5000"/>
                  </a:schemeClr>
                </a:solidFill>
              </a:rPr>
              <a:t>Enhanced Agent Training:</a:t>
            </a:r>
            <a:br>
              <a:rPr lang="en-US" dirty="0">
                <a:solidFill>
                  <a:schemeClr val="tx1">
                    <a:lumMod val="95000"/>
                    <a:lumOff val="5000"/>
                  </a:schemeClr>
                </a:solidFill>
              </a:rPr>
            </a:br>
            <a:r>
              <a:rPr lang="en-US" dirty="0">
                <a:solidFill>
                  <a:schemeClr val="tx1">
                    <a:lumMod val="95000"/>
                    <a:lumOff val="5000"/>
                  </a:schemeClr>
                </a:solidFill>
              </a:rPr>
              <a:t>Prioritize training on key factors that drive higher satisfaction, such as improving consultation quality and minimizing resolution times.</a:t>
            </a:r>
          </a:p>
          <a:p>
            <a:pPr marL="285750" indent="-285750" algn="l">
              <a:buFont typeface="Wingdings" panose="05000000000000000000" pitchFamily="2" charset="2"/>
              <a:buChar char="Ø"/>
            </a:pPr>
            <a:r>
              <a:rPr lang="en-US" dirty="0">
                <a:solidFill>
                  <a:schemeClr val="tx1">
                    <a:lumMod val="95000"/>
                    <a:lumOff val="5000"/>
                  </a:schemeClr>
                </a:solidFill>
              </a:rPr>
              <a:t>Optimize Call Duration:</a:t>
            </a:r>
            <a:br>
              <a:rPr lang="en-US" dirty="0">
                <a:solidFill>
                  <a:schemeClr val="tx1">
                    <a:lumMod val="95000"/>
                    <a:lumOff val="5000"/>
                  </a:schemeClr>
                </a:solidFill>
              </a:rPr>
            </a:br>
            <a:r>
              <a:rPr lang="en-US" dirty="0">
                <a:solidFill>
                  <a:schemeClr val="tx1">
                    <a:lumMod val="95000"/>
                    <a:lumOff val="5000"/>
                  </a:schemeClr>
                </a:solidFill>
              </a:rPr>
              <a:t>Determine the ideal duration range linked to better customer experience and streamline processes to maintain efficiency within that window.</a:t>
            </a:r>
          </a:p>
          <a:p>
            <a:pPr marL="285750" indent="-285750" algn="l">
              <a:buFont typeface="Wingdings" panose="05000000000000000000" pitchFamily="2" charset="2"/>
              <a:buChar char="Ø"/>
            </a:pPr>
            <a:r>
              <a:rPr lang="en-US" dirty="0">
                <a:solidFill>
                  <a:schemeClr val="tx1">
                    <a:lumMod val="95000"/>
                    <a:lumOff val="5000"/>
                  </a:schemeClr>
                </a:solidFill>
              </a:rPr>
              <a:t>Integrate Customer Feedback:</a:t>
            </a:r>
            <a:br>
              <a:rPr lang="en-US" dirty="0">
                <a:solidFill>
                  <a:schemeClr val="tx1">
                    <a:lumMod val="95000"/>
                    <a:lumOff val="5000"/>
                  </a:schemeClr>
                </a:solidFill>
              </a:rPr>
            </a:br>
            <a:r>
              <a:rPr lang="en-US" dirty="0">
                <a:solidFill>
                  <a:schemeClr val="tx1">
                    <a:lumMod val="95000"/>
                    <a:lumOff val="5000"/>
                  </a:schemeClr>
                </a:solidFill>
              </a:rPr>
              <a:t>Leverage insights from customer feedback to pinpoint recurring issues and strengths, enabling continuous service improvements.</a:t>
            </a:r>
          </a:p>
          <a:p>
            <a:pPr marL="285750" indent="-285750" algn="l">
              <a:buFont typeface="Wingdings" panose="05000000000000000000" pitchFamily="2" charset="2"/>
              <a:buChar char="Ø"/>
            </a:pPr>
            <a:r>
              <a:rPr lang="en-US" dirty="0">
                <a:solidFill>
                  <a:schemeClr val="tx1">
                    <a:lumMod val="95000"/>
                    <a:lumOff val="5000"/>
                  </a:schemeClr>
                </a:solidFill>
              </a:rPr>
              <a:t>Strategic Resource Deployment:</a:t>
            </a:r>
            <a:br>
              <a:rPr lang="en-US" dirty="0">
                <a:solidFill>
                  <a:schemeClr val="tx1">
                    <a:lumMod val="95000"/>
                    <a:lumOff val="5000"/>
                  </a:schemeClr>
                </a:solidFill>
              </a:rPr>
            </a:br>
            <a:r>
              <a:rPr lang="en-US" dirty="0">
                <a:solidFill>
                  <a:schemeClr val="tx1">
                    <a:lumMod val="95000"/>
                    <a:lumOff val="5000"/>
                  </a:schemeClr>
                </a:solidFill>
              </a:rPr>
              <a:t>Assign top-performing agents to peak hours or complex cases to ensure consistent and high-quality customer interactions.</a:t>
            </a:r>
          </a:p>
          <a:p>
            <a:endParaRPr lang="en-IN" dirty="0"/>
          </a:p>
        </p:txBody>
      </p:sp>
    </p:spTree>
    <p:extLst>
      <p:ext uri="{BB962C8B-B14F-4D97-AF65-F5344CB8AC3E}">
        <p14:creationId xmlns:p14="http://schemas.microsoft.com/office/powerpoint/2010/main" val="9611898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749CE-4A65-DD90-C18B-4141F2DC864D}"/>
              </a:ext>
            </a:extLst>
          </p:cNvPr>
          <p:cNvSpPr>
            <a:spLocks noGrp="1"/>
          </p:cNvSpPr>
          <p:nvPr>
            <p:ph type="ctrTitle"/>
          </p:nvPr>
        </p:nvSpPr>
        <p:spPr>
          <a:xfrm>
            <a:off x="1154955" y="291402"/>
            <a:ext cx="8825658" cy="1039687"/>
          </a:xfrm>
        </p:spPr>
        <p:txBody>
          <a:bodyPr>
            <a:normAutofit/>
          </a:bodyPr>
          <a:lstStyle/>
          <a:p>
            <a:pPr algn="ctr"/>
            <a:r>
              <a:rPr lang="en-US" sz="4800" b="1" dirty="0"/>
              <a:t>Conclusion</a:t>
            </a:r>
            <a:br>
              <a:rPr lang="en-US" sz="3600" dirty="0"/>
            </a:br>
            <a:endParaRPr lang="en-IN" sz="1800" dirty="0"/>
          </a:p>
        </p:txBody>
      </p:sp>
      <p:sp>
        <p:nvSpPr>
          <p:cNvPr id="3" name="Subtitle 2">
            <a:extLst>
              <a:ext uri="{FF2B5EF4-FFF2-40B4-BE49-F238E27FC236}">
                <a16:creationId xmlns:a16="http://schemas.microsoft.com/office/drawing/2014/main" id="{18B81633-A519-AEB1-2195-48F67528450F}"/>
              </a:ext>
            </a:extLst>
          </p:cNvPr>
          <p:cNvSpPr>
            <a:spLocks noGrp="1"/>
          </p:cNvSpPr>
          <p:nvPr>
            <p:ph type="subTitle" idx="1"/>
          </p:nvPr>
        </p:nvSpPr>
        <p:spPr>
          <a:xfrm>
            <a:off x="636608" y="1030147"/>
            <a:ext cx="10880202" cy="4687747"/>
          </a:xfrm>
        </p:spPr>
        <p:txBody>
          <a:bodyPr>
            <a:normAutofit lnSpcReduction="10000"/>
          </a:bodyPr>
          <a:lstStyle/>
          <a:p>
            <a:pPr marL="342900" indent="-342900" algn="just" eaLnBrk="0" fontAlgn="base" hangingPunct="0">
              <a:lnSpc>
                <a:spcPct val="100000"/>
              </a:lnSpc>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The </a:t>
            </a:r>
            <a:r>
              <a:rPr lang="en-US" altLang="en-US" dirty="0" err="1">
                <a:latin typeface="Times New Roman" panose="02020603050405020304" pitchFamily="18" charset="0"/>
                <a:cs typeface="Times New Roman" panose="02020603050405020304" pitchFamily="18" charset="0"/>
              </a:rPr>
              <a:t>AstroSage</a:t>
            </a:r>
            <a:r>
              <a:rPr lang="en-US" altLang="en-US" dirty="0">
                <a:latin typeface="Times New Roman" panose="02020603050405020304" pitchFamily="18" charset="0"/>
                <a:cs typeface="Times New Roman" panose="02020603050405020304" pitchFamily="18" charset="0"/>
              </a:rPr>
              <a:t> call center data revealed clear trends in user behavior, platform usage, and agent performance</a:t>
            </a:r>
          </a:p>
          <a:p>
            <a:pPr marL="342900" indent="-342900" algn="just" eaLnBrk="0" fontAlgn="base" hangingPunct="0">
              <a:lnSpc>
                <a:spcPct val="100000"/>
              </a:lnSpc>
              <a:spcBef>
                <a:spcPct val="0"/>
              </a:spcBef>
              <a:spcAft>
                <a:spcPct val="0"/>
              </a:spcAft>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marL="342900" indent="-342900" algn="just" eaLnBrk="0" fontAlgn="base" hangingPunct="0">
              <a:lnSpc>
                <a:spcPct val="100000"/>
              </a:lnSpc>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Peak hours and repeat callers were major drivers of consultation volume and revenue</a:t>
            </a:r>
          </a:p>
          <a:p>
            <a:pPr marL="342900" indent="-342900" algn="just" eaLnBrk="0" fontAlgn="base" hangingPunct="0">
              <a:lnSpc>
                <a:spcPct val="100000"/>
              </a:lnSpc>
              <a:spcBef>
                <a:spcPct val="0"/>
              </a:spcBef>
              <a:spcAft>
                <a:spcPct val="0"/>
              </a:spcAft>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marL="342900" indent="-342900" algn="just" eaLnBrk="0" fontAlgn="base" hangingPunct="0">
              <a:lnSpc>
                <a:spcPct val="100000"/>
              </a:lnSpc>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The mobile app emerged as the dominant platform, with chat-based services leading in revenue generation</a:t>
            </a:r>
          </a:p>
          <a:p>
            <a:pPr marL="342900" indent="-342900" algn="just" eaLnBrk="0" fontAlgn="base" hangingPunct="0">
              <a:lnSpc>
                <a:spcPct val="100000"/>
              </a:lnSpc>
              <a:spcBef>
                <a:spcPct val="0"/>
              </a:spcBef>
              <a:spcAft>
                <a:spcPct val="0"/>
              </a:spcAft>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marL="342900" indent="-342900" algn="just" eaLnBrk="0" fontAlgn="base" hangingPunct="0">
              <a:lnSpc>
                <a:spcPct val="100000"/>
              </a:lnSpc>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By implementing the recommendations, </a:t>
            </a:r>
            <a:r>
              <a:rPr lang="en-US" altLang="en-US" dirty="0" err="1">
                <a:latin typeface="Times New Roman" panose="02020603050405020304" pitchFamily="18" charset="0"/>
                <a:cs typeface="Times New Roman" panose="02020603050405020304" pitchFamily="18" charset="0"/>
              </a:rPr>
              <a:t>AstroSage</a:t>
            </a:r>
            <a:r>
              <a:rPr lang="en-US" altLang="en-US" dirty="0">
                <a:latin typeface="Times New Roman" panose="02020603050405020304" pitchFamily="18" charset="0"/>
                <a:cs typeface="Times New Roman" panose="02020603050405020304" pitchFamily="18" charset="0"/>
              </a:rPr>
              <a:t> can enhance efficiency, customer satisfaction, and long-term profitability</a:t>
            </a:r>
          </a:p>
          <a:p>
            <a:pPr algn="l"/>
            <a:br>
              <a:rPr lang="en-IN" b="1" cap="none" dirty="0">
                <a:solidFill>
                  <a:schemeClr val="tx1">
                    <a:lumMod val="95000"/>
                    <a:lumOff val="5000"/>
                  </a:schemeClr>
                </a:solidFill>
              </a:rPr>
            </a:br>
            <a:endParaRPr lang="en-IN" b="1" cap="none" dirty="0">
              <a:solidFill>
                <a:schemeClr val="tx1">
                  <a:lumMod val="95000"/>
                  <a:lumOff val="5000"/>
                </a:schemeClr>
              </a:solidFill>
            </a:endParaRPr>
          </a:p>
        </p:txBody>
      </p:sp>
    </p:spTree>
    <p:extLst>
      <p:ext uri="{BB962C8B-B14F-4D97-AF65-F5344CB8AC3E}">
        <p14:creationId xmlns:p14="http://schemas.microsoft.com/office/powerpoint/2010/main" val="27713159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a:extLst>
              <a:ext uri="{FF2B5EF4-FFF2-40B4-BE49-F238E27FC236}">
                <a16:creationId xmlns:a16="http://schemas.microsoft.com/office/drawing/2014/main" id="{CE7150B9-E6FE-0B97-46A2-8AF17CA482CA}"/>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43095" y="240794"/>
            <a:ext cx="11475217" cy="6491602"/>
          </a:xfrm>
          <a:prstGeom prst="rect">
            <a:avLst/>
          </a:prstGeom>
        </p:spPr>
      </p:pic>
    </p:spTree>
    <p:extLst>
      <p:ext uri="{BB962C8B-B14F-4D97-AF65-F5344CB8AC3E}">
        <p14:creationId xmlns:p14="http://schemas.microsoft.com/office/powerpoint/2010/main" val="19654195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23703</TotalTime>
  <Words>1330</Words>
  <Application>Microsoft Office PowerPoint</Application>
  <PresentationFormat>Widescreen</PresentationFormat>
  <Paragraphs>232</Paragraphs>
  <Slides>20</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20</vt:i4>
      </vt:variant>
    </vt:vector>
  </HeadingPairs>
  <TitlesOfParts>
    <vt:vector size="31" baseType="lpstr">
      <vt:lpstr>Arial</vt:lpstr>
      <vt:lpstr>Arial Black</vt:lpstr>
      <vt:lpstr>Bahnschrift</vt:lpstr>
      <vt:lpstr>Calibri</vt:lpstr>
      <vt:lpstr>Calibri Light</vt:lpstr>
      <vt:lpstr>Courier New</vt:lpstr>
      <vt:lpstr>Rockwell</vt:lpstr>
      <vt:lpstr>Symbol</vt:lpstr>
      <vt:lpstr>Times New Roman</vt:lpstr>
      <vt:lpstr>Wingdings</vt:lpstr>
      <vt:lpstr>Office Theme</vt:lpstr>
      <vt:lpstr>AstroSage Analysis</vt:lpstr>
      <vt:lpstr>What do is astrosage? </vt:lpstr>
      <vt:lpstr>Problem statement</vt:lpstr>
      <vt:lpstr>PowerPoint Presentation</vt:lpstr>
      <vt:lpstr>Methodology</vt:lpstr>
      <vt:lpstr>Traffic website</vt:lpstr>
      <vt:lpstr>User chat status</vt:lpstr>
      <vt:lpstr>User call status</vt:lpstr>
      <vt:lpstr>Identifying performance gaps</vt:lpstr>
      <vt:lpstr>Revenue generated by consultation type</vt:lpstr>
      <vt:lpstr>Rating wise guru distribution</vt:lpstr>
      <vt:lpstr>Total call distribution by hour</vt:lpstr>
      <vt:lpstr>User engagement based on ratings</vt:lpstr>
      <vt:lpstr>Top 10 guru </vt:lpstr>
      <vt:lpstr>Daily net amount</vt:lpstr>
      <vt:lpstr>PowerPoint Presentation</vt:lpstr>
      <vt:lpstr>Key insight summary</vt:lpstr>
      <vt:lpstr>Suggestion</vt:lpstr>
      <vt:lpstr>Conclusion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saud siddiqui</dc:creator>
  <cp:lastModifiedBy>saud siddiqui</cp:lastModifiedBy>
  <cp:revision>3</cp:revision>
  <dcterms:created xsi:type="dcterms:W3CDTF">2025-07-30T13:56:40Z</dcterms:created>
  <dcterms:modified xsi:type="dcterms:W3CDTF">2025-09-06T12:29:26Z</dcterms:modified>
</cp:coreProperties>
</file>